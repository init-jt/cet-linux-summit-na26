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snapToObjects="1">
      <p:cViewPr varScale="1">
        <p:scale>
          <a:sx n="119" d="100"/>
          <a:sy n="119" d="100"/>
        </p:scale>
        <p:origin x="5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9FE757-DDF4-A24B-877B-B462EA62A178}" type="datetimeFigureOut">
              <a:rPr lang="en-US" smtClean="0"/>
              <a:t>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CCB02A-2C36-7D41-A991-BF5889B25D15}" type="slidenum">
              <a:rPr lang="en-US" smtClean="0"/>
              <a:t>‹#›</a:t>
            </a:fld>
            <a:endParaRPr lang="en-US"/>
          </a:p>
        </p:txBody>
      </p:sp>
    </p:spTree>
    <p:extLst>
      <p:ext uri="{BB962C8B-B14F-4D97-AF65-F5344CB8AC3E}">
        <p14:creationId xmlns:p14="http://schemas.microsoft.com/office/powerpoint/2010/main" val="901115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Good morning everyone. Today I'm going to take you through a deep dive into Intel's Control-Flow Enforcement Technology and how it's implemented in the Linux kernel. We'll look at actual kernel source code, understand the hardware mechanisms, and see how the kernel handles all the tricky edge cases -- signals, fork, context switches -- that make this a fascinating piece of systems engineering.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start with why we need hardware CFI. Once we got NX -- non-executable stacks -- attackers couldn't inject shellcode anymore. So they adapted. Return-Oriented Programming chains tiny sequences of existing code that end in RET -- called gadgets -- to achieve arbitrary computation without ever injecting new code. Jump-Oriented Programming is the same idea but using indirect JMP and CALL instructions. Software defenses like retpolines and kCFI work but have performance costs. CET gives us silicon-level enforcement: the CPU itself checks control flow at every RET and every indirect branch, with essentially zero overhead in the common case.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CET has two complementary mechanisms. IBT -- Indirect Branch Tracking -- is the forward-edge defense. It ensures that every indirect CALL or JMP lands on a valid target marked with an ENDBR instruction. It was merged for the kernel in Linux 5.18. Shadow Stacks are the backward-edge defense. The CPU maintains a second, read-only stack that stores only return addresses. On every RET, it compares both stacks. Userspace shadow stack support landed in Linux 6.6. Both mechanisms share a single exception vector -- trap 21, the Control Protection fault.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Here's how IBT works at the microarchitectural level. When the CPU executes an indirect CALL or JMP, it enters a state called Wait For ENDBRANCH. The very next instruction that executes must be an ENDBR64 instruction -- a specific four-byte opcode. If it is, the WFE state clears and execution proceeds normally. If it isn't, the CPU raises a CP fault with error code 3 -- CP_ENDBR. The compiler handles the emission: with cf-protection equals branch, GCC and Clang emit ENDBR at every function that could potentially be an indirect call target. The cost is just 4 bytes per valid target -- the ENDBR instruction itself is essentially a fancy NOP when executed sequentially.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slide shows the full ENDBR lifecycle across three phases. At compile time, GCC with fcf-protection equals branch emits ENDBR at every function entry. It's conservative because it can't always prove whether a function pointer exists. Then objtool, a build-time static analysis tool, walks the object files and finds functions that are only ever reached by direct CALL. It records their addresses in a special ELF section called dot ibt_endbr_seal. At boot time, apply_seal_endbr iterates that section. For each address, it verifies the instruction is actually ENDBR using gen_endbr, then replaces it with gen_endbr_poison -- the unique poison NOP, nopl minus 42 percent rax, opcode 0xd6401f0f -- via text_poke_early. After sealing, an indirect jump to those sites triggers a CP fault. But the story doesn't end at boot. JIT engines like BPF, V8, and LuaJIT generate code at runtime with indirect branch targets, so they must also emit ENDBR. The BPF JIT does this with EMIT_ENDBR, which calls gen_endbr to get the opcode and writes the raw bytes f3 0f 1e fa into the generated code buffer. Each phase corrects the previous one's limitations: GCC over-marks, objtool identifies the excess, the kernel seals them, and JIT engines extend the system to dynamically generated code.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one of my favorite implementation details. When the kernel needs to compare an instruction against the ENDBR opcode at runtime -- for example, to check if a function starts with ENDBR -- it can't just do a mov with the literal value 0xfa1e0ff3. Why? Because those bytes -- f3, 0f, 1e, fa -- would appear contiguously in the instruction stream as the immediate operand. An attacker doing a jump-into-the-middle-of-an-instruction could land on those bytes and the CPU would interpret them as a valid endbr64, creating an unintended landing pad. So the kernel does something clever: it loads the bitwise NOT of the value -- which is a harmless constant -- and then flips it at runtime with a NOT instruction. The actual ENDBR opcode bytes never appear together in the binary. The early-clobber constraint tells GCC: this output register gets written before you're done reading inputs, so don't reuse the same register.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CP fault carries an error code that tells us exactly what went wrong. CP_RET means the return address from the normal stack didn't match the shadow stack -- a ROP attempt was just blocked. CP_ENDBR means an indirect branch landed somewhere without ENDBR -- a JOP attempt blocked. CP_RSTRORSSP and CP_SETSSBSY relate to shadow stack management instructions that failed validation. And bit 15 tells us if the fault happened inside an SGX enclave.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Here's the actual exception handler. It's clean and straightforward. First check: are we coming from user mode or kernel mode? User-mode CP means a shadow stack violation -- the process tried to RET to a tampered address. The kernel delivers SIGSEGV with the new signal code SEGV_CPERR. Kernel-mode CP means an IBT violation -- an indirect branch in kernel code landed on a non-ENDBR instruction. By default that's a BUG -- you can soften it to a WARN with the ibt equals warn boot parameter for debugging. There's one special case for FRED-aware CPUs: newer Intel processors preserve the WFE state across exception delivery, so we have to explicitly clear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shadow stack concept is beautifully simple. The CPU maintains two stacks in parallel. When CALL executes, it pushes the return address to both the normal stack and the shadow stack. When RET executes, it pops from both and compares. If they match -- normal execution. If they don't -- CP fault, code CP_RET. The critical property: the shadow stack is not writable by normal memory instructions. You cannot MOV or PUSH to it. Only CALL and RET can modify it through normal operation. There's also WRSS -- a special instruction that can write to the shadow stack -- but that requires explicit opt-in, and we'll see why that matters for setjmp.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Here's shstk_setup -- the function that enables shadow stacks for the current thread. First it allocates the shadow stack memory. The size defaults to the minimum of RLIMIT_STACK and four gigabytes, page-aligned. A key detail: MAP_ABOVE4G ensures the allocation is above the four-gigabyte boundary, preventing 32-bit address aliasing attacks. Then we write the MSRs: PL3_SSP gets set to the top of the allocated region because stacks grow downward, and U_CET gets the shadow stack enable bit set. The guard page detail is important -- INCSSP can advance the shadow stack pointer by at most 2040 bytes per instruction, and a 4096-byte guard page guarantees that any attempt to slide into an adjacent shadow stack will fault.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where it gets tricky. When a signal arrives, the kernel diverts execution to the signal handler. The handler eventually returns via a trampoline that calls rt_sigreturn. But here's the problem: that return goes through a RET instruction, and the shadow stack still has the original caller's return address -- not the trampoline's address. Without a fixup mechanism, every single signal return would trigger a CP fault. The solution is elegant: during signal delivery, the kernel pushes a special sigframe token onto the shadow stack -- the original SSP with bit 63 set. Bit 63 means this is not a return address -- the CPU will never match it. Then it pushes the sa_restorer address so the handler's RET will match. On sigreturn, the kernel validates the token and restores the original SSP.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Here's the actual code. setup_signal_shadow_stack is called during signal delivery, after the signal frame is constructed on the normal stack. It reads the current SSP, then pushes a restore token -- the old SSP OR'd with SHSTK_DATA_BIT, bit 63. Then it pushes the restorer address -- that's the __restore_rt trampoline in the vDSO -- so when the signal handler does its final RET, it matches. Finally it updates the SSP MSR to the new position. On the way back, restore_signal_shadow_stack reverses everything: validates the token, checks it's on a shadow stack VMA, and restores the original SSP.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Shadow stack behavior during process creation has three cases. For fork -- no CLONE_VM -- the child gets a copy-on-write copy of the parent's shadow stack. This is free -- normal COW page fault handling duplicates pages on write. For vfork -- CLONE_VFORK -- the child temporarily shares the parent's shadow stack. We set base and size to zero so shstk_free won't accidentally unmap the parent's stack when the child exits. For pthread_create -- CLONE_VM -- the child shares the address space, so it needs its own shadow stack. We allocate a fresh one and return the new SSP pointing to the top.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shadow stack pointer lives in the XSAVE area under XFEATURE_CET_USER. This is elegant: during a context switch, the normal XSAVE instruction saves the outgoing task's SSP, and XRSTOR on the incoming task loads its SSP. No special code needed in the scheduler fast path. The only time we explicitly touch the SSP in the XSAVE buffer is during fpu_clone -- when we need to set the child's initial SSP to point to its newly allocated shadow stack.</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Userspace controls shadow stacks through arch_prctl. ENABLE turns it on -- calls shstk_setup that we just saw. DISABLE turns it off -- zeroes the MSR, unmaps the shadow stack. The critical one is LOCK. Once you lock a feature, the process cannot disable it -- even if an attacker gains arbitrary code execution and tries to call arch_prctl with DISABLE. UNLOCK is only available via ptrace -- this is for checkpoint and restore scenarios. In practice, glibc handles all of this: when loading a binary with CET GNU property notes, the dynamic linker enables and locks shadow stacks before main runs. For production deployments where you need to disable CET for specific applications, GLIBC_TUNABLES provides a per-process escape hatch without any kernel changes.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Three important edge cases. First, setjmp and longjmp: when you longjmp back, the shadow stack has stale entries from the intermediate calls. Glibc's longjmp implementation uses INCSSP to advance past those entries. For particularly deep longjmps, WRSS might be needed -- that's why it's a separate opt-in feature. Second, JIT engines: any JIT that generates code with indirect branches -- V8, LuaJIT, eBPF -- must emit ENDBR at all generated targets. The map_shadow_stack syscall lets JIT engines allocate shadow stacks for custom coroutines or fibers. Third, for production deployment, GLIBC_TUNABLES is your escape hatch. Set glibc.cpu.hwcaps equals minus SHSTK and the dynamic linker skips enabling shadow stacks for that process. No kernel restart, no system-wide impact.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summarize: CET gives us hardware control-flow integrity at zero cost on the fast path. IBT handles the forward edge with ENDBR plus sealing. Shadow stacks handle the backward edge with a read-only return address stack and a clever signal token protocol. The kernel interface is clean: arch_prctl with locking for security, GLIBC_TUNABLES for flexibility. And remarkably, the entire implementation lives in about five files under arch/x86. We've come a long way from the initial IBT merge in 5.18 to full userspace shadow stack support in 6.6 -- and it's production-ready today on 12th-gen Intel and newer. Thank you -- I'm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t="781" b="781"/>
          <a:stretch>
            <a:fillRect/>
          </a:stretch>
        </p:blipFill>
        <p:spPr>
          <a:xfrm>
            <a:off x="0" y="0"/>
            <a:ext cx="12192000" cy="6858000"/>
          </a:xfrm>
          <a:prstGeom prst="rect">
            <a:avLst/>
          </a:prstGeom>
        </p:spPr>
      </p:pic>
      <p:sp>
        <p:nvSpPr>
          <p:cNvPr id="3" name="Rectangle 3"/>
          <p:cNvSpPr/>
          <p:nvPr/>
        </p:nvSpPr>
        <p:spPr>
          <a:xfrm>
            <a:off x="438150" y="352425"/>
            <a:ext cx="11306175" cy="6143625"/>
          </a:xfrm>
          <a:prstGeom prst="rect">
            <a:avLst/>
          </a:prstGeom>
          <a:noFill/>
          <a:ln w="33338">
            <a:solidFill>
              <a:srgbClr val="0AB36E"/>
            </a:solidFill>
          </a:ln>
        </p:spPr>
      </p:sp>
      <p:pic>
        <p:nvPicPr>
          <p:cNvPr id="4" name="Image 4"/>
          <p:cNvPicPr>
            <a:picLocks noChangeAspect="1"/>
          </p:cNvPicPr>
          <p:nvPr/>
        </p:nvPicPr>
        <p:blipFill>
          <a:blip r:embed="rId3"/>
          <a:stretch>
            <a:fillRect/>
          </a:stretch>
        </p:blipFill>
        <p:spPr>
          <a:xfrm>
            <a:off x="1279374" y="990600"/>
            <a:ext cx="3603927" cy="1152525"/>
          </a:xfrm>
          <a:prstGeom prst="rect">
            <a:avLst/>
          </a:prstGeom>
        </p:spPr>
      </p:pic>
      <p:grpSp>
        <p:nvGrpSpPr>
          <p:cNvPr id="7" name="Group 7"/>
          <p:cNvGrpSpPr/>
          <p:nvPr/>
        </p:nvGrpSpPr>
        <p:grpSpPr>
          <a:xfrm>
            <a:off x="438150" y="2705100"/>
            <a:ext cx="7724775" cy="1762125"/>
            <a:chOff x="438150" y="2705100"/>
            <a:chExt cx="7724775" cy="1762125"/>
          </a:xfrm>
        </p:grpSpPr>
        <p:sp>
          <p:nvSpPr>
            <p:cNvPr id="5" name="Rectangle 5"/>
            <p:cNvSpPr/>
            <p:nvPr/>
          </p:nvSpPr>
          <p:spPr>
            <a:xfrm>
              <a:off x="438150" y="2705100"/>
              <a:ext cx="7724775" cy="1762125"/>
            </a:xfrm>
            <a:prstGeom prst="rect">
              <a:avLst/>
            </a:prstGeom>
            <a:solidFill>
              <a:srgbClr val="FFFFFF"/>
            </a:solidFill>
            <a:ln>
              <a:noFill/>
            </a:ln>
          </p:spPr>
        </p:sp>
        <p:sp>
          <p:nvSpPr>
            <p:cNvPr id="6" name="TextBox 6"/>
            <p:cNvSpPr txBox="1"/>
            <p:nvPr/>
          </p:nvSpPr>
          <p:spPr>
            <a:xfrm>
              <a:off x="725805" y="3111011"/>
              <a:ext cx="6274988" cy="877163"/>
            </a:xfrm>
            <a:prstGeom prst="rect">
              <a:avLst/>
            </a:prstGeom>
            <a:noFill/>
            <a:ln>
              <a:noFill/>
            </a:ln>
          </p:spPr>
          <p:txBody>
            <a:bodyPr wrap="none" lIns="0" tIns="0" rIns="0" bIns="0" anchor="t" anchorCtr="0">
              <a:spAutoFit/>
            </a:bodyPr>
            <a:lstStyle/>
            <a:p>
              <a:r>
                <a:rPr lang="en-US" altLang="zh-CN" sz="2850" b="1" dirty="0">
                  <a:solidFill>
                    <a:srgbClr val="000000"/>
                  </a:solidFill>
                  <a:latin typeface="Arial"/>
                  <a:ea typeface="Microsoft YaHei"/>
                  <a:cs typeface="Arial"/>
                </a:rPr>
                <a:t>A technical deep dive into Intel CET </a:t>
              </a:r>
            </a:p>
            <a:p>
              <a:r>
                <a:rPr lang="en-US" altLang="zh-CN" sz="2850" b="1" dirty="0">
                  <a:solidFill>
                    <a:srgbClr val="000000"/>
                  </a:solidFill>
                  <a:latin typeface="Arial"/>
                  <a:ea typeface="Microsoft YaHei"/>
                  <a:cs typeface="Arial"/>
                </a:rPr>
                <a:t>Implementation in Linux</a:t>
              </a:r>
              <a:endParaRPr lang="zh-CN" altLang="en-US" sz="2850" b="1" dirty="0">
                <a:solidFill>
                  <a:srgbClr val="000000"/>
                </a:solidFill>
                <a:latin typeface="Arial"/>
                <a:ea typeface="Microsoft YaHei"/>
                <a:cs typeface="Arial"/>
              </a:endParaRPr>
            </a:p>
          </p:txBody>
        </p:sp>
      </p:grpSp>
      <p:grpSp>
        <p:nvGrpSpPr>
          <p:cNvPr id="10" name="Group 10"/>
          <p:cNvGrpSpPr/>
          <p:nvPr/>
        </p:nvGrpSpPr>
        <p:grpSpPr>
          <a:xfrm>
            <a:off x="447675" y="4606436"/>
            <a:ext cx="2573991" cy="533400"/>
            <a:chOff x="438150" y="4581525"/>
            <a:chExt cx="2573991" cy="533400"/>
          </a:xfrm>
        </p:grpSpPr>
        <p:sp>
          <p:nvSpPr>
            <p:cNvPr id="8" name="Rectangle 8"/>
            <p:cNvSpPr/>
            <p:nvPr/>
          </p:nvSpPr>
          <p:spPr>
            <a:xfrm>
              <a:off x="438150" y="4581525"/>
              <a:ext cx="2573991" cy="533400"/>
            </a:xfrm>
            <a:prstGeom prst="rect">
              <a:avLst/>
            </a:prstGeom>
            <a:solidFill>
              <a:srgbClr val="AF00C0"/>
            </a:solidFill>
            <a:ln>
              <a:noFill/>
            </a:ln>
          </p:spPr>
        </p:sp>
        <p:sp>
          <p:nvSpPr>
            <p:cNvPr id="9" name="TextBox 9"/>
            <p:cNvSpPr txBox="1"/>
            <p:nvPr/>
          </p:nvSpPr>
          <p:spPr>
            <a:xfrm>
              <a:off x="601980" y="4769168"/>
              <a:ext cx="2154436" cy="207749"/>
            </a:xfrm>
            <a:prstGeom prst="rect">
              <a:avLst/>
            </a:prstGeom>
            <a:noFill/>
            <a:ln>
              <a:noFill/>
            </a:ln>
          </p:spPr>
          <p:txBody>
            <a:bodyPr wrap="none" lIns="0" tIns="0" rIns="0" bIns="0" anchor="t" anchorCtr="0">
              <a:spAutoFit/>
            </a:bodyPr>
            <a:lstStyle/>
            <a:p>
              <a:pPr algn="l"/>
              <a:r>
                <a:rPr lang="en-US" altLang="zh-CN" sz="1350" b="1" dirty="0">
                  <a:solidFill>
                    <a:srgbClr val="FFFFFF"/>
                  </a:solidFill>
                  <a:latin typeface="Arial"/>
                  <a:ea typeface="Microsoft YaHei"/>
                  <a:cs typeface="Arial"/>
                </a:rPr>
                <a:t>Jay Tharwani, NetApp Inc.</a:t>
              </a:r>
              <a:endParaRPr lang="zh-CN" sz="1350" b="1" dirty="0">
                <a:solidFill>
                  <a:srgbClr val="FFFFFF"/>
                </a:solidFill>
                <a:latin typeface="Arial"/>
                <a:ea typeface="Microsoft YaHei"/>
                <a:cs typeface="Arial"/>
              </a:endParaRPr>
            </a:p>
          </p:txBody>
        </p:sp>
      </p:grpSp>
      <p:pic>
        <p:nvPicPr>
          <p:cNvPr id="15" name="Image 15"/>
          <p:cNvPicPr>
            <a:picLocks noChangeAspect="1"/>
          </p:cNvPicPr>
          <p:nvPr/>
        </p:nvPicPr>
        <p:blipFill>
          <a:blip r:embed="rId4"/>
          <a:stretch>
            <a:fillRect/>
          </a:stretch>
        </p:blipFill>
        <p:spPr>
          <a:xfrm>
            <a:off x="10277475" y="5886450"/>
            <a:ext cx="1171575" cy="390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sp>
        <p:nvSpPr>
          <p:cNvPr id="4" name="TextBox 4"/>
          <p:cNvSpPr txBox="1"/>
          <p:nvPr/>
        </p:nvSpPr>
        <p:spPr>
          <a:xfrm>
            <a:off x="436245" y="483870"/>
            <a:ext cx="3078937"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What We'll Cover</a:t>
            </a:r>
          </a:p>
        </p:txBody>
      </p:sp>
      <p:grpSp>
        <p:nvGrpSpPr>
          <p:cNvPr id="7" name="Group 7"/>
          <p:cNvGrpSpPr/>
          <p:nvPr/>
        </p:nvGrpSpPr>
        <p:grpSpPr>
          <a:xfrm>
            <a:off x="737235" y="1599248"/>
            <a:ext cx="3937635" cy="396240"/>
            <a:chOff x="737235" y="1599248"/>
            <a:chExt cx="3937635" cy="396240"/>
          </a:xfrm>
        </p:grpSpPr>
        <p:sp>
          <p:nvSpPr>
            <p:cNvPr id="5" name="TextBox 5"/>
            <p:cNvSpPr txBox="1"/>
            <p:nvPr/>
          </p:nvSpPr>
          <p:spPr>
            <a:xfrm>
              <a:off x="737235" y="1599248"/>
              <a:ext cx="303712" cy="396240"/>
            </a:xfrm>
            <a:prstGeom prst="rect">
              <a:avLst/>
            </a:prstGeom>
            <a:noFill/>
            <a:ln>
              <a:noFill/>
            </a:ln>
          </p:spPr>
          <p:txBody>
            <a:bodyPr wrap="none" lIns="0" tIns="0" rIns="0" bIns="0" anchor="t" anchorCtr="0">
              <a:spAutoFit/>
            </a:bodyPr>
            <a:lstStyle/>
            <a:p>
              <a:pPr algn="l"/>
              <a:r>
                <a:rPr lang="zh-CN" sz="1950" b="1" dirty="0">
                  <a:solidFill>
                    <a:srgbClr val="09995E"/>
                  </a:solidFill>
                  <a:latin typeface="Arial"/>
                  <a:ea typeface="Microsoft YaHei"/>
                  <a:cs typeface="Arial"/>
                </a:rPr>
                <a:t>01</a:t>
              </a:r>
            </a:p>
          </p:txBody>
        </p:sp>
        <p:sp>
          <p:nvSpPr>
            <p:cNvPr id="6" name="TextBox 6"/>
            <p:cNvSpPr txBox="1"/>
            <p:nvPr/>
          </p:nvSpPr>
          <p:spPr>
            <a:xfrm>
              <a:off x="1219200" y="1647825"/>
              <a:ext cx="3455670" cy="304800"/>
            </a:xfrm>
            <a:prstGeom prst="rect">
              <a:avLst/>
            </a:prstGeom>
            <a:noFill/>
            <a:ln>
              <a:noFill/>
            </a:ln>
          </p:spPr>
          <p:txBody>
            <a:bodyPr wrap="none" lIns="0" tIns="0" rIns="0" bIns="0" anchor="t" anchorCtr="0">
              <a:spAutoFit/>
            </a:bodyPr>
            <a:lstStyle/>
            <a:p>
              <a:pPr algn="l"/>
              <a:r>
                <a:rPr lang="zh-CN" sz="1500" dirty="0">
                  <a:solidFill>
                    <a:srgbClr val="222222"/>
                  </a:solidFill>
                  <a:latin typeface="Arial"/>
                  <a:ea typeface="Microsoft YaHei"/>
                  <a:cs typeface="Arial"/>
                </a:rPr>
                <a:t>The Problem: ROP &amp; JOP Attacks</a:t>
              </a:r>
            </a:p>
          </p:txBody>
        </p:sp>
      </p:grpSp>
      <p:grpSp>
        <p:nvGrpSpPr>
          <p:cNvPr id="10" name="Group 10"/>
          <p:cNvGrpSpPr/>
          <p:nvPr/>
        </p:nvGrpSpPr>
        <p:grpSpPr>
          <a:xfrm>
            <a:off x="737235" y="2151698"/>
            <a:ext cx="6467951" cy="396240"/>
            <a:chOff x="737235" y="2151698"/>
            <a:chExt cx="6467951" cy="396240"/>
          </a:xfrm>
        </p:grpSpPr>
        <p:sp>
          <p:nvSpPr>
            <p:cNvPr id="8" name="TextBox 8"/>
            <p:cNvSpPr txBox="1"/>
            <p:nvPr/>
          </p:nvSpPr>
          <p:spPr>
            <a:xfrm>
              <a:off x="737235" y="2151698"/>
              <a:ext cx="378471" cy="396240"/>
            </a:xfrm>
            <a:prstGeom prst="rect">
              <a:avLst/>
            </a:prstGeom>
            <a:noFill/>
            <a:ln>
              <a:noFill/>
            </a:ln>
          </p:spPr>
          <p:txBody>
            <a:bodyPr wrap="none" lIns="0" tIns="0" rIns="0" bIns="0" anchor="t" anchorCtr="0">
              <a:spAutoFit/>
            </a:bodyPr>
            <a:lstStyle/>
            <a:p>
              <a:pPr algn="l"/>
              <a:r>
                <a:rPr lang="zh-CN" sz="1950" b="1" dirty="0">
                  <a:solidFill>
                    <a:srgbClr val="09995E"/>
                  </a:solidFill>
                  <a:latin typeface="Arial"/>
                  <a:ea typeface="Microsoft YaHei"/>
                  <a:cs typeface="Arial"/>
                </a:rPr>
                <a:t>02</a:t>
              </a:r>
            </a:p>
          </p:txBody>
        </p:sp>
        <p:sp>
          <p:nvSpPr>
            <p:cNvPr id="9" name="TextBox 9"/>
            <p:cNvSpPr txBox="1"/>
            <p:nvPr/>
          </p:nvSpPr>
          <p:spPr>
            <a:xfrm>
              <a:off x="1219200" y="2200275"/>
              <a:ext cx="5985986" cy="304800"/>
            </a:xfrm>
            <a:prstGeom prst="rect">
              <a:avLst/>
            </a:prstGeom>
            <a:noFill/>
            <a:ln>
              <a:noFill/>
            </a:ln>
          </p:spPr>
          <p:txBody>
            <a:bodyPr wrap="none" lIns="0" tIns="0" rIns="0" bIns="0" anchor="t" anchorCtr="0">
              <a:spAutoFit/>
            </a:bodyPr>
            <a:lstStyle/>
            <a:p>
              <a:pPr algn="l"/>
              <a:r>
                <a:rPr lang="zh-CN" sz="1500" dirty="0">
                  <a:solidFill>
                    <a:srgbClr val="222222"/>
                  </a:solidFill>
                  <a:latin typeface="Arial"/>
                  <a:ea typeface="Microsoft YaHei"/>
                  <a:cs typeface="Arial"/>
                </a:rPr>
                <a:t>Forward-Edge Integrity: Indirect Branch Tracking (IBT)</a:t>
              </a:r>
            </a:p>
          </p:txBody>
        </p:sp>
      </p:grpSp>
      <p:grpSp>
        <p:nvGrpSpPr>
          <p:cNvPr id="13" name="Group 13"/>
          <p:cNvGrpSpPr/>
          <p:nvPr/>
        </p:nvGrpSpPr>
        <p:grpSpPr>
          <a:xfrm>
            <a:off x="737235" y="2704148"/>
            <a:ext cx="3389947" cy="396240"/>
            <a:chOff x="737235" y="2704148"/>
            <a:chExt cx="3389947" cy="396240"/>
          </a:xfrm>
        </p:grpSpPr>
        <p:sp>
          <p:nvSpPr>
            <p:cNvPr id="11" name="TextBox 11"/>
            <p:cNvSpPr txBox="1"/>
            <p:nvPr/>
          </p:nvSpPr>
          <p:spPr>
            <a:xfrm>
              <a:off x="737235" y="2704148"/>
              <a:ext cx="378471" cy="396240"/>
            </a:xfrm>
            <a:prstGeom prst="rect">
              <a:avLst/>
            </a:prstGeom>
            <a:noFill/>
            <a:ln>
              <a:noFill/>
            </a:ln>
          </p:spPr>
          <p:txBody>
            <a:bodyPr wrap="none" lIns="0" tIns="0" rIns="0" bIns="0" anchor="t" anchorCtr="0">
              <a:spAutoFit/>
            </a:bodyPr>
            <a:lstStyle/>
            <a:p>
              <a:pPr algn="l"/>
              <a:r>
                <a:rPr lang="zh-CN" sz="1950" b="1" dirty="0">
                  <a:solidFill>
                    <a:srgbClr val="09995E"/>
                  </a:solidFill>
                  <a:latin typeface="Arial"/>
                  <a:ea typeface="Microsoft YaHei"/>
                  <a:cs typeface="Arial"/>
                </a:rPr>
                <a:t>03</a:t>
              </a:r>
            </a:p>
          </p:txBody>
        </p:sp>
        <p:sp>
          <p:nvSpPr>
            <p:cNvPr id="12" name="TextBox 12"/>
            <p:cNvSpPr txBox="1"/>
            <p:nvPr/>
          </p:nvSpPr>
          <p:spPr>
            <a:xfrm>
              <a:off x="1219200" y="2752725"/>
              <a:ext cx="2907982" cy="304800"/>
            </a:xfrm>
            <a:prstGeom prst="rect">
              <a:avLst/>
            </a:prstGeom>
            <a:noFill/>
            <a:ln>
              <a:noFill/>
            </a:ln>
          </p:spPr>
          <p:txBody>
            <a:bodyPr wrap="none" lIns="0" tIns="0" rIns="0" bIns="0" anchor="t" anchorCtr="0">
              <a:spAutoFit/>
            </a:bodyPr>
            <a:lstStyle/>
            <a:p>
              <a:pPr algn="l"/>
              <a:r>
                <a:rPr lang="zh-CN" sz="1500" dirty="0">
                  <a:solidFill>
                    <a:srgbClr val="222222"/>
                  </a:solidFill>
                  <a:latin typeface="Arial"/>
                  <a:ea typeface="Microsoft YaHei"/>
                  <a:cs typeface="Arial"/>
                </a:rPr>
                <a:t>The #CP Fault: Exception 21</a:t>
              </a:r>
            </a:p>
          </p:txBody>
        </p:sp>
      </p:grpSp>
      <p:grpSp>
        <p:nvGrpSpPr>
          <p:cNvPr id="16" name="Group 16"/>
          <p:cNvGrpSpPr/>
          <p:nvPr/>
        </p:nvGrpSpPr>
        <p:grpSpPr>
          <a:xfrm>
            <a:off x="737235" y="3256598"/>
            <a:ext cx="4781074" cy="396240"/>
            <a:chOff x="737235" y="3256598"/>
            <a:chExt cx="4781074" cy="396240"/>
          </a:xfrm>
        </p:grpSpPr>
        <p:sp>
          <p:nvSpPr>
            <p:cNvPr id="14" name="TextBox 14"/>
            <p:cNvSpPr txBox="1"/>
            <p:nvPr/>
          </p:nvSpPr>
          <p:spPr>
            <a:xfrm>
              <a:off x="737235" y="3256598"/>
              <a:ext cx="378471" cy="396240"/>
            </a:xfrm>
            <a:prstGeom prst="rect">
              <a:avLst/>
            </a:prstGeom>
            <a:noFill/>
            <a:ln>
              <a:noFill/>
            </a:ln>
          </p:spPr>
          <p:txBody>
            <a:bodyPr wrap="none" lIns="0" tIns="0" rIns="0" bIns="0" anchor="t" anchorCtr="0">
              <a:spAutoFit/>
            </a:bodyPr>
            <a:lstStyle/>
            <a:p>
              <a:pPr algn="l"/>
              <a:r>
                <a:rPr lang="zh-CN" sz="1950" b="1" dirty="0">
                  <a:solidFill>
                    <a:srgbClr val="09995E"/>
                  </a:solidFill>
                  <a:latin typeface="Arial"/>
                  <a:ea typeface="Microsoft YaHei"/>
                  <a:cs typeface="Arial"/>
                </a:rPr>
                <a:t>04</a:t>
              </a:r>
            </a:p>
          </p:txBody>
        </p:sp>
        <p:sp>
          <p:nvSpPr>
            <p:cNvPr id="15" name="TextBox 15"/>
            <p:cNvSpPr txBox="1"/>
            <p:nvPr/>
          </p:nvSpPr>
          <p:spPr>
            <a:xfrm>
              <a:off x="1219200" y="3305175"/>
              <a:ext cx="4299109" cy="304800"/>
            </a:xfrm>
            <a:prstGeom prst="rect">
              <a:avLst/>
            </a:prstGeom>
            <a:noFill/>
            <a:ln>
              <a:noFill/>
            </a:ln>
          </p:spPr>
          <p:txBody>
            <a:bodyPr wrap="none" lIns="0" tIns="0" rIns="0" bIns="0" anchor="t" anchorCtr="0">
              <a:spAutoFit/>
            </a:bodyPr>
            <a:lstStyle/>
            <a:p>
              <a:pPr algn="l"/>
              <a:r>
                <a:rPr lang="zh-CN" sz="1500" dirty="0">
                  <a:solidFill>
                    <a:srgbClr val="222222"/>
                  </a:solidFill>
                  <a:latin typeface="Arial"/>
                  <a:ea typeface="Microsoft YaHei"/>
                  <a:cs typeface="Arial"/>
                </a:rPr>
                <a:t>Backward-Edge Defense: Shadow Stacks</a:t>
              </a:r>
            </a:p>
          </p:txBody>
        </p:sp>
      </p:grpSp>
      <p:grpSp>
        <p:nvGrpSpPr>
          <p:cNvPr id="19" name="Group 19"/>
          <p:cNvGrpSpPr/>
          <p:nvPr/>
        </p:nvGrpSpPr>
        <p:grpSpPr>
          <a:xfrm>
            <a:off x="737235" y="3809048"/>
            <a:ext cx="4233386" cy="396240"/>
            <a:chOff x="737235" y="3809048"/>
            <a:chExt cx="4233386" cy="396240"/>
          </a:xfrm>
        </p:grpSpPr>
        <p:sp>
          <p:nvSpPr>
            <p:cNvPr id="17" name="TextBox 17"/>
            <p:cNvSpPr txBox="1"/>
            <p:nvPr/>
          </p:nvSpPr>
          <p:spPr>
            <a:xfrm>
              <a:off x="737235" y="3809048"/>
              <a:ext cx="378471" cy="396240"/>
            </a:xfrm>
            <a:prstGeom prst="rect">
              <a:avLst/>
            </a:prstGeom>
            <a:noFill/>
            <a:ln>
              <a:noFill/>
            </a:ln>
          </p:spPr>
          <p:txBody>
            <a:bodyPr wrap="none" lIns="0" tIns="0" rIns="0" bIns="0" anchor="t" anchorCtr="0">
              <a:spAutoFit/>
            </a:bodyPr>
            <a:lstStyle/>
            <a:p>
              <a:pPr algn="l"/>
              <a:r>
                <a:rPr lang="zh-CN" sz="1950" b="1" dirty="0">
                  <a:solidFill>
                    <a:srgbClr val="09995E"/>
                  </a:solidFill>
                  <a:latin typeface="Arial"/>
                  <a:ea typeface="Microsoft YaHei"/>
                  <a:cs typeface="Arial"/>
                </a:rPr>
                <a:t>05</a:t>
              </a:r>
            </a:p>
          </p:txBody>
        </p:sp>
        <p:sp>
          <p:nvSpPr>
            <p:cNvPr id="18" name="TextBox 18"/>
            <p:cNvSpPr txBox="1"/>
            <p:nvPr/>
          </p:nvSpPr>
          <p:spPr>
            <a:xfrm>
              <a:off x="1219200" y="3857625"/>
              <a:ext cx="3751421" cy="304800"/>
            </a:xfrm>
            <a:prstGeom prst="rect">
              <a:avLst/>
            </a:prstGeom>
            <a:noFill/>
            <a:ln>
              <a:noFill/>
            </a:ln>
          </p:spPr>
          <p:txBody>
            <a:bodyPr wrap="none" lIns="0" tIns="0" rIns="0" bIns="0" anchor="t" anchorCtr="0">
              <a:spAutoFit/>
            </a:bodyPr>
            <a:lstStyle/>
            <a:p>
              <a:pPr algn="l"/>
              <a:r>
                <a:rPr lang="zh-CN" sz="1500" dirty="0">
                  <a:solidFill>
                    <a:srgbClr val="222222"/>
                  </a:solidFill>
                  <a:latin typeface="Arial"/>
                  <a:ea typeface="Microsoft YaHei"/>
                  <a:cs typeface="Arial"/>
                </a:rPr>
                <a:t>Signal Handling &amp; Context Switching</a:t>
              </a:r>
            </a:p>
          </p:txBody>
        </p:sp>
      </p:grpSp>
      <p:grpSp>
        <p:nvGrpSpPr>
          <p:cNvPr id="22" name="Group 22"/>
          <p:cNvGrpSpPr/>
          <p:nvPr/>
        </p:nvGrpSpPr>
        <p:grpSpPr>
          <a:xfrm>
            <a:off x="737235" y="4361498"/>
            <a:ext cx="4408646" cy="396240"/>
            <a:chOff x="737235" y="4361498"/>
            <a:chExt cx="4408646" cy="396240"/>
          </a:xfrm>
        </p:grpSpPr>
        <p:sp>
          <p:nvSpPr>
            <p:cNvPr id="20" name="TextBox 20"/>
            <p:cNvSpPr txBox="1"/>
            <p:nvPr/>
          </p:nvSpPr>
          <p:spPr>
            <a:xfrm>
              <a:off x="737235" y="4361498"/>
              <a:ext cx="378471" cy="396240"/>
            </a:xfrm>
            <a:prstGeom prst="rect">
              <a:avLst/>
            </a:prstGeom>
            <a:noFill/>
            <a:ln>
              <a:noFill/>
            </a:ln>
          </p:spPr>
          <p:txBody>
            <a:bodyPr wrap="none" lIns="0" tIns="0" rIns="0" bIns="0" anchor="t" anchorCtr="0">
              <a:spAutoFit/>
            </a:bodyPr>
            <a:lstStyle/>
            <a:p>
              <a:pPr algn="l"/>
              <a:r>
                <a:rPr lang="zh-CN" sz="1950" b="1" dirty="0">
                  <a:solidFill>
                    <a:srgbClr val="09995E"/>
                  </a:solidFill>
                  <a:latin typeface="Arial"/>
                  <a:ea typeface="Microsoft YaHei"/>
                  <a:cs typeface="Arial"/>
                </a:rPr>
                <a:t>06</a:t>
              </a:r>
            </a:p>
          </p:txBody>
        </p:sp>
        <p:sp>
          <p:nvSpPr>
            <p:cNvPr id="21" name="TextBox 21"/>
            <p:cNvSpPr txBox="1"/>
            <p:nvPr/>
          </p:nvSpPr>
          <p:spPr>
            <a:xfrm>
              <a:off x="1219200" y="4410075"/>
              <a:ext cx="3926681" cy="304800"/>
            </a:xfrm>
            <a:prstGeom prst="rect">
              <a:avLst/>
            </a:prstGeom>
            <a:noFill/>
            <a:ln>
              <a:noFill/>
            </a:ln>
          </p:spPr>
          <p:txBody>
            <a:bodyPr wrap="none" lIns="0" tIns="0" rIns="0" bIns="0" anchor="t" anchorCtr="0">
              <a:spAutoFit/>
            </a:bodyPr>
            <a:lstStyle/>
            <a:p>
              <a:pPr algn="l"/>
              <a:r>
                <a:rPr lang="zh-CN" sz="1500" dirty="0">
                  <a:solidFill>
                    <a:srgbClr val="222222"/>
                  </a:solidFill>
                  <a:latin typeface="Arial"/>
                  <a:ea typeface="Microsoft YaHei"/>
                  <a:cs typeface="Arial"/>
                </a:rPr>
                <a:t>The Kernel Interface: arch_prctl(2)</a:t>
              </a:r>
            </a:p>
          </p:txBody>
        </p:sp>
      </p:grpSp>
      <p:grpSp>
        <p:nvGrpSpPr>
          <p:cNvPr id="25" name="Group 25"/>
          <p:cNvGrpSpPr/>
          <p:nvPr/>
        </p:nvGrpSpPr>
        <p:grpSpPr>
          <a:xfrm>
            <a:off x="737235" y="4913948"/>
            <a:ext cx="4331970" cy="396240"/>
            <a:chOff x="737235" y="4913948"/>
            <a:chExt cx="4331970" cy="396240"/>
          </a:xfrm>
        </p:grpSpPr>
        <p:sp>
          <p:nvSpPr>
            <p:cNvPr id="23" name="TextBox 23"/>
            <p:cNvSpPr txBox="1"/>
            <p:nvPr/>
          </p:nvSpPr>
          <p:spPr>
            <a:xfrm>
              <a:off x="737235" y="4913948"/>
              <a:ext cx="378471" cy="396240"/>
            </a:xfrm>
            <a:prstGeom prst="rect">
              <a:avLst/>
            </a:prstGeom>
            <a:noFill/>
            <a:ln>
              <a:noFill/>
            </a:ln>
          </p:spPr>
          <p:txBody>
            <a:bodyPr wrap="none" lIns="0" tIns="0" rIns="0" bIns="0" anchor="t" anchorCtr="0">
              <a:spAutoFit/>
            </a:bodyPr>
            <a:lstStyle/>
            <a:p>
              <a:pPr algn="l"/>
              <a:r>
                <a:rPr lang="zh-CN" sz="1950" b="1" dirty="0">
                  <a:solidFill>
                    <a:srgbClr val="09995E"/>
                  </a:solidFill>
                  <a:latin typeface="Arial"/>
                  <a:ea typeface="Microsoft YaHei"/>
                  <a:cs typeface="Arial"/>
                </a:rPr>
                <a:t>07</a:t>
              </a:r>
            </a:p>
          </p:txBody>
        </p:sp>
        <p:sp>
          <p:nvSpPr>
            <p:cNvPr id="24" name="TextBox 24"/>
            <p:cNvSpPr txBox="1"/>
            <p:nvPr/>
          </p:nvSpPr>
          <p:spPr>
            <a:xfrm>
              <a:off x="1219200" y="4962525"/>
              <a:ext cx="3850005" cy="304800"/>
            </a:xfrm>
            <a:prstGeom prst="rect">
              <a:avLst/>
            </a:prstGeom>
            <a:noFill/>
            <a:ln>
              <a:noFill/>
            </a:ln>
          </p:spPr>
          <p:txBody>
            <a:bodyPr wrap="none" lIns="0" tIns="0" rIns="0" bIns="0" anchor="t" anchorCtr="0">
              <a:spAutoFit/>
            </a:bodyPr>
            <a:lstStyle/>
            <a:p>
              <a:pPr algn="l"/>
              <a:r>
                <a:rPr lang="zh-CN" sz="1500" dirty="0">
                  <a:solidFill>
                    <a:srgbClr val="222222"/>
                  </a:solidFill>
                  <a:latin typeface="Arial"/>
                  <a:ea typeface="Microsoft YaHei"/>
                  <a:cs typeface="Arial"/>
                </a:rPr>
                <a:t>Edge Cases &amp; Production Deployment</a:t>
              </a:r>
            </a:p>
          </p:txBody>
        </p:sp>
      </p:grpSp>
      <p:grpSp>
        <p:nvGrpSpPr>
          <p:cNvPr id="28" name="Group 28"/>
          <p:cNvGrpSpPr/>
          <p:nvPr/>
        </p:nvGrpSpPr>
        <p:grpSpPr>
          <a:xfrm>
            <a:off x="748665" y="5476875"/>
            <a:ext cx="3632835" cy="338137"/>
            <a:chOff x="748665" y="5476875"/>
            <a:chExt cx="3632835" cy="338137"/>
          </a:xfrm>
        </p:grpSpPr>
        <p:sp>
          <p:nvSpPr>
            <p:cNvPr id="26" name="Rectangle 26"/>
            <p:cNvSpPr/>
            <p:nvPr/>
          </p:nvSpPr>
          <p:spPr>
            <a:xfrm>
              <a:off x="762000" y="5476875"/>
              <a:ext cx="3619500" cy="9525"/>
            </a:xfrm>
            <a:prstGeom prst="rect">
              <a:avLst/>
            </a:prstGeom>
            <a:solidFill>
              <a:srgbClr val="CCCCCC"/>
            </a:solidFill>
            <a:ln>
              <a:noFill/>
            </a:ln>
          </p:spPr>
        </p:sp>
        <p:sp>
          <p:nvSpPr>
            <p:cNvPr id="27" name="TextBox 27"/>
            <p:cNvSpPr txBox="1"/>
            <p:nvPr/>
          </p:nvSpPr>
          <p:spPr>
            <a:xfrm>
              <a:off x="748665" y="5601652"/>
              <a:ext cx="2342293" cy="213360"/>
            </a:xfrm>
            <a:prstGeom prst="rect">
              <a:avLst/>
            </a:prstGeom>
            <a:noFill/>
            <a:ln>
              <a:noFill/>
            </a:ln>
          </p:spPr>
          <p:txBody>
            <a:bodyPr wrap="none" lIns="0" tIns="0" rIns="0" bIns="0" anchor="t" anchorCtr="0">
              <a:spAutoFit/>
            </a:bodyPr>
            <a:lstStyle/>
            <a:p>
              <a:pPr algn="l"/>
              <a:r>
                <a:rPr lang="zh-CN" sz="1050" dirty="0">
                  <a:solidFill>
                    <a:srgbClr val="888888"/>
                  </a:solidFill>
                  <a:latin typeface="Arial"/>
                  <a:ea typeface="Microsoft YaHei"/>
                  <a:cs typeface="Arial"/>
                </a:rPr>
                <a:t>20-minute talk + 10-minute Q&amp;A</a:t>
              </a:r>
            </a:p>
          </p:txBody>
        </p:sp>
      </p:grpSp>
      <p:pic>
        <p:nvPicPr>
          <p:cNvPr id="29" name="Image 29"/>
          <p:cNvPicPr>
            <a:picLocks noChangeAspect="1"/>
          </p:cNvPicPr>
          <p:nvPr/>
        </p:nvPicPr>
        <p:blipFill>
          <a:blip r:embed="rId4"/>
          <a:stretch>
            <a:fillRect/>
          </a:stretch>
        </p:blipFill>
        <p:spPr>
          <a:xfrm>
            <a:off x="10283883" y="5886450"/>
            <a:ext cx="1158759" cy="381000"/>
          </a:xfrm>
          <a:prstGeom prst="rect">
            <a:avLst/>
          </a:prstGeom>
        </p:spPr>
      </p:pic>
      <p:sp>
        <p:nvSpPr>
          <p:cNvPr id="30" name="TextBox 30"/>
          <p:cNvSpPr txBox="1"/>
          <p:nvPr/>
        </p:nvSpPr>
        <p:spPr>
          <a:xfrm>
            <a:off x="11632025" y="6646545"/>
            <a:ext cx="95155" cy="182880"/>
          </a:xfrm>
          <a:prstGeom prst="rect">
            <a:avLst/>
          </a:prstGeom>
          <a:noFill/>
          <a:ln>
            <a:noFill/>
          </a:ln>
        </p:spPr>
        <p:txBody>
          <a:bodyPr wrap="none" lIns="0" tIns="0" rIns="0" bIns="0" anchor="t" anchorCtr="0">
            <a:spAutoFit/>
          </a:bodyPr>
          <a:lstStyle/>
          <a:p>
            <a:pPr algn="r"/>
            <a:r>
              <a:rPr lang="zh-CN" sz="900" dirty="0">
                <a:solidFill>
                  <a:srgbClr val="FFFFFF"/>
                </a:solidFill>
                <a:latin typeface="Arial"/>
                <a:ea typeface="Microsoft YaHei"/>
                <a:cs typeface="Arial"/>
              </a:rPr>
              <a:t>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400"/>
                                        <p:tgtEl>
                                          <p:spTgt spid="1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slide(fromBottom)">
                                      <p:cBhvr>
                                        <p:cTn id="15" dur="400"/>
                                        <p:tgtEl>
                                          <p:spTgt spid="13"/>
                                        </p:tgtEl>
                                      </p:cBhvr>
                                    </p:animEffect>
                                  </p:childTnLst>
                                </p:cTn>
                              </p:par>
                            </p:childTnLst>
                          </p:cTn>
                        </p:par>
                        <p:par>
                          <p:cTn id="16" fill="hold">
                            <p:stCondLst>
                              <p:cond delay="2700"/>
                            </p:stCondLst>
                            <p:childTnLst>
                              <p:par>
                                <p:cTn id="17" presetID="42" presetClass="entr" presetSubtype="8"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slide(fromLeft)">
                                      <p:cBhvr>
                                        <p:cTn id="19" dur="400"/>
                                        <p:tgtEl>
                                          <p:spTgt spid="16"/>
                                        </p:tgtEl>
                                      </p:cBhvr>
                                    </p:animEffect>
                                  </p:childTnLst>
                                </p:cTn>
                              </p:par>
                            </p:childTnLst>
                          </p:cTn>
                        </p:par>
                        <p:par>
                          <p:cTn id="20" fill="hold">
                            <p:stCondLst>
                              <p:cond delay="3600"/>
                            </p:stCondLst>
                            <p:childTnLst>
                              <p:par>
                                <p:cTn id="21" presetID="14" presetClass="entr" presetSubtype="10"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randombar(horizontal)">
                                      <p:cBhvr>
                                        <p:cTn id="23" dur="400"/>
                                        <p:tgtEl>
                                          <p:spTgt spid="19"/>
                                        </p:tgtEl>
                                      </p:cBhvr>
                                    </p:animEffect>
                                  </p:childTnLst>
                                </p:cTn>
                              </p:par>
                            </p:childTnLst>
                          </p:cTn>
                        </p:par>
                        <p:par>
                          <p:cTn id="24" fill="hold">
                            <p:stCondLst>
                              <p:cond delay="4500"/>
                            </p:stCondLst>
                            <p:childTnLst>
                              <p:par>
                                <p:cTn id="25" presetID="4" presetClass="entr" presetSubtype="0"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box(in)">
                                      <p:cBhvr>
                                        <p:cTn id="27" dur="400"/>
                                        <p:tgtEl>
                                          <p:spTgt spid="22"/>
                                        </p:tgtEl>
                                      </p:cBhvr>
                                    </p:animEffect>
                                  </p:childTnLst>
                                </p:cTn>
                              </p:par>
                            </p:childTnLst>
                          </p:cTn>
                        </p:par>
                        <p:par>
                          <p:cTn id="28" fill="hold">
                            <p:stCondLst>
                              <p:cond delay="5400"/>
                            </p:stCondLst>
                            <p:childTnLst>
                              <p:par>
                                <p:cTn id="29" presetID="16" presetClass="entr" presetSubtype="21"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barn(inVertical)">
                                      <p:cBhvr>
                                        <p:cTn id="31" dur="400"/>
                                        <p:tgtEl>
                                          <p:spTgt spid="25"/>
                                        </p:tgtEl>
                                      </p:cBhvr>
                                    </p:animEffect>
                                  </p:childTnLst>
                                </p:cTn>
                              </p:par>
                            </p:childTnLst>
                          </p:cTn>
                        </p:par>
                        <p:par>
                          <p:cTn id="32" fill="hold">
                            <p:stCondLst>
                              <p:cond delay="6300"/>
                            </p:stCondLst>
                            <p:childTnLst>
                              <p:par>
                                <p:cTn id="33" presetID="18" presetClass="entr" presetSubtype="12"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strips(downRight)">
                                      <p:cBhvr>
                                        <p:cTn id="3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P spid="16" grpId="0"/>
      <p:bldP spid="19" grpId="0"/>
      <p:bldP spid="22" grpId="0"/>
      <p:bldP spid="25"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3373374"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Why Hardware CFI?</a:t>
            </a:r>
          </a:p>
        </p:txBody>
      </p:sp>
      <p:grpSp>
        <p:nvGrpSpPr>
          <p:cNvPr id="37" name="Group 37"/>
          <p:cNvGrpSpPr/>
          <p:nvPr/>
        </p:nvGrpSpPr>
        <p:grpSpPr>
          <a:xfrm>
            <a:off x="762000" y="1393508"/>
            <a:ext cx="10287000" cy="3797617"/>
            <a:chOff x="762000" y="1393508"/>
            <a:chExt cx="10287000" cy="3797617"/>
          </a:xfrm>
        </p:grpSpPr>
        <p:sp>
          <p:nvSpPr>
            <p:cNvPr id="6" name="TextBox 6"/>
            <p:cNvSpPr txBox="1"/>
            <p:nvPr/>
          </p:nvSpPr>
          <p:spPr>
            <a:xfrm>
              <a:off x="931545" y="1393508"/>
              <a:ext cx="4153674" cy="335280"/>
            </a:xfrm>
            <a:prstGeom prst="rect">
              <a:avLst/>
            </a:prstGeom>
            <a:noFill/>
            <a:ln>
              <a:noFill/>
            </a:ln>
          </p:spPr>
          <p:txBody>
            <a:bodyPr wrap="none" lIns="0" tIns="0" rIns="0" bIns="0" anchor="t" anchorCtr="0">
              <a:spAutoFit/>
            </a:bodyPr>
            <a:lstStyle/>
            <a:p>
              <a:pPr algn="l"/>
              <a:r>
                <a:rPr lang="zh-CN" sz="1650" b="1" dirty="0">
                  <a:solidFill>
                    <a:srgbClr val="EF4444"/>
                  </a:solidFill>
                  <a:latin typeface="Arial"/>
                  <a:ea typeface="Microsoft YaHei"/>
                  <a:cs typeface="Arial"/>
                </a:rPr>
                <a:t>The Problem: Code-Reuse Attacks</a:t>
              </a:r>
            </a:p>
          </p:txBody>
        </p:sp>
        <p:sp>
          <p:nvSpPr>
            <p:cNvPr id="7" name="Rectangle 7"/>
            <p:cNvSpPr/>
            <p:nvPr/>
          </p:nvSpPr>
          <p:spPr>
            <a:xfrm>
              <a:off x="762000" y="1762125"/>
              <a:ext cx="4572000" cy="476250"/>
            </a:xfrm>
            <a:prstGeom prst="roundRect">
              <a:avLst>
                <a:gd name="adj" fmla="val 12000"/>
              </a:avLst>
            </a:prstGeom>
            <a:solidFill>
              <a:srgbClr val="FEF2F2"/>
            </a:solidFill>
            <a:ln w="14288">
              <a:solidFill>
                <a:srgbClr val="EF4444"/>
              </a:solidFill>
            </a:ln>
          </p:spPr>
        </p:sp>
        <p:sp>
          <p:nvSpPr>
            <p:cNvPr id="8" name="TextBox 8"/>
            <p:cNvSpPr txBox="1"/>
            <p:nvPr/>
          </p:nvSpPr>
          <p:spPr>
            <a:xfrm>
              <a:off x="938212" y="1926431"/>
              <a:ext cx="4004786"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NX bit stopped code injection — attackers adapted</a:t>
              </a:r>
            </a:p>
          </p:txBody>
        </p:sp>
        <p:sp>
          <p:nvSpPr>
            <p:cNvPr id="9" name="Rectangle 9"/>
            <p:cNvSpPr/>
            <p:nvPr/>
          </p:nvSpPr>
          <p:spPr>
            <a:xfrm>
              <a:off x="762000" y="2428875"/>
              <a:ext cx="4572000" cy="952500"/>
            </a:xfrm>
            <a:prstGeom prst="roundRect">
              <a:avLst>
                <a:gd name="adj" fmla="val 6000"/>
              </a:avLst>
            </a:prstGeom>
            <a:solidFill>
              <a:srgbClr val="FEF2F2"/>
            </a:solidFill>
            <a:ln w="14288">
              <a:solidFill>
                <a:srgbClr val="EF4444"/>
              </a:solidFill>
            </a:ln>
          </p:spPr>
        </p:sp>
        <p:sp>
          <p:nvSpPr>
            <p:cNvPr id="10" name="Freeform 10"/>
            <p:cNvSpPr/>
            <p:nvPr/>
          </p:nvSpPr>
          <p:spPr>
            <a:xfrm>
              <a:off x="960438" y="2601912"/>
              <a:ext cx="166688" cy="133350"/>
            </a:xfrm>
            <a:custGeom>
              <a:avLst/>
              <a:gdLst/>
              <a:ahLst/>
              <a:cxnLst/>
              <a:rect l="l" t="t" r="r" b="b"/>
              <a:pathLst>
                <a:path w="166688" h="133350">
                  <a:moveTo>
                    <a:pt x="44450" y="44450"/>
                  </a:moveTo>
                  <a:lnTo>
                    <a:pt x="0" y="88900"/>
                  </a:lnTo>
                  <a:lnTo>
                    <a:pt x="44450" y="133350"/>
                  </a:lnTo>
                  <a:moveTo>
                    <a:pt x="0" y="88900"/>
                  </a:moveTo>
                  <a:lnTo>
                    <a:pt x="122238" y="88900"/>
                  </a:lnTo>
                  <a:cubicBezTo>
                    <a:pt x="146787" y="88900"/>
                    <a:pt x="166688" y="68999"/>
                    <a:pt x="166688" y="44450"/>
                  </a:cubicBezTo>
                  <a:cubicBezTo>
                    <a:pt x="166688" y="19901"/>
                    <a:pt x="146787" y="0"/>
                    <a:pt x="122238" y="0"/>
                  </a:cubicBezTo>
                  <a:lnTo>
                    <a:pt x="111125" y="0"/>
                  </a:lnTo>
                </a:path>
              </a:pathLst>
            </a:custGeom>
            <a:noFill/>
            <a:ln w="19050">
              <a:solidFill>
                <a:srgbClr val="EF4444"/>
              </a:solidFill>
            </a:ln>
          </p:spPr>
        </p:sp>
        <p:sp>
          <p:nvSpPr>
            <p:cNvPr id="11" name="TextBox 11"/>
            <p:cNvSpPr txBox="1"/>
            <p:nvPr/>
          </p:nvSpPr>
          <p:spPr>
            <a:xfrm>
              <a:off x="1221105" y="2568892"/>
              <a:ext cx="3698648" cy="274320"/>
            </a:xfrm>
            <a:prstGeom prst="rect">
              <a:avLst/>
            </a:prstGeom>
            <a:noFill/>
            <a:ln>
              <a:noFill/>
            </a:ln>
          </p:spPr>
          <p:txBody>
            <a:bodyPr wrap="none" lIns="0" tIns="0" rIns="0" bIns="0" anchor="t" anchorCtr="0">
              <a:spAutoFit/>
            </a:bodyPr>
            <a:lstStyle/>
            <a:p>
              <a:pPr algn="l"/>
              <a:r>
                <a:rPr lang="zh-CN" sz="1350" b="1" dirty="0">
                  <a:solidFill>
                    <a:srgbClr val="EF4444"/>
                  </a:solidFill>
                  <a:latin typeface="Arial"/>
                  <a:ea typeface="Microsoft YaHei"/>
                  <a:cs typeface="Arial"/>
                </a:rPr>
                <a:t>ROP — Return-Oriented Programming</a:t>
              </a:r>
            </a:p>
          </p:txBody>
        </p:sp>
        <p:sp>
          <p:nvSpPr>
            <p:cNvPr id="12" name="TextBox 12"/>
            <p:cNvSpPr txBox="1"/>
            <p:nvPr/>
          </p:nvSpPr>
          <p:spPr>
            <a:xfrm>
              <a:off x="939165" y="2887028"/>
              <a:ext cx="2710339"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Chains small "gadgets" ending in RET</a:t>
              </a:r>
            </a:p>
          </p:txBody>
        </p:sp>
        <p:sp>
          <p:nvSpPr>
            <p:cNvPr id="13" name="TextBox 13"/>
            <p:cNvSpPr txBox="1"/>
            <p:nvPr/>
          </p:nvSpPr>
          <p:spPr>
            <a:xfrm>
              <a:off x="939165" y="3096578"/>
              <a:ext cx="392182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Hijacks backward-edge (return addresses on stack)</a:t>
              </a:r>
            </a:p>
          </p:txBody>
        </p:sp>
        <p:sp>
          <p:nvSpPr>
            <p:cNvPr id="14" name="Rectangle 14"/>
            <p:cNvSpPr/>
            <p:nvPr/>
          </p:nvSpPr>
          <p:spPr>
            <a:xfrm>
              <a:off x="762000" y="3571875"/>
              <a:ext cx="4572000" cy="952500"/>
            </a:xfrm>
            <a:prstGeom prst="roundRect">
              <a:avLst>
                <a:gd name="adj" fmla="val 6000"/>
              </a:avLst>
            </a:prstGeom>
            <a:solidFill>
              <a:srgbClr val="FEF2F2"/>
            </a:solidFill>
            <a:ln w="14288">
              <a:solidFill>
                <a:srgbClr val="EF4444"/>
              </a:solidFill>
            </a:ln>
          </p:spPr>
        </p:sp>
        <p:sp>
          <p:nvSpPr>
            <p:cNvPr id="15" name="Freeform 15"/>
            <p:cNvSpPr/>
            <p:nvPr/>
          </p:nvSpPr>
          <p:spPr>
            <a:xfrm>
              <a:off x="949325" y="3744912"/>
              <a:ext cx="166688" cy="133350"/>
            </a:xfrm>
            <a:custGeom>
              <a:avLst/>
              <a:gdLst/>
              <a:ahLst/>
              <a:cxnLst/>
              <a:rect l="l" t="t" r="r" b="b"/>
              <a:pathLst>
                <a:path w="166688" h="133350">
                  <a:moveTo>
                    <a:pt x="122237" y="44450"/>
                  </a:moveTo>
                  <a:lnTo>
                    <a:pt x="166688" y="88900"/>
                  </a:lnTo>
                  <a:lnTo>
                    <a:pt x="122237" y="133350"/>
                  </a:lnTo>
                  <a:moveTo>
                    <a:pt x="166688" y="88900"/>
                  </a:moveTo>
                  <a:lnTo>
                    <a:pt x="44450" y="88900"/>
                  </a:lnTo>
                  <a:cubicBezTo>
                    <a:pt x="19901" y="88900"/>
                    <a:pt x="0" y="68999"/>
                    <a:pt x="0" y="44450"/>
                  </a:cubicBezTo>
                  <a:cubicBezTo>
                    <a:pt x="0" y="19901"/>
                    <a:pt x="19901" y="0"/>
                    <a:pt x="44450" y="0"/>
                  </a:cubicBezTo>
                  <a:lnTo>
                    <a:pt x="55562" y="0"/>
                  </a:lnTo>
                </a:path>
              </a:pathLst>
            </a:custGeom>
            <a:noFill/>
            <a:ln w="19050">
              <a:solidFill>
                <a:srgbClr val="EF4444"/>
              </a:solidFill>
            </a:ln>
          </p:spPr>
        </p:sp>
        <p:sp>
          <p:nvSpPr>
            <p:cNvPr id="16" name="TextBox 16"/>
            <p:cNvSpPr txBox="1"/>
            <p:nvPr/>
          </p:nvSpPr>
          <p:spPr>
            <a:xfrm>
              <a:off x="1221105" y="3711892"/>
              <a:ext cx="3512325" cy="274320"/>
            </a:xfrm>
            <a:prstGeom prst="rect">
              <a:avLst/>
            </a:prstGeom>
            <a:noFill/>
            <a:ln>
              <a:noFill/>
            </a:ln>
          </p:spPr>
          <p:txBody>
            <a:bodyPr wrap="none" lIns="0" tIns="0" rIns="0" bIns="0" anchor="t" anchorCtr="0">
              <a:spAutoFit/>
            </a:bodyPr>
            <a:lstStyle/>
            <a:p>
              <a:pPr algn="l"/>
              <a:r>
                <a:rPr lang="zh-CN" sz="1350" b="1" dirty="0">
                  <a:solidFill>
                    <a:srgbClr val="EF4444"/>
                  </a:solidFill>
                  <a:latin typeface="Arial"/>
                  <a:ea typeface="Microsoft YaHei"/>
                  <a:cs typeface="Arial"/>
                </a:rPr>
                <a:t>JOP — Jump-Oriented Programming</a:t>
              </a:r>
            </a:p>
          </p:txBody>
        </p:sp>
        <p:sp>
          <p:nvSpPr>
            <p:cNvPr id="17" name="TextBox 17"/>
            <p:cNvSpPr txBox="1"/>
            <p:nvPr/>
          </p:nvSpPr>
          <p:spPr>
            <a:xfrm>
              <a:off x="939165" y="4030028"/>
              <a:ext cx="2572321"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Chains gadgets ending in JMP/CALL</a:t>
              </a:r>
            </a:p>
          </p:txBody>
        </p:sp>
        <p:sp>
          <p:nvSpPr>
            <p:cNvPr id="18" name="TextBox 18"/>
            <p:cNvSpPr txBox="1"/>
            <p:nvPr/>
          </p:nvSpPr>
          <p:spPr>
            <a:xfrm>
              <a:off x="939165" y="4239578"/>
              <a:ext cx="3162729"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Hijacks forward-edge (indirect branches)</a:t>
              </a:r>
            </a:p>
          </p:txBody>
        </p:sp>
        <p:sp>
          <p:nvSpPr>
            <p:cNvPr id="19" name="Rectangle 19"/>
            <p:cNvSpPr/>
            <p:nvPr/>
          </p:nvSpPr>
          <p:spPr>
            <a:xfrm>
              <a:off x="762000" y="4714875"/>
              <a:ext cx="4572000" cy="419100"/>
            </a:xfrm>
            <a:prstGeom prst="roundRect">
              <a:avLst>
                <a:gd name="adj" fmla="val 13636"/>
              </a:avLst>
            </a:prstGeom>
            <a:solidFill>
              <a:srgbClr val="FFF7ED"/>
            </a:solidFill>
            <a:ln w="9525">
              <a:solidFill>
                <a:srgbClr val="F79646"/>
              </a:solidFill>
            </a:ln>
          </p:spPr>
        </p:sp>
        <p:sp>
          <p:nvSpPr>
            <p:cNvPr id="20" name="TextBox 20"/>
            <p:cNvSpPr txBox="1"/>
            <p:nvPr/>
          </p:nvSpPr>
          <p:spPr>
            <a:xfrm>
              <a:off x="939165" y="4868228"/>
              <a:ext cx="4872609" cy="213360"/>
            </a:xfrm>
            <a:prstGeom prst="rect">
              <a:avLst/>
            </a:prstGeom>
            <a:noFill/>
            <a:ln>
              <a:noFill/>
            </a:ln>
          </p:spPr>
          <p:txBody>
            <a:bodyPr wrap="none" lIns="0" tIns="0" rIns="0" bIns="0" anchor="t" anchorCtr="0">
              <a:spAutoFit/>
            </a:bodyPr>
            <a:lstStyle/>
            <a:p>
              <a:pPr algn="l"/>
              <a:r>
                <a:rPr lang="zh-CN" sz="1050" dirty="0">
                  <a:solidFill>
                    <a:srgbClr val="92400E"/>
                  </a:solidFill>
                  <a:latin typeface="Arial"/>
                  <a:ea typeface="Microsoft YaHei"/>
                  <a:cs typeface="Arial"/>
                </a:rPr>
                <a:t>Software mitigations (CFI, RAP) impose measurable runtime cost</a:t>
              </a:r>
            </a:p>
          </p:txBody>
        </p:sp>
        <p:sp>
          <p:nvSpPr>
            <p:cNvPr id="21" name="TextBox 21"/>
            <p:cNvSpPr txBox="1"/>
            <p:nvPr/>
          </p:nvSpPr>
          <p:spPr>
            <a:xfrm>
              <a:off x="6456045" y="1393508"/>
              <a:ext cx="2799955" cy="335280"/>
            </a:xfrm>
            <a:prstGeom prst="rect">
              <a:avLst/>
            </a:prstGeom>
            <a:noFill/>
            <a:ln>
              <a:noFill/>
            </a:ln>
          </p:spPr>
          <p:txBody>
            <a:bodyPr wrap="none" lIns="0" tIns="0" rIns="0" bIns="0" anchor="t" anchorCtr="0">
              <a:spAutoFit/>
            </a:bodyPr>
            <a:lstStyle/>
            <a:p>
              <a:pPr algn="l"/>
              <a:r>
                <a:rPr lang="zh-CN" sz="1650" b="1" dirty="0">
                  <a:solidFill>
                    <a:srgbClr val="0AB36E"/>
                  </a:solidFill>
                  <a:latin typeface="Arial"/>
                  <a:ea typeface="Microsoft YaHei"/>
                  <a:cs typeface="Arial"/>
                </a:rPr>
                <a:t>The Solution: Intel CET</a:t>
              </a:r>
            </a:p>
          </p:txBody>
        </p:sp>
        <p:sp>
          <p:nvSpPr>
            <p:cNvPr id="22" name="Rectangle 22"/>
            <p:cNvSpPr/>
            <p:nvPr/>
          </p:nvSpPr>
          <p:spPr>
            <a:xfrm>
              <a:off x="6286500" y="1762125"/>
              <a:ext cx="4762500" cy="3429000"/>
            </a:xfrm>
            <a:prstGeom prst="roundRect">
              <a:avLst>
                <a:gd name="adj" fmla="val 2778"/>
              </a:avLst>
            </a:prstGeom>
            <a:solidFill>
              <a:srgbClr val="F0FDF9"/>
            </a:solidFill>
            <a:ln w="19050">
              <a:solidFill>
                <a:srgbClr val="0AB36E"/>
              </a:solidFill>
            </a:ln>
          </p:spPr>
        </p:sp>
        <p:grpSp>
          <p:nvGrpSpPr>
            <p:cNvPr id="25" name="Group 25"/>
            <p:cNvGrpSpPr/>
            <p:nvPr/>
          </p:nvGrpSpPr>
          <p:grpSpPr>
            <a:xfrm>
              <a:off x="6595831" y="2043112"/>
              <a:ext cx="279010" cy="257176"/>
              <a:chOff x="6595831" y="2043112"/>
              <a:chExt cx="279010" cy="257176"/>
            </a:xfrm>
          </p:grpSpPr>
          <p:sp>
            <p:nvSpPr>
              <p:cNvPr id="23" name="Freeform 23"/>
              <p:cNvSpPr/>
              <p:nvPr/>
            </p:nvSpPr>
            <p:spPr>
              <a:xfrm>
                <a:off x="6595831" y="204311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19050">
                <a:solidFill>
                  <a:srgbClr val="0AB36E"/>
                </a:solidFill>
              </a:ln>
            </p:spPr>
          </p:sp>
          <p:sp>
            <p:nvSpPr>
              <p:cNvPr id="24" name="Freeform 24"/>
              <p:cNvSpPr/>
              <p:nvPr/>
            </p:nvSpPr>
            <p:spPr>
              <a:xfrm>
                <a:off x="6786562" y="2243138"/>
                <a:ext cx="85725" cy="57150"/>
              </a:xfrm>
              <a:custGeom>
                <a:avLst/>
                <a:gdLst/>
                <a:ahLst/>
                <a:cxnLst/>
                <a:rect l="l" t="t" r="r" b="b"/>
                <a:pathLst>
                  <a:path w="85725" h="57150">
                    <a:moveTo>
                      <a:pt x="0" y="28575"/>
                    </a:moveTo>
                    <a:lnTo>
                      <a:pt x="28575" y="57150"/>
                    </a:lnTo>
                    <a:lnTo>
                      <a:pt x="85725" y="0"/>
                    </a:lnTo>
                  </a:path>
                </a:pathLst>
              </a:custGeom>
              <a:noFill/>
              <a:ln w="19050">
                <a:solidFill>
                  <a:srgbClr val="0AB36E"/>
                </a:solidFill>
              </a:ln>
            </p:spPr>
          </p:sp>
        </p:grpSp>
        <p:sp>
          <p:nvSpPr>
            <p:cNvPr id="26" name="TextBox 26"/>
            <p:cNvSpPr txBox="1"/>
            <p:nvPr/>
          </p:nvSpPr>
          <p:spPr>
            <a:xfrm>
              <a:off x="7031355" y="2092642"/>
              <a:ext cx="3843566" cy="274320"/>
            </a:xfrm>
            <a:prstGeom prst="rect">
              <a:avLst/>
            </a:prstGeom>
            <a:noFill/>
            <a:ln>
              <a:noFill/>
            </a:ln>
          </p:spPr>
          <p:txBody>
            <a:bodyPr wrap="none" lIns="0" tIns="0" rIns="0" bIns="0" anchor="t" anchorCtr="0">
              <a:spAutoFit/>
            </a:bodyPr>
            <a:lstStyle/>
            <a:p>
              <a:pPr algn="l"/>
              <a:r>
                <a:rPr lang="zh-CN" sz="1350" b="1" dirty="0">
                  <a:solidFill>
                    <a:srgbClr val="0AB36E"/>
                  </a:solidFill>
                  <a:latin typeface="Arial"/>
                  <a:ea typeface="Microsoft YaHei"/>
                  <a:cs typeface="Arial"/>
                </a:rPr>
                <a:t>Control-flow Enforcement Technology</a:t>
              </a:r>
            </a:p>
          </p:txBody>
        </p:sp>
        <p:sp>
          <p:nvSpPr>
            <p:cNvPr id="27" name="TextBox 27"/>
            <p:cNvSpPr txBox="1"/>
            <p:nvPr/>
          </p:nvSpPr>
          <p:spPr>
            <a:xfrm>
              <a:off x="6652260" y="2537460"/>
              <a:ext cx="2037207" cy="243840"/>
            </a:xfrm>
            <a:prstGeom prst="rect">
              <a:avLst/>
            </a:prstGeom>
            <a:noFill/>
            <a:ln>
              <a:noFill/>
            </a:ln>
          </p:spPr>
          <p:txBody>
            <a:bodyPr wrap="none" lIns="0" tIns="0" rIns="0" bIns="0" anchor="t" anchorCtr="0">
              <a:spAutoFit/>
            </a:bodyPr>
            <a:lstStyle/>
            <a:p>
              <a:pPr algn="l"/>
              <a:r>
                <a:rPr lang="zh-CN" sz="1200" dirty="0">
                  <a:solidFill>
                    <a:srgbClr val="333333"/>
                  </a:solidFill>
                  <a:latin typeface="Arial"/>
                  <a:ea typeface="Microsoft YaHei"/>
                  <a:cs typeface="Arial"/>
                </a:rPr>
                <a:t>Silicon-level protection</a:t>
              </a:r>
            </a:p>
          </p:txBody>
        </p:sp>
        <p:sp>
          <p:nvSpPr>
            <p:cNvPr id="28" name="TextBox 28"/>
            <p:cNvSpPr txBox="1"/>
            <p:nvPr/>
          </p:nvSpPr>
          <p:spPr>
            <a:xfrm>
              <a:off x="6654165" y="2839402"/>
              <a:ext cx="382981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Enforced by CPU microarchitecture — not software</a:t>
              </a:r>
            </a:p>
          </p:txBody>
        </p:sp>
        <p:sp>
          <p:nvSpPr>
            <p:cNvPr id="29" name="TextBox 29"/>
            <p:cNvSpPr txBox="1"/>
            <p:nvPr/>
          </p:nvSpPr>
          <p:spPr>
            <a:xfrm>
              <a:off x="6652260" y="3204210"/>
              <a:ext cx="1958340" cy="243840"/>
            </a:xfrm>
            <a:prstGeom prst="rect">
              <a:avLst/>
            </a:prstGeom>
            <a:noFill/>
            <a:ln>
              <a:noFill/>
            </a:ln>
          </p:spPr>
          <p:txBody>
            <a:bodyPr wrap="none" lIns="0" tIns="0" rIns="0" bIns="0" anchor="t" anchorCtr="0">
              <a:spAutoFit/>
            </a:bodyPr>
            <a:lstStyle/>
            <a:p>
              <a:pPr algn="l"/>
              <a:r>
                <a:rPr lang="zh-CN" sz="1200" dirty="0">
                  <a:solidFill>
                    <a:srgbClr val="333333"/>
                  </a:solidFill>
                  <a:latin typeface="Arial"/>
                  <a:ea typeface="Microsoft YaHei"/>
                  <a:cs typeface="Arial"/>
                </a:rPr>
                <a:t>Zero runtime overhead</a:t>
              </a:r>
            </a:p>
          </p:txBody>
        </p:sp>
        <p:sp>
          <p:nvSpPr>
            <p:cNvPr id="30" name="TextBox 30"/>
            <p:cNvSpPr txBox="1"/>
            <p:nvPr/>
          </p:nvSpPr>
          <p:spPr>
            <a:xfrm>
              <a:off x="6654165" y="3506152"/>
              <a:ext cx="376080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Hardware checks happen in parallel with execution</a:t>
              </a:r>
            </a:p>
          </p:txBody>
        </p:sp>
        <p:sp>
          <p:nvSpPr>
            <p:cNvPr id="31" name="TextBox 31"/>
            <p:cNvSpPr txBox="1"/>
            <p:nvPr/>
          </p:nvSpPr>
          <p:spPr>
            <a:xfrm>
              <a:off x="6652260" y="3870960"/>
              <a:ext cx="1616583" cy="243840"/>
            </a:xfrm>
            <a:prstGeom prst="rect">
              <a:avLst/>
            </a:prstGeom>
            <a:noFill/>
            <a:ln>
              <a:noFill/>
            </a:ln>
          </p:spPr>
          <p:txBody>
            <a:bodyPr wrap="none" lIns="0" tIns="0" rIns="0" bIns="0" anchor="t" anchorCtr="0">
              <a:spAutoFit/>
            </a:bodyPr>
            <a:lstStyle/>
            <a:p>
              <a:pPr algn="l"/>
              <a:r>
                <a:rPr lang="zh-CN" sz="1200" dirty="0">
                  <a:solidFill>
                    <a:srgbClr val="333333"/>
                  </a:solidFill>
                  <a:latin typeface="Arial"/>
                  <a:ea typeface="Microsoft YaHei"/>
                  <a:cs typeface="Arial"/>
                </a:rPr>
                <a:t>Complete coverage</a:t>
              </a:r>
            </a:p>
          </p:txBody>
        </p:sp>
        <p:sp>
          <p:nvSpPr>
            <p:cNvPr id="32" name="TextBox 32"/>
            <p:cNvSpPr txBox="1"/>
            <p:nvPr/>
          </p:nvSpPr>
          <p:spPr>
            <a:xfrm>
              <a:off x="6654165" y="4172902"/>
              <a:ext cx="3607451"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IBT protects forward-edge (JMP/CALL targets)</a:t>
              </a:r>
            </a:p>
          </p:txBody>
        </p:sp>
        <p:sp>
          <p:nvSpPr>
            <p:cNvPr id="33" name="TextBox 33"/>
            <p:cNvSpPr txBox="1"/>
            <p:nvPr/>
          </p:nvSpPr>
          <p:spPr>
            <a:xfrm>
              <a:off x="6654165" y="4411028"/>
              <a:ext cx="339275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Shadow Stacks protect backward-edge (RET)</a:t>
              </a:r>
            </a:p>
          </p:txBody>
        </p:sp>
        <p:sp>
          <p:nvSpPr>
            <p:cNvPr id="34" name="TextBox 34"/>
            <p:cNvSpPr txBox="1"/>
            <p:nvPr/>
          </p:nvSpPr>
          <p:spPr>
            <a:xfrm>
              <a:off x="6652260" y="4823460"/>
              <a:ext cx="2931033" cy="243840"/>
            </a:xfrm>
            <a:prstGeom prst="rect">
              <a:avLst/>
            </a:prstGeom>
            <a:noFill/>
            <a:ln>
              <a:noFill/>
            </a:ln>
          </p:spPr>
          <p:txBody>
            <a:bodyPr wrap="none" lIns="0" tIns="0" rIns="0" bIns="0" anchor="t" anchorCtr="0">
              <a:spAutoFit/>
            </a:bodyPr>
            <a:lstStyle/>
            <a:p>
              <a:pPr algn="l"/>
              <a:r>
                <a:rPr lang="zh-CN" sz="1200" dirty="0">
                  <a:solidFill>
                    <a:srgbClr val="333333"/>
                  </a:solidFill>
                  <a:latin typeface="Arial"/>
                  <a:ea typeface="Microsoft YaHei"/>
                  <a:cs typeface="Arial"/>
                </a:rPr>
                <a:t>Transparent to well-behaved code</a:t>
              </a:r>
            </a:p>
          </p:txBody>
        </p:sp>
        <p:sp>
          <p:nvSpPr>
            <p:cNvPr id="35" name="Line 35"/>
            <p:cNvSpPr/>
            <p:nvPr/>
          </p:nvSpPr>
          <p:spPr>
            <a:xfrm>
              <a:off x="5476875" y="3524250"/>
              <a:ext cx="666750" cy="9525"/>
            </a:xfrm>
            <a:custGeom>
              <a:avLst/>
              <a:gdLst/>
              <a:ahLst/>
              <a:cxnLst/>
              <a:rect l="l" t="t" r="r" b="b"/>
              <a:pathLst>
                <a:path w="666750" h="9525">
                  <a:moveTo>
                    <a:pt x="0" y="0"/>
                  </a:moveTo>
                  <a:lnTo>
                    <a:pt x="666750" y="0"/>
                  </a:lnTo>
                </a:path>
              </a:pathLst>
            </a:custGeom>
            <a:noFill/>
            <a:ln w="19050">
              <a:solidFill>
                <a:srgbClr val="333333"/>
              </a:solidFill>
              <a:prstDash val="dash"/>
            </a:ln>
          </p:spPr>
        </p:sp>
        <p:sp>
          <p:nvSpPr>
            <p:cNvPr id="36" name="Polygon 36"/>
            <p:cNvSpPr/>
            <p:nvPr/>
          </p:nvSpPr>
          <p:spPr>
            <a:xfrm>
              <a:off x="6143625" y="3476625"/>
              <a:ext cx="95250" cy="95250"/>
            </a:xfrm>
            <a:custGeom>
              <a:avLst/>
              <a:gdLst/>
              <a:ahLst/>
              <a:cxnLst/>
              <a:rect l="l" t="t" r="r" b="b"/>
              <a:pathLst>
                <a:path w="95250" h="95250">
                  <a:moveTo>
                    <a:pt x="0" y="0"/>
                  </a:moveTo>
                  <a:lnTo>
                    <a:pt x="95250" y="47625"/>
                  </a:lnTo>
                  <a:lnTo>
                    <a:pt x="0" y="95250"/>
                  </a:lnTo>
                  <a:close/>
                </a:path>
              </a:pathLst>
            </a:custGeom>
            <a:solidFill>
              <a:srgbClr val="333333"/>
            </a:solidFill>
            <a:ln>
              <a:noFill/>
            </a:ln>
          </p:spPr>
        </p:sp>
      </p:grpSp>
      <p:grpSp>
        <p:nvGrpSpPr>
          <p:cNvPr id="40" name="Group 40"/>
          <p:cNvGrpSpPr/>
          <p:nvPr/>
        </p:nvGrpSpPr>
        <p:grpSpPr>
          <a:xfrm>
            <a:off x="10283883" y="5886450"/>
            <a:ext cx="1441392" cy="947738"/>
            <a:chOff x="10283883" y="5886450"/>
            <a:chExt cx="1441392" cy="947738"/>
          </a:xfrm>
        </p:grpSpPr>
        <p:pic>
          <p:nvPicPr>
            <p:cNvPr id="38" name="Image 38"/>
            <p:cNvPicPr>
              <a:picLocks noChangeAspect="1"/>
            </p:cNvPicPr>
            <p:nvPr/>
          </p:nvPicPr>
          <p:blipFill>
            <a:blip r:embed="rId4"/>
            <a:stretch>
              <a:fillRect/>
            </a:stretch>
          </p:blipFill>
          <p:spPr>
            <a:xfrm>
              <a:off x="10283883" y="5886450"/>
              <a:ext cx="1158759" cy="381000"/>
            </a:xfrm>
            <a:prstGeom prst="rect">
              <a:avLst/>
            </a:prstGeom>
          </p:spPr>
        </p:pic>
        <p:sp>
          <p:nvSpPr>
            <p:cNvPr id="39" name="TextBox 39"/>
            <p:cNvSpPr txBox="1"/>
            <p:nvPr/>
          </p:nvSpPr>
          <p:spPr>
            <a:xfrm>
              <a:off x="11585734" y="6681788"/>
              <a:ext cx="139541"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03</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3962248"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Intel CET — Two Pillars</a:t>
            </a:r>
          </a:p>
        </p:txBody>
      </p:sp>
      <p:grpSp>
        <p:nvGrpSpPr>
          <p:cNvPr id="62" name="Group 62"/>
          <p:cNvGrpSpPr/>
          <p:nvPr/>
        </p:nvGrpSpPr>
        <p:grpSpPr>
          <a:xfrm>
            <a:off x="666750" y="1381125"/>
            <a:ext cx="10858500" cy="4381500"/>
            <a:chOff x="666750" y="1381125"/>
            <a:chExt cx="10858500" cy="4381500"/>
          </a:xfrm>
        </p:grpSpPr>
        <p:sp>
          <p:nvSpPr>
            <p:cNvPr id="6" name="Rectangle 6"/>
            <p:cNvSpPr/>
            <p:nvPr/>
          </p:nvSpPr>
          <p:spPr>
            <a:xfrm>
              <a:off x="666750" y="1381125"/>
              <a:ext cx="5191125" cy="3714750"/>
            </a:xfrm>
            <a:prstGeom prst="roundRect">
              <a:avLst>
                <a:gd name="adj" fmla="val 2564"/>
              </a:avLst>
            </a:prstGeom>
            <a:solidFill>
              <a:srgbClr val="F0FDF9"/>
            </a:solidFill>
            <a:ln w="19050">
              <a:solidFill>
                <a:srgbClr val="0AB36E"/>
              </a:solidFill>
            </a:ln>
          </p:spPr>
        </p:sp>
        <p:sp>
          <p:nvSpPr>
            <p:cNvPr id="7" name="Rectangle 7"/>
            <p:cNvSpPr/>
            <p:nvPr/>
          </p:nvSpPr>
          <p:spPr>
            <a:xfrm>
              <a:off x="666750" y="1381125"/>
              <a:ext cx="5191125" cy="476250"/>
            </a:xfrm>
            <a:prstGeom prst="roundRect">
              <a:avLst>
                <a:gd name="adj" fmla="val 20000"/>
              </a:avLst>
            </a:prstGeom>
            <a:solidFill>
              <a:srgbClr val="0AB36E"/>
            </a:solidFill>
            <a:ln>
              <a:noFill/>
            </a:ln>
          </p:spPr>
        </p:sp>
        <p:sp>
          <p:nvSpPr>
            <p:cNvPr id="8" name="Rectangle 8"/>
            <p:cNvSpPr/>
            <p:nvPr/>
          </p:nvSpPr>
          <p:spPr>
            <a:xfrm>
              <a:off x="666750" y="1666875"/>
              <a:ext cx="5191125" cy="190500"/>
            </a:xfrm>
            <a:prstGeom prst="rect">
              <a:avLst/>
            </a:prstGeom>
            <a:solidFill>
              <a:srgbClr val="0AB36E"/>
            </a:solidFill>
            <a:ln>
              <a:noFill/>
            </a:ln>
          </p:spPr>
        </p:sp>
        <p:sp>
          <p:nvSpPr>
            <p:cNvPr id="9" name="TextBox 9"/>
            <p:cNvSpPr txBox="1"/>
            <p:nvPr/>
          </p:nvSpPr>
          <p:spPr>
            <a:xfrm>
              <a:off x="2191869" y="1533525"/>
              <a:ext cx="213136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IBT — Forward Edge</a:t>
              </a:r>
            </a:p>
          </p:txBody>
        </p:sp>
        <p:grpSp>
          <p:nvGrpSpPr>
            <p:cNvPr id="13" name="Group 13"/>
            <p:cNvGrpSpPr/>
            <p:nvPr/>
          </p:nvGrpSpPr>
          <p:grpSpPr>
            <a:xfrm>
              <a:off x="1016000" y="2124075"/>
              <a:ext cx="177800" cy="152400"/>
              <a:chOff x="1016000" y="2124075"/>
              <a:chExt cx="177800" cy="152400"/>
            </a:xfrm>
          </p:grpSpPr>
          <p:sp>
            <p:nvSpPr>
              <p:cNvPr id="10" name="Freeform 10"/>
              <p:cNvSpPr/>
              <p:nvPr/>
            </p:nvSpPr>
            <p:spPr>
              <a:xfrm>
                <a:off x="1016000" y="2200275"/>
                <a:ext cx="177800" cy="9525"/>
              </a:xfrm>
              <a:custGeom>
                <a:avLst/>
                <a:gdLst/>
                <a:ahLst/>
                <a:cxnLst/>
                <a:rect l="l" t="t" r="r" b="b"/>
                <a:pathLst>
                  <a:path w="177800" h="9525">
                    <a:moveTo>
                      <a:pt x="0" y="0"/>
                    </a:moveTo>
                    <a:lnTo>
                      <a:pt x="177800" y="0"/>
                    </a:lnTo>
                  </a:path>
                </a:pathLst>
              </a:custGeom>
              <a:noFill/>
              <a:ln w="19050">
                <a:solidFill>
                  <a:srgbClr val="0AB36E"/>
                </a:solidFill>
              </a:ln>
            </p:spPr>
          </p:sp>
          <p:sp>
            <p:nvSpPr>
              <p:cNvPr id="11" name="Freeform 11"/>
              <p:cNvSpPr/>
              <p:nvPr/>
            </p:nvSpPr>
            <p:spPr>
              <a:xfrm>
                <a:off x="1117600" y="2200275"/>
                <a:ext cx="76200" cy="76200"/>
              </a:xfrm>
              <a:custGeom>
                <a:avLst/>
                <a:gdLst/>
                <a:ahLst/>
                <a:cxnLst/>
                <a:rect l="l" t="t" r="r" b="b"/>
                <a:pathLst>
                  <a:path w="76200" h="76200">
                    <a:moveTo>
                      <a:pt x="0" y="76200"/>
                    </a:moveTo>
                    <a:lnTo>
                      <a:pt x="76200" y="0"/>
                    </a:lnTo>
                  </a:path>
                </a:pathLst>
              </a:custGeom>
              <a:noFill/>
              <a:ln w="19050">
                <a:solidFill>
                  <a:srgbClr val="0AB36E"/>
                </a:solidFill>
              </a:ln>
            </p:spPr>
          </p:sp>
          <p:sp>
            <p:nvSpPr>
              <p:cNvPr id="12" name="Freeform 12"/>
              <p:cNvSpPr/>
              <p:nvPr/>
            </p:nvSpPr>
            <p:spPr>
              <a:xfrm>
                <a:off x="1117600" y="2124075"/>
                <a:ext cx="76200" cy="76200"/>
              </a:xfrm>
              <a:custGeom>
                <a:avLst/>
                <a:gdLst/>
                <a:ahLst/>
                <a:cxnLst/>
                <a:rect l="l" t="t" r="r" b="b"/>
                <a:pathLst>
                  <a:path w="76200" h="76200">
                    <a:moveTo>
                      <a:pt x="0" y="0"/>
                    </a:moveTo>
                    <a:lnTo>
                      <a:pt x="76200" y="76200"/>
                    </a:lnTo>
                  </a:path>
                </a:pathLst>
              </a:custGeom>
              <a:noFill/>
              <a:ln w="19050">
                <a:solidFill>
                  <a:srgbClr val="0AB36E"/>
                </a:solidFill>
              </a:ln>
            </p:spPr>
          </p:sp>
        </p:grpSp>
        <p:sp>
          <p:nvSpPr>
            <p:cNvPr id="14" name="TextBox 14"/>
            <p:cNvSpPr txBox="1"/>
            <p:nvPr/>
          </p:nvSpPr>
          <p:spPr>
            <a:xfrm>
              <a:off x="1364932" y="2129314"/>
              <a:ext cx="2368902" cy="259080"/>
            </a:xfrm>
            <a:prstGeom prst="rect">
              <a:avLst/>
            </a:prstGeom>
            <a:noFill/>
            <a:ln>
              <a:noFill/>
            </a:ln>
          </p:spPr>
          <p:txBody>
            <a:bodyPr wrap="none" lIns="0" tIns="0" rIns="0" bIns="0" anchor="t" anchorCtr="0">
              <a:spAutoFit/>
            </a:bodyPr>
            <a:lstStyle/>
            <a:p>
              <a:pPr algn="l"/>
              <a:r>
                <a:rPr lang="zh-CN" sz="1275" b="1" dirty="0">
                  <a:solidFill>
                    <a:srgbClr val="0AB36E"/>
                  </a:solidFill>
                  <a:latin typeface="Arial"/>
                  <a:ea typeface="Microsoft YaHei"/>
                  <a:cs typeface="Arial"/>
                </a:rPr>
                <a:t>Indirect Branch Tracking</a:t>
              </a:r>
            </a:p>
          </p:txBody>
        </p:sp>
        <p:sp>
          <p:nvSpPr>
            <p:cNvPr id="15" name="Ellipse 15"/>
            <p:cNvSpPr/>
            <p:nvPr/>
          </p:nvSpPr>
          <p:spPr>
            <a:xfrm>
              <a:off x="1000125" y="2619375"/>
              <a:ext cx="95250" cy="95250"/>
            </a:xfrm>
            <a:prstGeom prst="ellipse">
              <a:avLst/>
            </a:prstGeom>
            <a:solidFill>
              <a:srgbClr val="09995E"/>
            </a:solidFill>
            <a:ln>
              <a:noFill/>
            </a:ln>
          </p:spPr>
        </p:sp>
        <p:sp>
          <p:nvSpPr>
            <p:cNvPr id="16" name="TextBox 16"/>
            <p:cNvSpPr txBox="1"/>
            <p:nvPr/>
          </p:nvSpPr>
          <p:spPr>
            <a:xfrm>
              <a:off x="1176338" y="2593181"/>
              <a:ext cx="3183255"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Restricts valid indirect branch targets</a:t>
              </a:r>
            </a:p>
          </p:txBody>
        </p:sp>
        <p:sp>
          <p:nvSpPr>
            <p:cNvPr id="17" name="Ellipse 17"/>
            <p:cNvSpPr/>
            <p:nvPr/>
          </p:nvSpPr>
          <p:spPr>
            <a:xfrm>
              <a:off x="1000125" y="2952750"/>
              <a:ext cx="95250" cy="95250"/>
            </a:xfrm>
            <a:prstGeom prst="ellipse">
              <a:avLst/>
            </a:prstGeom>
            <a:solidFill>
              <a:srgbClr val="09995E"/>
            </a:solidFill>
            <a:ln>
              <a:noFill/>
            </a:ln>
          </p:spPr>
        </p:sp>
        <p:sp>
          <p:nvSpPr>
            <p:cNvPr id="18" name="TextBox 18"/>
            <p:cNvSpPr txBox="1"/>
            <p:nvPr/>
          </p:nvSpPr>
          <p:spPr>
            <a:xfrm>
              <a:off x="1176338" y="2926556"/>
              <a:ext cx="3988356"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Only ENDBR64 instructions allowed as landing pads</a:t>
              </a:r>
            </a:p>
          </p:txBody>
        </p:sp>
        <p:sp>
          <p:nvSpPr>
            <p:cNvPr id="19" name="Ellipse 19"/>
            <p:cNvSpPr/>
            <p:nvPr/>
          </p:nvSpPr>
          <p:spPr>
            <a:xfrm>
              <a:off x="1000125" y="3286125"/>
              <a:ext cx="95250" cy="95250"/>
            </a:xfrm>
            <a:prstGeom prst="ellipse">
              <a:avLst/>
            </a:prstGeom>
            <a:solidFill>
              <a:srgbClr val="09995E"/>
            </a:solidFill>
            <a:ln>
              <a:noFill/>
            </a:ln>
          </p:spPr>
        </p:sp>
        <p:sp>
          <p:nvSpPr>
            <p:cNvPr id="20" name="TextBox 20"/>
            <p:cNvSpPr txBox="1"/>
            <p:nvPr/>
          </p:nvSpPr>
          <p:spPr>
            <a:xfrm>
              <a:off x="1176338" y="3259931"/>
              <a:ext cx="2427446"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Protects against JOP attacks</a:t>
              </a:r>
            </a:p>
          </p:txBody>
        </p:sp>
        <p:sp>
          <p:nvSpPr>
            <p:cNvPr id="21" name="Ellipse 21"/>
            <p:cNvSpPr/>
            <p:nvPr/>
          </p:nvSpPr>
          <p:spPr>
            <a:xfrm>
              <a:off x="1000125" y="3619500"/>
              <a:ext cx="95250" cy="95250"/>
            </a:xfrm>
            <a:prstGeom prst="ellipse">
              <a:avLst/>
            </a:prstGeom>
            <a:solidFill>
              <a:srgbClr val="09995E"/>
            </a:solidFill>
            <a:ln>
              <a:noFill/>
            </a:ln>
          </p:spPr>
        </p:sp>
        <p:sp>
          <p:nvSpPr>
            <p:cNvPr id="22" name="TextBox 22"/>
            <p:cNvSpPr txBox="1"/>
            <p:nvPr/>
          </p:nvSpPr>
          <p:spPr>
            <a:xfrm>
              <a:off x="1176338" y="3593306"/>
              <a:ext cx="3257193"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Fault: #CP with CP_ENDBR (error code 3)</a:t>
              </a:r>
            </a:p>
          </p:txBody>
        </p:sp>
        <p:sp>
          <p:nvSpPr>
            <p:cNvPr id="23" name="Rectangle 23"/>
            <p:cNvSpPr/>
            <p:nvPr/>
          </p:nvSpPr>
          <p:spPr>
            <a:xfrm>
              <a:off x="952500" y="4000500"/>
              <a:ext cx="4572000" cy="419100"/>
            </a:xfrm>
            <a:prstGeom prst="roundRect">
              <a:avLst>
                <a:gd name="adj" fmla="val 13636"/>
              </a:avLst>
            </a:prstGeom>
            <a:solidFill>
              <a:srgbClr val="ECFDF5"/>
            </a:solidFill>
            <a:ln w="9525">
              <a:solidFill>
                <a:srgbClr val="09995E"/>
              </a:solidFill>
            </a:ln>
          </p:spPr>
        </p:sp>
        <p:grpSp>
          <p:nvGrpSpPr>
            <p:cNvPr id="29" name="Group 29"/>
            <p:cNvGrpSpPr/>
            <p:nvPr/>
          </p:nvGrpSpPr>
          <p:grpSpPr>
            <a:xfrm>
              <a:off x="1114425" y="4114800"/>
              <a:ext cx="133350" cy="152400"/>
              <a:chOff x="1114425" y="4114800"/>
              <a:chExt cx="133350" cy="152400"/>
            </a:xfrm>
          </p:grpSpPr>
          <p:sp>
            <p:nvSpPr>
              <p:cNvPr id="24" name="Freeform 24"/>
              <p:cNvSpPr/>
              <p:nvPr/>
            </p:nvSpPr>
            <p:spPr>
              <a:xfrm>
                <a:off x="1114425" y="422910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09995E"/>
                </a:solidFill>
              </a:ln>
            </p:spPr>
          </p:sp>
          <p:sp>
            <p:nvSpPr>
              <p:cNvPr id="25" name="Freeform 25"/>
              <p:cNvSpPr/>
              <p:nvPr/>
            </p:nvSpPr>
            <p:spPr>
              <a:xfrm>
                <a:off x="1114425" y="411480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09995E"/>
                </a:solidFill>
              </a:ln>
            </p:spPr>
          </p:sp>
          <p:sp>
            <p:nvSpPr>
              <p:cNvPr id="26" name="Freeform 26"/>
              <p:cNvSpPr/>
              <p:nvPr/>
            </p:nvSpPr>
            <p:spPr>
              <a:xfrm>
                <a:off x="1209675" y="417195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09995E"/>
                </a:solidFill>
              </a:ln>
            </p:spPr>
          </p:sp>
          <p:sp>
            <p:nvSpPr>
              <p:cNvPr id="27" name="Freeform 27"/>
              <p:cNvSpPr/>
              <p:nvPr/>
            </p:nvSpPr>
            <p:spPr>
              <a:xfrm>
                <a:off x="1133475" y="4152900"/>
                <a:ext cx="9525" cy="76200"/>
              </a:xfrm>
              <a:custGeom>
                <a:avLst/>
                <a:gdLst/>
                <a:ahLst/>
                <a:cxnLst/>
                <a:rect l="l" t="t" r="r" b="b"/>
                <a:pathLst>
                  <a:path w="9525" h="76200">
                    <a:moveTo>
                      <a:pt x="0" y="0"/>
                    </a:moveTo>
                    <a:lnTo>
                      <a:pt x="0" y="76200"/>
                    </a:lnTo>
                  </a:path>
                </a:pathLst>
              </a:custGeom>
              <a:noFill/>
              <a:ln w="19050">
                <a:solidFill>
                  <a:srgbClr val="09995E"/>
                </a:solidFill>
              </a:ln>
            </p:spPr>
          </p:sp>
          <p:sp>
            <p:nvSpPr>
              <p:cNvPr id="28" name="Freeform 28"/>
              <p:cNvSpPr/>
              <p:nvPr/>
            </p:nvSpPr>
            <p:spPr>
              <a:xfrm>
                <a:off x="1133475" y="4152900"/>
                <a:ext cx="76200" cy="38100"/>
              </a:xfrm>
              <a:custGeom>
                <a:avLst/>
                <a:gdLst/>
                <a:ahLst/>
                <a:cxnLst/>
                <a:rect l="l" t="t" r="r" b="b"/>
                <a:pathLst>
                  <a:path w="76200" h="38100">
                    <a:moveTo>
                      <a:pt x="0" y="0"/>
                    </a:moveTo>
                    <a:cubicBezTo>
                      <a:pt x="0" y="21042"/>
                      <a:pt x="17058" y="38100"/>
                      <a:pt x="38100" y="38100"/>
                    </a:cubicBezTo>
                    <a:lnTo>
                      <a:pt x="76200" y="38100"/>
                    </a:lnTo>
                  </a:path>
                </a:pathLst>
              </a:custGeom>
              <a:noFill/>
              <a:ln w="19050">
                <a:solidFill>
                  <a:srgbClr val="09995E"/>
                </a:solidFill>
              </a:ln>
            </p:spPr>
          </p:sp>
        </p:grpSp>
        <p:sp>
          <p:nvSpPr>
            <p:cNvPr id="30" name="TextBox 30"/>
            <p:cNvSpPr txBox="1"/>
            <p:nvPr/>
          </p:nvSpPr>
          <p:spPr>
            <a:xfrm>
              <a:off x="1367790" y="4153852"/>
              <a:ext cx="2450023" cy="213360"/>
            </a:xfrm>
            <a:prstGeom prst="rect">
              <a:avLst/>
            </a:prstGeom>
            <a:noFill/>
            <a:ln>
              <a:noFill/>
            </a:ln>
          </p:spPr>
          <p:txBody>
            <a:bodyPr wrap="none" lIns="0" tIns="0" rIns="0" bIns="0" anchor="t" anchorCtr="0">
              <a:spAutoFit/>
            </a:bodyPr>
            <a:lstStyle/>
            <a:p>
              <a:pPr algn="l"/>
              <a:r>
                <a:rPr lang="zh-CN" sz="1050" b="1" dirty="0">
                  <a:solidFill>
                    <a:srgbClr val="09995E"/>
                  </a:solidFill>
                  <a:latin typeface="Arial"/>
                  <a:ea typeface="Microsoft YaHei"/>
                  <a:cs typeface="Arial"/>
                </a:rPr>
                <a:t>Kernel support since Linux 5.18</a:t>
              </a:r>
            </a:p>
          </p:txBody>
        </p:sp>
        <p:sp>
          <p:nvSpPr>
            <p:cNvPr id="31" name="Rectangle 31"/>
            <p:cNvSpPr/>
            <p:nvPr/>
          </p:nvSpPr>
          <p:spPr>
            <a:xfrm>
              <a:off x="952500" y="4572000"/>
              <a:ext cx="4572000" cy="419100"/>
            </a:xfrm>
            <a:prstGeom prst="roundRect">
              <a:avLst>
                <a:gd name="adj" fmla="val 13636"/>
              </a:avLst>
            </a:prstGeom>
            <a:solidFill>
              <a:srgbClr val="ECFDF5"/>
            </a:solidFill>
            <a:ln w="9525">
              <a:solidFill>
                <a:srgbClr val="09995E"/>
              </a:solidFill>
            </a:ln>
          </p:spPr>
        </p:sp>
        <p:sp>
          <p:nvSpPr>
            <p:cNvPr id="32" name="TextBox 32"/>
            <p:cNvSpPr txBox="1"/>
            <p:nvPr/>
          </p:nvSpPr>
          <p:spPr>
            <a:xfrm>
              <a:off x="1129665" y="4725352"/>
              <a:ext cx="269500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GCC/Clang: -fcf-protection=branch</a:t>
              </a:r>
            </a:p>
          </p:txBody>
        </p:sp>
        <p:sp>
          <p:nvSpPr>
            <p:cNvPr id="33" name="Rectangle 33"/>
            <p:cNvSpPr/>
            <p:nvPr/>
          </p:nvSpPr>
          <p:spPr>
            <a:xfrm>
              <a:off x="6334125" y="1381125"/>
              <a:ext cx="5191125" cy="3714750"/>
            </a:xfrm>
            <a:prstGeom prst="roundRect">
              <a:avLst>
                <a:gd name="adj" fmla="val 2564"/>
              </a:avLst>
            </a:prstGeom>
            <a:solidFill>
              <a:srgbClr val="FAF5FF"/>
            </a:solidFill>
            <a:ln w="19050">
              <a:solidFill>
                <a:srgbClr val="AF00C0"/>
              </a:solidFill>
            </a:ln>
          </p:spPr>
        </p:sp>
        <p:sp>
          <p:nvSpPr>
            <p:cNvPr id="34" name="Rectangle 34"/>
            <p:cNvSpPr/>
            <p:nvPr/>
          </p:nvSpPr>
          <p:spPr>
            <a:xfrm>
              <a:off x="6334125" y="1381125"/>
              <a:ext cx="5191125" cy="476250"/>
            </a:xfrm>
            <a:prstGeom prst="roundRect">
              <a:avLst>
                <a:gd name="adj" fmla="val 20000"/>
              </a:avLst>
            </a:prstGeom>
            <a:solidFill>
              <a:srgbClr val="AF00C0"/>
            </a:solidFill>
            <a:ln>
              <a:noFill/>
            </a:ln>
          </p:spPr>
        </p:sp>
        <p:sp>
          <p:nvSpPr>
            <p:cNvPr id="35" name="Rectangle 35"/>
            <p:cNvSpPr/>
            <p:nvPr/>
          </p:nvSpPr>
          <p:spPr>
            <a:xfrm>
              <a:off x="6334125" y="1666875"/>
              <a:ext cx="5191125" cy="190500"/>
            </a:xfrm>
            <a:prstGeom prst="rect">
              <a:avLst/>
            </a:prstGeom>
            <a:solidFill>
              <a:srgbClr val="AF00C0"/>
            </a:solidFill>
            <a:ln>
              <a:noFill/>
            </a:ln>
          </p:spPr>
        </p:sp>
        <p:sp>
          <p:nvSpPr>
            <p:cNvPr id="36" name="TextBox 36"/>
            <p:cNvSpPr txBox="1"/>
            <p:nvPr/>
          </p:nvSpPr>
          <p:spPr>
            <a:xfrm>
              <a:off x="7140404" y="1533525"/>
              <a:ext cx="356904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Shadow Stacks — Backward Edge</a:t>
              </a:r>
            </a:p>
          </p:txBody>
        </p:sp>
        <p:grpSp>
          <p:nvGrpSpPr>
            <p:cNvPr id="40" name="Group 40"/>
            <p:cNvGrpSpPr/>
            <p:nvPr/>
          </p:nvGrpSpPr>
          <p:grpSpPr>
            <a:xfrm>
              <a:off x="6683375" y="2124075"/>
              <a:ext cx="177800" cy="152400"/>
              <a:chOff x="6683375" y="2124075"/>
              <a:chExt cx="177800" cy="152400"/>
            </a:xfrm>
          </p:grpSpPr>
          <p:sp>
            <p:nvSpPr>
              <p:cNvPr id="37" name="Freeform 37"/>
              <p:cNvSpPr/>
              <p:nvPr/>
            </p:nvSpPr>
            <p:spPr>
              <a:xfrm>
                <a:off x="6683375" y="2200275"/>
                <a:ext cx="177800" cy="9525"/>
              </a:xfrm>
              <a:custGeom>
                <a:avLst/>
                <a:gdLst/>
                <a:ahLst/>
                <a:cxnLst/>
                <a:rect l="l" t="t" r="r" b="b"/>
                <a:pathLst>
                  <a:path w="177800" h="9525">
                    <a:moveTo>
                      <a:pt x="0" y="0"/>
                    </a:moveTo>
                    <a:lnTo>
                      <a:pt x="177800" y="0"/>
                    </a:lnTo>
                  </a:path>
                </a:pathLst>
              </a:custGeom>
              <a:noFill/>
              <a:ln w="19050">
                <a:solidFill>
                  <a:srgbClr val="AF00C0"/>
                </a:solidFill>
              </a:ln>
            </p:spPr>
          </p:sp>
          <p:sp>
            <p:nvSpPr>
              <p:cNvPr id="38" name="Freeform 38"/>
              <p:cNvSpPr/>
              <p:nvPr/>
            </p:nvSpPr>
            <p:spPr>
              <a:xfrm>
                <a:off x="6683375" y="2200275"/>
                <a:ext cx="76200" cy="76200"/>
              </a:xfrm>
              <a:custGeom>
                <a:avLst/>
                <a:gdLst/>
                <a:ahLst/>
                <a:cxnLst/>
                <a:rect l="l" t="t" r="r" b="b"/>
                <a:pathLst>
                  <a:path w="76200" h="76200">
                    <a:moveTo>
                      <a:pt x="0" y="0"/>
                    </a:moveTo>
                    <a:lnTo>
                      <a:pt x="76200" y="76200"/>
                    </a:lnTo>
                  </a:path>
                </a:pathLst>
              </a:custGeom>
              <a:noFill/>
              <a:ln w="19050">
                <a:solidFill>
                  <a:srgbClr val="AF00C0"/>
                </a:solidFill>
              </a:ln>
            </p:spPr>
          </p:sp>
          <p:sp>
            <p:nvSpPr>
              <p:cNvPr id="39" name="Freeform 39"/>
              <p:cNvSpPr/>
              <p:nvPr/>
            </p:nvSpPr>
            <p:spPr>
              <a:xfrm>
                <a:off x="6683375" y="2124075"/>
                <a:ext cx="76200" cy="76200"/>
              </a:xfrm>
              <a:custGeom>
                <a:avLst/>
                <a:gdLst/>
                <a:ahLst/>
                <a:cxnLst/>
                <a:rect l="l" t="t" r="r" b="b"/>
                <a:pathLst>
                  <a:path w="76200" h="76200">
                    <a:moveTo>
                      <a:pt x="0" y="76200"/>
                    </a:moveTo>
                    <a:lnTo>
                      <a:pt x="76200" y="0"/>
                    </a:lnTo>
                  </a:path>
                </a:pathLst>
              </a:custGeom>
              <a:noFill/>
              <a:ln w="19050">
                <a:solidFill>
                  <a:srgbClr val="AF00C0"/>
                </a:solidFill>
              </a:ln>
            </p:spPr>
          </p:sp>
        </p:grpSp>
        <p:sp>
          <p:nvSpPr>
            <p:cNvPr id="41" name="TextBox 41"/>
            <p:cNvSpPr txBox="1"/>
            <p:nvPr/>
          </p:nvSpPr>
          <p:spPr>
            <a:xfrm>
              <a:off x="7032308" y="2129314"/>
              <a:ext cx="3043461" cy="259080"/>
            </a:xfrm>
            <a:prstGeom prst="rect">
              <a:avLst/>
            </a:prstGeom>
            <a:noFill/>
            <a:ln>
              <a:noFill/>
            </a:ln>
          </p:spPr>
          <p:txBody>
            <a:bodyPr wrap="none" lIns="0" tIns="0" rIns="0" bIns="0" anchor="t" anchorCtr="0">
              <a:spAutoFit/>
            </a:bodyPr>
            <a:lstStyle/>
            <a:p>
              <a:pPr algn="l"/>
              <a:r>
                <a:rPr lang="zh-CN" sz="1275" b="1" dirty="0">
                  <a:solidFill>
                    <a:srgbClr val="AF00C0"/>
                  </a:solidFill>
                  <a:latin typeface="Arial"/>
                  <a:ea typeface="Microsoft YaHei"/>
                  <a:cs typeface="Arial"/>
                </a:rPr>
                <a:t>Hardware Return Address Stack</a:t>
              </a:r>
            </a:p>
          </p:txBody>
        </p:sp>
        <p:sp>
          <p:nvSpPr>
            <p:cNvPr id="42" name="Ellipse 42"/>
            <p:cNvSpPr/>
            <p:nvPr/>
          </p:nvSpPr>
          <p:spPr>
            <a:xfrm>
              <a:off x="6667500" y="2619375"/>
              <a:ext cx="95250" cy="95250"/>
            </a:xfrm>
            <a:prstGeom prst="ellipse">
              <a:avLst/>
            </a:prstGeom>
            <a:solidFill>
              <a:srgbClr val="AF00C0"/>
            </a:solidFill>
            <a:ln>
              <a:noFill/>
            </a:ln>
          </p:spPr>
        </p:sp>
        <p:sp>
          <p:nvSpPr>
            <p:cNvPr id="43" name="TextBox 43"/>
            <p:cNvSpPr txBox="1"/>
            <p:nvPr/>
          </p:nvSpPr>
          <p:spPr>
            <a:xfrm>
              <a:off x="6843712" y="2593181"/>
              <a:ext cx="3207901"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Parallel shadow stack maintained by CPU</a:t>
              </a:r>
            </a:p>
          </p:txBody>
        </p:sp>
        <p:sp>
          <p:nvSpPr>
            <p:cNvPr id="44" name="Ellipse 44"/>
            <p:cNvSpPr/>
            <p:nvPr/>
          </p:nvSpPr>
          <p:spPr>
            <a:xfrm>
              <a:off x="6667500" y="2952750"/>
              <a:ext cx="95250" cy="95250"/>
            </a:xfrm>
            <a:prstGeom prst="ellipse">
              <a:avLst/>
            </a:prstGeom>
            <a:solidFill>
              <a:srgbClr val="AF00C0"/>
            </a:solidFill>
            <a:ln>
              <a:noFill/>
            </a:ln>
          </p:spPr>
        </p:sp>
        <p:sp>
          <p:nvSpPr>
            <p:cNvPr id="45" name="TextBox 45"/>
            <p:cNvSpPr txBox="1"/>
            <p:nvPr/>
          </p:nvSpPr>
          <p:spPr>
            <a:xfrm>
              <a:off x="6843712" y="2926556"/>
              <a:ext cx="3741896"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CPU verifies RET address matches shadow copy</a:t>
              </a:r>
            </a:p>
          </p:txBody>
        </p:sp>
        <p:sp>
          <p:nvSpPr>
            <p:cNvPr id="46" name="Ellipse 46"/>
            <p:cNvSpPr/>
            <p:nvPr/>
          </p:nvSpPr>
          <p:spPr>
            <a:xfrm>
              <a:off x="6667500" y="3286125"/>
              <a:ext cx="95250" cy="95250"/>
            </a:xfrm>
            <a:prstGeom prst="ellipse">
              <a:avLst/>
            </a:prstGeom>
            <a:solidFill>
              <a:srgbClr val="AF00C0"/>
            </a:solidFill>
            <a:ln>
              <a:noFill/>
            </a:ln>
          </p:spPr>
        </p:sp>
        <p:sp>
          <p:nvSpPr>
            <p:cNvPr id="47" name="TextBox 47"/>
            <p:cNvSpPr txBox="1"/>
            <p:nvPr/>
          </p:nvSpPr>
          <p:spPr>
            <a:xfrm>
              <a:off x="6843712" y="3259931"/>
              <a:ext cx="2427446"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Protects against ROP attacks</a:t>
              </a:r>
            </a:p>
          </p:txBody>
        </p:sp>
        <p:sp>
          <p:nvSpPr>
            <p:cNvPr id="48" name="Ellipse 48"/>
            <p:cNvSpPr/>
            <p:nvPr/>
          </p:nvSpPr>
          <p:spPr>
            <a:xfrm>
              <a:off x="6667500" y="3619500"/>
              <a:ext cx="95250" cy="95250"/>
            </a:xfrm>
            <a:prstGeom prst="ellipse">
              <a:avLst/>
            </a:prstGeom>
            <a:solidFill>
              <a:srgbClr val="AF00C0"/>
            </a:solidFill>
            <a:ln>
              <a:noFill/>
            </a:ln>
          </p:spPr>
        </p:sp>
        <p:sp>
          <p:nvSpPr>
            <p:cNvPr id="49" name="TextBox 49"/>
            <p:cNvSpPr txBox="1"/>
            <p:nvPr/>
          </p:nvSpPr>
          <p:spPr>
            <a:xfrm>
              <a:off x="6843712" y="3593306"/>
              <a:ext cx="3035379" cy="228600"/>
            </a:xfrm>
            <a:prstGeom prst="rect">
              <a:avLst/>
            </a:prstGeom>
            <a:noFill/>
            <a:ln>
              <a:noFill/>
            </a:ln>
          </p:spPr>
          <p:txBody>
            <a:bodyPr wrap="none" lIns="0" tIns="0" rIns="0" bIns="0" anchor="t" anchorCtr="0">
              <a:spAutoFit/>
            </a:bodyPr>
            <a:lstStyle/>
            <a:p>
              <a:pPr algn="l"/>
              <a:r>
                <a:rPr lang="zh-CN" sz="1125" dirty="0">
                  <a:solidFill>
                    <a:srgbClr val="333333"/>
                  </a:solidFill>
                  <a:latin typeface="Arial"/>
                  <a:ea typeface="Microsoft YaHei"/>
                  <a:cs typeface="Arial"/>
                </a:rPr>
                <a:t>Fault: #CP with CP_RET (error code 1)</a:t>
              </a:r>
            </a:p>
          </p:txBody>
        </p:sp>
        <p:sp>
          <p:nvSpPr>
            <p:cNvPr id="50" name="Rectangle 50"/>
            <p:cNvSpPr/>
            <p:nvPr/>
          </p:nvSpPr>
          <p:spPr>
            <a:xfrm>
              <a:off x="6619875" y="4000500"/>
              <a:ext cx="4572000" cy="419100"/>
            </a:xfrm>
            <a:prstGeom prst="roundRect">
              <a:avLst>
                <a:gd name="adj" fmla="val 13636"/>
              </a:avLst>
            </a:prstGeom>
            <a:solidFill>
              <a:srgbClr val="FAF5FF"/>
            </a:solidFill>
            <a:ln w="9525">
              <a:solidFill>
                <a:srgbClr val="AF00C0"/>
              </a:solidFill>
            </a:ln>
          </p:spPr>
        </p:sp>
        <p:grpSp>
          <p:nvGrpSpPr>
            <p:cNvPr id="56" name="Group 56"/>
            <p:cNvGrpSpPr/>
            <p:nvPr/>
          </p:nvGrpSpPr>
          <p:grpSpPr>
            <a:xfrm>
              <a:off x="6781800" y="4114800"/>
              <a:ext cx="133350" cy="152400"/>
              <a:chOff x="6781800" y="4114800"/>
              <a:chExt cx="133350" cy="152400"/>
            </a:xfrm>
          </p:grpSpPr>
          <p:sp>
            <p:nvSpPr>
              <p:cNvPr id="51" name="Freeform 51"/>
              <p:cNvSpPr/>
              <p:nvPr/>
            </p:nvSpPr>
            <p:spPr>
              <a:xfrm>
                <a:off x="6781800" y="422910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AF00C0"/>
                </a:solidFill>
              </a:ln>
            </p:spPr>
          </p:sp>
          <p:sp>
            <p:nvSpPr>
              <p:cNvPr id="52" name="Freeform 52"/>
              <p:cNvSpPr/>
              <p:nvPr/>
            </p:nvSpPr>
            <p:spPr>
              <a:xfrm>
                <a:off x="6781800" y="411480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AF00C0"/>
                </a:solidFill>
              </a:ln>
            </p:spPr>
          </p:sp>
          <p:sp>
            <p:nvSpPr>
              <p:cNvPr id="53" name="Freeform 53"/>
              <p:cNvSpPr/>
              <p:nvPr/>
            </p:nvSpPr>
            <p:spPr>
              <a:xfrm>
                <a:off x="6877050" y="417195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9050">
                <a:solidFill>
                  <a:srgbClr val="AF00C0"/>
                </a:solidFill>
              </a:ln>
            </p:spPr>
          </p:sp>
          <p:sp>
            <p:nvSpPr>
              <p:cNvPr id="54" name="Freeform 54"/>
              <p:cNvSpPr/>
              <p:nvPr/>
            </p:nvSpPr>
            <p:spPr>
              <a:xfrm>
                <a:off x="6800850" y="4152900"/>
                <a:ext cx="9525" cy="76200"/>
              </a:xfrm>
              <a:custGeom>
                <a:avLst/>
                <a:gdLst/>
                <a:ahLst/>
                <a:cxnLst/>
                <a:rect l="l" t="t" r="r" b="b"/>
                <a:pathLst>
                  <a:path w="9525" h="76200">
                    <a:moveTo>
                      <a:pt x="0" y="0"/>
                    </a:moveTo>
                    <a:lnTo>
                      <a:pt x="0" y="76200"/>
                    </a:lnTo>
                  </a:path>
                </a:pathLst>
              </a:custGeom>
              <a:noFill/>
              <a:ln w="19050">
                <a:solidFill>
                  <a:srgbClr val="AF00C0"/>
                </a:solidFill>
              </a:ln>
            </p:spPr>
          </p:sp>
          <p:sp>
            <p:nvSpPr>
              <p:cNvPr id="55" name="Freeform 55"/>
              <p:cNvSpPr/>
              <p:nvPr/>
            </p:nvSpPr>
            <p:spPr>
              <a:xfrm>
                <a:off x="6800850" y="4152900"/>
                <a:ext cx="76200" cy="38100"/>
              </a:xfrm>
              <a:custGeom>
                <a:avLst/>
                <a:gdLst/>
                <a:ahLst/>
                <a:cxnLst/>
                <a:rect l="l" t="t" r="r" b="b"/>
                <a:pathLst>
                  <a:path w="76200" h="38100">
                    <a:moveTo>
                      <a:pt x="0" y="0"/>
                    </a:moveTo>
                    <a:cubicBezTo>
                      <a:pt x="0" y="21042"/>
                      <a:pt x="17058" y="38100"/>
                      <a:pt x="38100" y="38100"/>
                    </a:cubicBezTo>
                    <a:lnTo>
                      <a:pt x="76200" y="38100"/>
                    </a:lnTo>
                  </a:path>
                </a:pathLst>
              </a:custGeom>
              <a:noFill/>
              <a:ln w="19050">
                <a:solidFill>
                  <a:srgbClr val="AF00C0"/>
                </a:solidFill>
              </a:ln>
            </p:spPr>
          </p:sp>
        </p:grpSp>
        <p:sp>
          <p:nvSpPr>
            <p:cNvPr id="57" name="TextBox 57"/>
            <p:cNvSpPr txBox="1"/>
            <p:nvPr/>
          </p:nvSpPr>
          <p:spPr>
            <a:xfrm>
              <a:off x="7035165" y="4153852"/>
              <a:ext cx="2707655" cy="213360"/>
            </a:xfrm>
            <a:prstGeom prst="rect">
              <a:avLst/>
            </a:prstGeom>
            <a:noFill/>
            <a:ln>
              <a:noFill/>
            </a:ln>
          </p:spPr>
          <p:txBody>
            <a:bodyPr wrap="none" lIns="0" tIns="0" rIns="0" bIns="0" anchor="t" anchorCtr="0">
              <a:spAutoFit/>
            </a:bodyPr>
            <a:lstStyle/>
            <a:p>
              <a:pPr algn="l"/>
              <a:r>
                <a:rPr lang="zh-CN" sz="1050" b="1" dirty="0">
                  <a:solidFill>
                    <a:srgbClr val="AF00C0"/>
                  </a:solidFill>
                  <a:latin typeface="Arial"/>
                  <a:ea typeface="Microsoft YaHei"/>
                  <a:cs typeface="Arial"/>
                </a:rPr>
                <a:t>Userspace support since Linux 6.6</a:t>
              </a:r>
            </a:p>
          </p:txBody>
        </p:sp>
        <p:sp>
          <p:nvSpPr>
            <p:cNvPr id="58" name="Rectangle 58"/>
            <p:cNvSpPr/>
            <p:nvPr/>
          </p:nvSpPr>
          <p:spPr>
            <a:xfrm>
              <a:off x="6619875" y="4572000"/>
              <a:ext cx="4572000" cy="419100"/>
            </a:xfrm>
            <a:prstGeom prst="roundRect">
              <a:avLst>
                <a:gd name="adj" fmla="val 13636"/>
              </a:avLst>
            </a:prstGeom>
            <a:solidFill>
              <a:srgbClr val="FAF5FF"/>
            </a:solidFill>
            <a:ln w="9525">
              <a:solidFill>
                <a:srgbClr val="AF00C0"/>
              </a:solidFill>
            </a:ln>
          </p:spPr>
        </p:sp>
        <p:sp>
          <p:nvSpPr>
            <p:cNvPr id="59" name="TextBox 59"/>
            <p:cNvSpPr txBox="1"/>
            <p:nvPr/>
          </p:nvSpPr>
          <p:spPr>
            <a:xfrm>
              <a:off x="6797040" y="4725352"/>
              <a:ext cx="269500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GCC/Clang: -fcf-protection=return</a:t>
              </a:r>
            </a:p>
          </p:txBody>
        </p:sp>
        <p:sp>
          <p:nvSpPr>
            <p:cNvPr id="60" name="Rectangle 60"/>
            <p:cNvSpPr/>
            <p:nvPr/>
          </p:nvSpPr>
          <p:spPr>
            <a:xfrm>
              <a:off x="666750" y="5286375"/>
              <a:ext cx="10858500" cy="476250"/>
            </a:xfrm>
            <a:prstGeom prst="roundRect">
              <a:avLst>
                <a:gd name="adj" fmla="val 16000"/>
              </a:avLst>
            </a:prstGeom>
            <a:solidFill>
              <a:srgbClr val="1E293B"/>
            </a:solidFill>
            <a:ln>
              <a:noFill/>
            </a:ln>
          </p:spPr>
        </p:sp>
        <p:sp>
          <p:nvSpPr>
            <p:cNvPr id="61" name="TextBox 61"/>
            <p:cNvSpPr txBox="1"/>
            <p:nvPr/>
          </p:nvSpPr>
          <p:spPr>
            <a:xfrm>
              <a:off x="4139317" y="5452110"/>
              <a:ext cx="391336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Both share exception vector: #CP (Trap 21)</a:t>
              </a:r>
            </a:p>
          </p:txBody>
        </p:sp>
      </p:grpSp>
      <p:grpSp>
        <p:nvGrpSpPr>
          <p:cNvPr id="65" name="Group 65"/>
          <p:cNvGrpSpPr/>
          <p:nvPr/>
        </p:nvGrpSpPr>
        <p:grpSpPr>
          <a:xfrm>
            <a:off x="10283883" y="5886450"/>
            <a:ext cx="1441392" cy="947738"/>
            <a:chOff x="10283883" y="5886450"/>
            <a:chExt cx="1441392" cy="947738"/>
          </a:xfrm>
        </p:grpSpPr>
        <p:pic>
          <p:nvPicPr>
            <p:cNvPr id="63" name="Image 63"/>
            <p:cNvPicPr>
              <a:picLocks noChangeAspect="1"/>
            </p:cNvPicPr>
            <p:nvPr/>
          </p:nvPicPr>
          <p:blipFill>
            <a:blip r:embed="rId4"/>
            <a:stretch>
              <a:fillRect/>
            </a:stretch>
          </p:blipFill>
          <p:spPr>
            <a:xfrm>
              <a:off x="10283883" y="5886450"/>
              <a:ext cx="1158759" cy="381000"/>
            </a:xfrm>
            <a:prstGeom prst="rect">
              <a:avLst/>
            </a:prstGeom>
          </p:spPr>
        </p:pic>
        <p:sp>
          <p:nvSpPr>
            <p:cNvPr id="64" name="TextBox 64"/>
            <p:cNvSpPr txBox="1"/>
            <p:nvPr/>
          </p:nvSpPr>
          <p:spPr>
            <a:xfrm>
              <a:off x="11585734" y="6681788"/>
              <a:ext cx="139541"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04</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7182650"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Indirect Branch Tracking — How It Works</a:t>
            </a:r>
          </a:p>
        </p:txBody>
      </p:sp>
      <p:grpSp>
        <p:nvGrpSpPr>
          <p:cNvPr id="56" name="Group 56"/>
          <p:cNvGrpSpPr/>
          <p:nvPr/>
        </p:nvGrpSpPr>
        <p:grpSpPr>
          <a:xfrm>
            <a:off x="571500" y="1381125"/>
            <a:ext cx="11171872" cy="4381500"/>
            <a:chOff x="571500" y="1381125"/>
            <a:chExt cx="11171872" cy="4381500"/>
          </a:xfrm>
        </p:grpSpPr>
        <p:sp>
          <p:nvSpPr>
            <p:cNvPr id="6" name="Rectangle 6"/>
            <p:cNvSpPr/>
            <p:nvPr/>
          </p:nvSpPr>
          <p:spPr>
            <a:xfrm>
              <a:off x="571500" y="1381125"/>
              <a:ext cx="2095500" cy="762000"/>
            </a:xfrm>
            <a:prstGeom prst="roundRect">
              <a:avLst>
                <a:gd name="adj" fmla="val 10000"/>
              </a:avLst>
            </a:prstGeom>
            <a:solidFill>
              <a:srgbClr val="F0FDF9"/>
            </a:solidFill>
            <a:ln w="19050">
              <a:solidFill>
                <a:srgbClr val="0AB36E"/>
              </a:solidFill>
            </a:ln>
          </p:spPr>
        </p:sp>
        <p:sp>
          <p:nvSpPr>
            <p:cNvPr id="7" name="Ellipse 7"/>
            <p:cNvSpPr/>
            <p:nvPr/>
          </p:nvSpPr>
          <p:spPr>
            <a:xfrm>
              <a:off x="695325" y="1438275"/>
              <a:ext cx="228600" cy="228600"/>
            </a:xfrm>
            <a:prstGeom prst="ellipse">
              <a:avLst/>
            </a:prstGeom>
            <a:solidFill>
              <a:srgbClr val="0AB36E"/>
            </a:solidFill>
            <a:ln>
              <a:noFill/>
            </a:ln>
          </p:spPr>
        </p:sp>
        <p:sp>
          <p:nvSpPr>
            <p:cNvPr id="8" name="TextBox 8"/>
            <p:cNvSpPr txBox="1"/>
            <p:nvPr/>
          </p:nvSpPr>
          <p:spPr>
            <a:xfrm>
              <a:off x="777492" y="1503045"/>
              <a:ext cx="642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9" name="TextBox 9"/>
            <p:cNvSpPr txBox="1"/>
            <p:nvPr/>
          </p:nvSpPr>
          <p:spPr>
            <a:xfrm>
              <a:off x="987742" y="1494949"/>
              <a:ext cx="1340529" cy="198120"/>
            </a:xfrm>
            <a:prstGeom prst="rect">
              <a:avLst/>
            </a:prstGeom>
            <a:noFill/>
            <a:ln>
              <a:noFill/>
            </a:ln>
          </p:spPr>
          <p:txBody>
            <a:bodyPr wrap="none" lIns="0" tIns="0" rIns="0" bIns="0" anchor="t" anchorCtr="0">
              <a:spAutoFit/>
            </a:bodyPr>
            <a:lstStyle/>
            <a:p>
              <a:pPr algn="l"/>
              <a:r>
                <a:rPr lang="zh-CN" sz="975" b="1" dirty="0">
                  <a:solidFill>
                    <a:srgbClr val="0AB36E"/>
                  </a:solidFill>
                  <a:latin typeface="Arial"/>
                  <a:ea typeface="Microsoft YaHei"/>
                  <a:cs typeface="Arial"/>
                </a:rPr>
                <a:t>Indirect CALL/JMP</a:t>
              </a:r>
            </a:p>
          </p:txBody>
        </p:sp>
        <p:sp>
          <p:nvSpPr>
            <p:cNvPr id="10" name="TextBox 10"/>
            <p:cNvSpPr txBox="1"/>
            <p:nvPr/>
          </p:nvSpPr>
          <p:spPr>
            <a:xfrm>
              <a:off x="750570" y="1760220"/>
              <a:ext cx="1593628"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CPU executes an indirect</a:t>
              </a:r>
            </a:p>
          </p:txBody>
        </p:sp>
        <p:sp>
          <p:nvSpPr>
            <p:cNvPr id="11" name="TextBox 11"/>
            <p:cNvSpPr txBox="1"/>
            <p:nvPr/>
          </p:nvSpPr>
          <p:spPr>
            <a:xfrm>
              <a:off x="750570" y="1922145"/>
              <a:ext cx="1225582"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branch instruction</a:t>
              </a:r>
            </a:p>
          </p:txBody>
        </p:sp>
        <p:sp>
          <p:nvSpPr>
            <p:cNvPr id="12" name="Line 12"/>
            <p:cNvSpPr/>
            <p:nvPr/>
          </p:nvSpPr>
          <p:spPr>
            <a:xfrm>
              <a:off x="2667000" y="1762125"/>
              <a:ext cx="285750" cy="9525"/>
            </a:xfrm>
            <a:custGeom>
              <a:avLst/>
              <a:gdLst/>
              <a:ahLst/>
              <a:cxnLst/>
              <a:rect l="l" t="t" r="r" b="b"/>
              <a:pathLst>
                <a:path w="285750" h="9525">
                  <a:moveTo>
                    <a:pt x="0" y="0"/>
                  </a:moveTo>
                  <a:lnTo>
                    <a:pt x="285750" y="0"/>
                  </a:lnTo>
                </a:path>
              </a:pathLst>
            </a:custGeom>
            <a:noFill/>
            <a:ln w="14288">
              <a:solidFill>
                <a:srgbClr val="333333"/>
              </a:solidFill>
            </a:ln>
          </p:spPr>
        </p:sp>
        <p:sp>
          <p:nvSpPr>
            <p:cNvPr id="13" name="Polygon 13"/>
            <p:cNvSpPr/>
            <p:nvPr/>
          </p:nvSpPr>
          <p:spPr>
            <a:xfrm>
              <a:off x="2952750" y="1724025"/>
              <a:ext cx="95250" cy="76200"/>
            </a:xfrm>
            <a:custGeom>
              <a:avLst/>
              <a:gdLst/>
              <a:ahLst/>
              <a:cxnLst/>
              <a:rect l="l" t="t" r="r" b="b"/>
              <a:pathLst>
                <a:path w="95250" h="76200">
                  <a:moveTo>
                    <a:pt x="0" y="0"/>
                  </a:moveTo>
                  <a:lnTo>
                    <a:pt x="95250" y="38100"/>
                  </a:lnTo>
                  <a:lnTo>
                    <a:pt x="0" y="76200"/>
                  </a:lnTo>
                  <a:close/>
                </a:path>
              </a:pathLst>
            </a:custGeom>
            <a:solidFill>
              <a:srgbClr val="333333"/>
            </a:solidFill>
            <a:ln>
              <a:noFill/>
            </a:ln>
          </p:spPr>
        </p:sp>
        <p:sp>
          <p:nvSpPr>
            <p:cNvPr id="14" name="Rectangle 14"/>
            <p:cNvSpPr/>
            <p:nvPr/>
          </p:nvSpPr>
          <p:spPr>
            <a:xfrm>
              <a:off x="3048000" y="1381125"/>
              <a:ext cx="2095500" cy="762000"/>
            </a:xfrm>
            <a:prstGeom prst="roundRect">
              <a:avLst>
                <a:gd name="adj" fmla="val 10000"/>
              </a:avLst>
            </a:prstGeom>
            <a:solidFill>
              <a:srgbClr val="FFF7ED"/>
            </a:solidFill>
            <a:ln w="19050">
              <a:solidFill>
                <a:srgbClr val="F79646"/>
              </a:solidFill>
            </a:ln>
          </p:spPr>
        </p:sp>
        <p:sp>
          <p:nvSpPr>
            <p:cNvPr id="15" name="Ellipse 15"/>
            <p:cNvSpPr/>
            <p:nvPr/>
          </p:nvSpPr>
          <p:spPr>
            <a:xfrm>
              <a:off x="3171825" y="1438275"/>
              <a:ext cx="228600" cy="228600"/>
            </a:xfrm>
            <a:prstGeom prst="ellipse">
              <a:avLst/>
            </a:prstGeom>
            <a:solidFill>
              <a:srgbClr val="F79646"/>
            </a:solidFill>
            <a:ln>
              <a:noFill/>
            </a:ln>
          </p:spPr>
        </p:sp>
        <p:sp>
          <p:nvSpPr>
            <p:cNvPr id="16" name="TextBox 16"/>
            <p:cNvSpPr txBox="1"/>
            <p:nvPr/>
          </p:nvSpPr>
          <p:spPr>
            <a:xfrm>
              <a:off x="3236740" y="15030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17" name="TextBox 17"/>
            <p:cNvSpPr txBox="1"/>
            <p:nvPr/>
          </p:nvSpPr>
          <p:spPr>
            <a:xfrm>
              <a:off x="3464242" y="1494949"/>
              <a:ext cx="1527428" cy="198120"/>
            </a:xfrm>
            <a:prstGeom prst="rect">
              <a:avLst/>
            </a:prstGeom>
            <a:noFill/>
            <a:ln>
              <a:noFill/>
            </a:ln>
          </p:spPr>
          <p:txBody>
            <a:bodyPr wrap="none" lIns="0" tIns="0" rIns="0" bIns="0" anchor="t" anchorCtr="0">
              <a:spAutoFit/>
            </a:bodyPr>
            <a:lstStyle/>
            <a:p>
              <a:pPr algn="l"/>
              <a:r>
                <a:rPr lang="zh-CN" sz="975" b="1" dirty="0">
                  <a:solidFill>
                    <a:srgbClr val="F79646"/>
                  </a:solidFill>
                  <a:latin typeface="Arial"/>
                  <a:ea typeface="Microsoft YaHei"/>
                  <a:cs typeface="Arial"/>
                </a:rPr>
                <a:t>WAIT_FOR_ENDBRANCH</a:t>
              </a:r>
            </a:p>
          </p:txBody>
        </p:sp>
        <p:sp>
          <p:nvSpPr>
            <p:cNvPr id="18" name="TextBox 18"/>
            <p:cNvSpPr txBox="1"/>
            <p:nvPr/>
          </p:nvSpPr>
          <p:spPr>
            <a:xfrm>
              <a:off x="3227070" y="1760220"/>
              <a:ext cx="1665922"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CPU sets internal tracker</a:t>
              </a:r>
            </a:p>
          </p:txBody>
        </p:sp>
        <p:sp>
          <p:nvSpPr>
            <p:cNvPr id="19" name="TextBox 19"/>
            <p:cNvSpPr txBox="1"/>
            <p:nvPr/>
          </p:nvSpPr>
          <p:spPr>
            <a:xfrm>
              <a:off x="3227070" y="1922145"/>
              <a:ext cx="1219009"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state to "waiting"</a:t>
              </a:r>
            </a:p>
          </p:txBody>
        </p:sp>
        <p:sp>
          <p:nvSpPr>
            <p:cNvPr id="20" name="Line 20"/>
            <p:cNvSpPr/>
            <p:nvPr/>
          </p:nvSpPr>
          <p:spPr>
            <a:xfrm>
              <a:off x="5143500" y="1762125"/>
              <a:ext cx="285750" cy="9525"/>
            </a:xfrm>
            <a:custGeom>
              <a:avLst/>
              <a:gdLst/>
              <a:ahLst/>
              <a:cxnLst/>
              <a:rect l="l" t="t" r="r" b="b"/>
              <a:pathLst>
                <a:path w="285750" h="9525">
                  <a:moveTo>
                    <a:pt x="0" y="0"/>
                  </a:moveTo>
                  <a:lnTo>
                    <a:pt x="285750" y="0"/>
                  </a:lnTo>
                </a:path>
              </a:pathLst>
            </a:custGeom>
            <a:noFill/>
            <a:ln w="14288">
              <a:solidFill>
                <a:srgbClr val="333333"/>
              </a:solidFill>
            </a:ln>
          </p:spPr>
        </p:sp>
        <p:sp>
          <p:nvSpPr>
            <p:cNvPr id="21" name="Polygon 21"/>
            <p:cNvSpPr/>
            <p:nvPr/>
          </p:nvSpPr>
          <p:spPr>
            <a:xfrm>
              <a:off x="5429250" y="1724025"/>
              <a:ext cx="95250" cy="76200"/>
            </a:xfrm>
            <a:custGeom>
              <a:avLst/>
              <a:gdLst/>
              <a:ahLst/>
              <a:cxnLst/>
              <a:rect l="l" t="t" r="r" b="b"/>
              <a:pathLst>
                <a:path w="95250" h="76200">
                  <a:moveTo>
                    <a:pt x="0" y="0"/>
                  </a:moveTo>
                  <a:lnTo>
                    <a:pt x="95250" y="38100"/>
                  </a:lnTo>
                  <a:lnTo>
                    <a:pt x="0" y="76200"/>
                  </a:lnTo>
                  <a:close/>
                </a:path>
              </a:pathLst>
            </a:custGeom>
            <a:solidFill>
              <a:srgbClr val="333333"/>
            </a:solidFill>
            <a:ln>
              <a:noFill/>
            </a:ln>
          </p:spPr>
        </p:sp>
        <p:sp>
          <p:nvSpPr>
            <p:cNvPr id="22" name="Rectangle 22"/>
            <p:cNvSpPr/>
            <p:nvPr/>
          </p:nvSpPr>
          <p:spPr>
            <a:xfrm>
              <a:off x="5524500" y="1381125"/>
              <a:ext cx="2095500" cy="762000"/>
            </a:xfrm>
            <a:prstGeom prst="roundRect">
              <a:avLst>
                <a:gd name="adj" fmla="val 10000"/>
              </a:avLst>
            </a:prstGeom>
            <a:solidFill>
              <a:srgbClr val="F8FAFC"/>
            </a:solidFill>
            <a:ln w="19050">
              <a:solidFill>
                <a:srgbClr val="64748B"/>
              </a:solidFill>
            </a:ln>
          </p:spPr>
        </p:sp>
        <p:sp>
          <p:nvSpPr>
            <p:cNvPr id="23" name="Ellipse 23"/>
            <p:cNvSpPr/>
            <p:nvPr/>
          </p:nvSpPr>
          <p:spPr>
            <a:xfrm>
              <a:off x="5648325" y="1438275"/>
              <a:ext cx="228600" cy="228600"/>
            </a:xfrm>
            <a:prstGeom prst="ellipse">
              <a:avLst/>
            </a:prstGeom>
            <a:solidFill>
              <a:srgbClr val="64748B"/>
            </a:solidFill>
            <a:ln>
              <a:noFill/>
            </a:ln>
          </p:spPr>
        </p:sp>
        <p:sp>
          <p:nvSpPr>
            <p:cNvPr id="24" name="TextBox 24"/>
            <p:cNvSpPr txBox="1"/>
            <p:nvPr/>
          </p:nvSpPr>
          <p:spPr>
            <a:xfrm>
              <a:off x="5713240" y="15030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25" name="TextBox 25"/>
            <p:cNvSpPr txBox="1"/>
            <p:nvPr/>
          </p:nvSpPr>
          <p:spPr>
            <a:xfrm>
              <a:off x="5940742" y="1494949"/>
              <a:ext cx="1146155" cy="198120"/>
            </a:xfrm>
            <a:prstGeom prst="rect">
              <a:avLst/>
            </a:prstGeom>
            <a:noFill/>
            <a:ln>
              <a:noFill/>
            </a:ln>
          </p:spPr>
          <p:txBody>
            <a:bodyPr wrap="none" lIns="0" tIns="0" rIns="0" bIns="0" anchor="t" anchorCtr="0">
              <a:spAutoFit/>
            </a:bodyPr>
            <a:lstStyle/>
            <a:p>
              <a:pPr algn="l"/>
              <a:r>
                <a:rPr lang="zh-CN" sz="975" b="1" dirty="0">
                  <a:solidFill>
                    <a:srgbClr val="64748B"/>
                  </a:solidFill>
                  <a:latin typeface="Arial"/>
                  <a:ea typeface="Microsoft YaHei"/>
                  <a:cs typeface="Arial"/>
                </a:rPr>
                <a:t>Check Next Insn</a:t>
              </a:r>
            </a:p>
          </p:txBody>
        </p:sp>
        <p:sp>
          <p:nvSpPr>
            <p:cNvPr id="26" name="TextBox 26"/>
            <p:cNvSpPr txBox="1"/>
            <p:nvPr/>
          </p:nvSpPr>
          <p:spPr>
            <a:xfrm>
              <a:off x="5703570" y="1760220"/>
              <a:ext cx="1409605"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CPU inspects the next</a:t>
              </a:r>
            </a:p>
          </p:txBody>
        </p:sp>
        <p:sp>
          <p:nvSpPr>
            <p:cNvPr id="27" name="TextBox 27"/>
            <p:cNvSpPr txBox="1"/>
            <p:nvPr/>
          </p:nvSpPr>
          <p:spPr>
            <a:xfrm>
              <a:off x="5703570" y="1922145"/>
              <a:ext cx="1409605"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instruction at target</a:t>
              </a:r>
            </a:p>
          </p:txBody>
        </p:sp>
        <p:sp>
          <p:nvSpPr>
            <p:cNvPr id="28" name="Line 28"/>
            <p:cNvSpPr/>
            <p:nvPr/>
          </p:nvSpPr>
          <p:spPr>
            <a:xfrm>
              <a:off x="6572250" y="2143125"/>
              <a:ext cx="9525" cy="428625"/>
            </a:xfrm>
            <a:custGeom>
              <a:avLst/>
              <a:gdLst/>
              <a:ahLst/>
              <a:cxnLst/>
              <a:rect l="l" t="t" r="r" b="b"/>
              <a:pathLst>
                <a:path w="9525" h="428625">
                  <a:moveTo>
                    <a:pt x="0" y="0"/>
                  </a:moveTo>
                  <a:lnTo>
                    <a:pt x="0" y="428625"/>
                  </a:lnTo>
                </a:path>
              </a:pathLst>
            </a:custGeom>
            <a:noFill/>
            <a:ln w="19050">
              <a:solidFill>
                <a:srgbClr val="0AB36E"/>
              </a:solidFill>
            </a:ln>
          </p:spPr>
        </p:sp>
        <p:sp>
          <p:nvSpPr>
            <p:cNvPr id="29" name="Polygon 29"/>
            <p:cNvSpPr/>
            <p:nvPr/>
          </p:nvSpPr>
          <p:spPr>
            <a:xfrm>
              <a:off x="6534150" y="2571750"/>
              <a:ext cx="76200" cy="95250"/>
            </a:xfrm>
            <a:custGeom>
              <a:avLst/>
              <a:gdLst/>
              <a:ahLst/>
              <a:cxnLst/>
              <a:rect l="l" t="t" r="r" b="b"/>
              <a:pathLst>
                <a:path w="76200" h="95250">
                  <a:moveTo>
                    <a:pt x="0" y="0"/>
                  </a:moveTo>
                  <a:lnTo>
                    <a:pt x="38100" y="95250"/>
                  </a:lnTo>
                  <a:lnTo>
                    <a:pt x="76200" y="0"/>
                  </a:lnTo>
                  <a:close/>
                </a:path>
              </a:pathLst>
            </a:custGeom>
            <a:solidFill>
              <a:srgbClr val="0AB36E"/>
            </a:solidFill>
            <a:ln>
              <a:noFill/>
            </a:ln>
          </p:spPr>
        </p:sp>
        <p:sp>
          <p:nvSpPr>
            <p:cNvPr id="30" name="Line 30"/>
            <p:cNvSpPr/>
            <p:nvPr/>
          </p:nvSpPr>
          <p:spPr>
            <a:xfrm>
              <a:off x="8572500" y="1762125"/>
              <a:ext cx="285750" cy="9525"/>
            </a:xfrm>
            <a:custGeom>
              <a:avLst/>
              <a:gdLst/>
              <a:ahLst/>
              <a:cxnLst/>
              <a:rect l="l" t="t" r="r" b="b"/>
              <a:pathLst>
                <a:path w="285750" h="9525">
                  <a:moveTo>
                    <a:pt x="0" y="0"/>
                  </a:moveTo>
                  <a:lnTo>
                    <a:pt x="285750" y="0"/>
                  </a:lnTo>
                </a:path>
              </a:pathLst>
            </a:custGeom>
            <a:noFill/>
            <a:ln w="19050">
              <a:solidFill>
                <a:srgbClr val="EF4444"/>
              </a:solidFill>
            </a:ln>
          </p:spPr>
        </p:sp>
        <p:sp>
          <p:nvSpPr>
            <p:cNvPr id="31" name="Polygon 31"/>
            <p:cNvSpPr/>
            <p:nvPr/>
          </p:nvSpPr>
          <p:spPr>
            <a:xfrm>
              <a:off x="8858250" y="1724025"/>
              <a:ext cx="95250" cy="76200"/>
            </a:xfrm>
            <a:custGeom>
              <a:avLst/>
              <a:gdLst/>
              <a:ahLst/>
              <a:cxnLst/>
              <a:rect l="l" t="t" r="r" b="b"/>
              <a:pathLst>
                <a:path w="95250" h="76200">
                  <a:moveTo>
                    <a:pt x="0" y="0"/>
                  </a:moveTo>
                  <a:lnTo>
                    <a:pt x="95250" y="38100"/>
                  </a:lnTo>
                  <a:lnTo>
                    <a:pt x="0" y="76200"/>
                  </a:lnTo>
                  <a:close/>
                </a:path>
              </a:pathLst>
            </a:custGeom>
            <a:solidFill>
              <a:srgbClr val="EF4444"/>
            </a:solidFill>
            <a:ln>
              <a:noFill/>
            </a:ln>
          </p:spPr>
        </p:sp>
        <p:sp>
          <p:nvSpPr>
            <p:cNvPr id="32" name="Rectangle 32"/>
            <p:cNvSpPr/>
            <p:nvPr/>
          </p:nvSpPr>
          <p:spPr>
            <a:xfrm>
              <a:off x="5048250" y="2714625"/>
              <a:ext cx="3048000" cy="952500"/>
            </a:xfrm>
            <a:prstGeom prst="roundRect">
              <a:avLst>
                <a:gd name="adj" fmla="val 8000"/>
              </a:avLst>
            </a:prstGeom>
            <a:solidFill>
              <a:srgbClr val="F0FDF9"/>
            </a:solidFill>
            <a:ln w="23812">
              <a:solidFill>
                <a:srgbClr val="0AB36E"/>
              </a:solidFill>
            </a:ln>
          </p:spPr>
        </p:sp>
        <p:sp>
          <p:nvSpPr>
            <p:cNvPr id="33" name="Ellipse 33"/>
            <p:cNvSpPr/>
            <p:nvPr/>
          </p:nvSpPr>
          <p:spPr>
            <a:xfrm>
              <a:off x="5172075" y="2790825"/>
              <a:ext cx="228600" cy="228600"/>
            </a:xfrm>
            <a:prstGeom prst="ellipse">
              <a:avLst/>
            </a:prstGeom>
            <a:solidFill>
              <a:srgbClr val="0AB36E"/>
            </a:solidFill>
            <a:ln>
              <a:noFill/>
            </a:ln>
          </p:spPr>
        </p:sp>
        <p:sp>
          <p:nvSpPr>
            <p:cNvPr id="34" name="TextBox 34"/>
            <p:cNvSpPr txBox="1"/>
            <p:nvPr/>
          </p:nvSpPr>
          <p:spPr>
            <a:xfrm>
              <a:off x="5236990" y="285559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35" name="TextBox 35"/>
            <p:cNvSpPr txBox="1"/>
            <p:nvPr/>
          </p:nvSpPr>
          <p:spPr>
            <a:xfrm>
              <a:off x="5462588" y="2831306"/>
              <a:ext cx="1408747"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ENDBR64 Present</a:t>
              </a:r>
            </a:p>
          </p:txBody>
        </p:sp>
        <p:sp>
          <p:nvSpPr>
            <p:cNvPr id="36" name="Freeform 36"/>
            <p:cNvSpPr/>
            <p:nvPr/>
          </p:nvSpPr>
          <p:spPr>
            <a:xfrm>
              <a:off x="5286375" y="3162300"/>
              <a:ext cx="142875" cy="95250"/>
            </a:xfrm>
            <a:custGeom>
              <a:avLst/>
              <a:gdLst/>
              <a:ahLst/>
              <a:cxnLst/>
              <a:rect l="l" t="t" r="r" b="b"/>
              <a:pathLst>
                <a:path w="142875" h="95250">
                  <a:moveTo>
                    <a:pt x="0" y="47625"/>
                  </a:moveTo>
                  <a:lnTo>
                    <a:pt x="47625" y="95250"/>
                  </a:lnTo>
                  <a:lnTo>
                    <a:pt x="142875" y="0"/>
                  </a:lnTo>
                </a:path>
              </a:pathLst>
            </a:custGeom>
            <a:noFill/>
            <a:ln w="19050">
              <a:solidFill>
                <a:srgbClr val="0AB36E"/>
              </a:solidFill>
            </a:ln>
          </p:spPr>
        </p:sp>
        <p:sp>
          <p:nvSpPr>
            <p:cNvPr id="37" name="TextBox 37"/>
            <p:cNvSpPr txBox="1"/>
            <p:nvPr/>
          </p:nvSpPr>
          <p:spPr>
            <a:xfrm>
              <a:off x="5511165" y="3172778"/>
              <a:ext cx="2894362"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Valid landing pad — execution continues</a:t>
              </a:r>
            </a:p>
          </p:txBody>
        </p:sp>
        <p:sp>
          <p:nvSpPr>
            <p:cNvPr id="38" name="TextBox 38"/>
            <p:cNvSpPr txBox="1"/>
            <p:nvPr/>
          </p:nvSpPr>
          <p:spPr>
            <a:xfrm>
              <a:off x="5512118" y="3418999"/>
              <a:ext cx="2723221"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Tracker reset, ENDBR consumed as NOP</a:t>
              </a:r>
            </a:p>
          </p:txBody>
        </p:sp>
        <p:sp>
          <p:nvSpPr>
            <p:cNvPr id="39" name="Rectangle 39"/>
            <p:cNvSpPr/>
            <p:nvPr/>
          </p:nvSpPr>
          <p:spPr>
            <a:xfrm>
              <a:off x="8953500" y="1381125"/>
              <a:ext cx="2667000" cy="1000125"/>
            </a:xfrm>
            <a:prstGeom prst="roundRect">
              <a:avLst>
                <a:gd name="adj" fmla="val 7619"/>
              </a:avLst>
            </a:prstGeom>
            <a:solidFill>
              <a:srgbClr val="FEF2F2"/>
            </a:solidFill>
            <a:ln w="23812">
              <a:solidFill>
                <a:srgbClr val="EF4444"/>
              </a:solidFill>
            </a:ln>
          </p:spPr>
        </p:sp>
        <p:sp>
          <p:nvSpPr>
            <p:cNvPr id="40" name="Ellipse 40"/>
            <p:cNvSpPr/>
            <p:nvPr/>
          </p:nvSpPr>
          <p:spPr>
            <a:xfrm>
              <a:off x="9077325" y="1438275"/>
              <a:ext cx="228600" cy="228600"/>
            </a:xfrm>
            <a:prstGeom prst="ellipse">
              <a:avLst/>
            </a:prstGeom>
            <a:solidFill>
              <a:srgbClr val="EF4444"/>
            </a:solidFill>
            <a:ln>
              <a:noFill/>
            </a:ln>
          </p:spPr>
        </p:sp>
        <p:sp>
          <p:nvSpPr>
            <p:cNvPr id="41" name="TextBox 41"/>
            <p:cNvSpPr txBox="1"/>
            <p:nvPr/>
          </p:nvSpPr>
          <p:spPr>
            <a:xfrm>
              <a:off x="9142240" y="15030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a:t>
              </a:r>
            </a:p>
          </p:txBody>
        </p:sp>
        <p:sp>
          <p:nvSpPr>
            <p:cNvPr id="42" name="TextBox 42"/>
            <p:cNvSpPr txBox="1"/>
            <p:nvPr/>
          </p:nvSpPr>
          <p:spPr>
            <a:xfrm>
              <a:off x="9367838" y="1478756"/>
              <a:ext cx="1710660" cy="228600"/>
            </a:xfrm>
            <a:prstGeom prst="rect">
              <a:avLst/>
            </a:prstGeom>
            <a:noFill/>
            <a:ln>
              <a:noFill/>
            </a:ln>
          </p:spPr>
          <p:txBody>
            <a:bodyPr wrap="none" lIns="0" tIns="0" rIns="0" bIns="0" anchor="t" anchorCtr="0">
              <a:spAutoFit/>
            </a:bodyPr>
            <a:lstStyle/>
            <a:p>
              <a:pPr algn="l"/>
              <a:r>
                <a:rPr lang="zh-CN" sz="1125" b="1" dirty="0">
                  <a:solidFill>
                    <a:srgbClr val="EF4444"/>
                  </a:solidFill>
                  <a:latin typeface="Arial"/>
                  <a:ea typeface="Microsoft YaHei"/>
                  <a:cs typeface="Arial"/>
                </a:rPr>
                <a:t>No ENDBR — #CP Fault</a:t>
              </a:r>
            </a:p>
          </p:txBody>
        </p:sp>
        <p:grpSp>
          <p:nvGrpSpPr>
            <p:cNvPr id="45" name="Group 45"/>
            <p:cNvGrpSpPr/>
            <p:nvPr/>
          </p:nvGrpSpPr>
          <p:grpSpPr>
            <a:xfrm>
              <a:off x="9201150" y="1771650"/>
              <a:ext cx="114300" cy="114300"/>
              <a:chOff x="9201150" y="1771650"/>
              <a:chExt cx="114300" cy="114300"/>
            </a:xfrm>
          </p:grpSpPr>
          <p:sp>
            <p:nvSpPr>
              <p:cNvPr id="43" name="Freeform 43"/>
              <p:cNvSpPr/>
              <p:nvPr/>
            </p:nvSpPr>
            <p:spPr>
              <a:xfrm>
                <a:off x="9201150" y="1771650"/>
                <a:ext cx="114300" cy="114300"/>
              </a:xfrm>
              <a:custGeom>
                <a:avLst/>
                <a:gdLst/>
                <a:ahLst/>
                <a:cxnLst/>
                <a:rect l="l" t="t" r="r" b="b"/>
                <a:pathLst>
                  <a:path w="114300" h="114300">
                    <a:moveTo>
                      <a:pt x="114300" y="0"/>
                    </a:moveTo>
                    <a:lnTo>
                      <a:pt x="0" y="114300"/>
                    </a:lnTo>
                  </a:path>
                </a:pathLst>
              </a:custGeom>
              <a:noFill/>
              <a:ln w="19050">
                <a:solidFill>
                  <a:srgbClr val="EF4444"/>
                </a:solidFill>
              </a:ln>
            </p:spPr>
          </p:sp>
          <p:sp>
            <p:nvSpPr>
              <p:cNvPr id="44" name="Freeform 44"/>
              <p:cNvSpPr/>
              <p:nvPr/>
            </p:nvSpPr>
            <p:spPr>
              <a:xfrm>
                <a:off x="9201150" y="1771650"/>
                <a:ext cx="114300" cy="114300"/>
              </a:xfrm>
              <a:custGeom>
                <a:avLst/>
                <a:gdLst/>
                <a:ahLst/>
                <a:cxnLst/>
                <a:rect l="l" t="t" r="r" b="b"/>
                <a:pathLst>
                  <a:path w="114300" h="114300">
                    <a:moveTo>
                      <a:pt x="0" y="0"/>
                    </a:moveTo>
                    <a:lnTo>
                      <a:pt x="114300" y="114300"/>
                    </a:lnTo>
                  </a:path>
                </a:pathLst>
              </a:custGeom>
              <a:noFill/>
              <a:ln w="19050">
                <a:solidFill>
                  <a:srgbClr val="EF4444"/>
                </a:solidFill>
              </a:ln>
            </p:spPr>
          </p:sp>
        </p:grpSp>
        <p:sp>
          <p:nvSpPr>
            <p:cNvPr id="46" name="TextBox 46"/>
            <p:cNvSpPr txBox="1"/>
            <p:nvPr/>
          </p:nvSpPr>
          <p:spPr>
            <a:xfrm>
              <a:off x="9416415" y="1772602"/>
              <a:ext cx="2326957"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Missing landing pad — CPU traps</a:t>
              </a:r>
            </a:p>
          </p:txBody>
        </p:sp>
        <p:sp>
          <p:nvSpPr>
            <p:cNvPr id="47" name="TextBox 47"/>
            <p:cNvSpPr txBox="1"/>
            <p:nvPr/>
          </p:nvSpPr>
          <p:spPr>
            <a:xfrm>
              <a:off x="9131618" y="2037874"/>
              <a:ext cx="1762030"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Error code: CP_ENDBR = 3</a:t>
              </a:r>
            </a:p>
          </p:txBody>
        </p:sp>
        <p:sp>
          <p:nvSpPr>
            <p:cNvPr id="48" name="TextBox 48"/>
            <p:cNvSpPr txBox="1"/>
            <p:nvPr/>
          </p:nvSpPr>
          <p:spPr>
            <a:xfrm>
              <a:off x="9131618" y="2199799"/>
              <a:ext cx="2239066"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Exception vector: #CP (Trap 21)</a:t>
              </a:r>
            </a:p>
          </p:txBody>
        </p:sp>
        <p:sp>
          <p:nvSpPr>
            <p:cNvPr id="49" name="Rectangle 49"/>
            <p:cNvSpPr/>
            <p:nvPr/>
          </p:nvSpPr>
          <p:spPr>
            <a:xfrm>
              <a:off x="571500" y="4000500"/>
              <a:ext cx="11049000" cy="1762125"/>
            </a:xfrm>
            <a:prstGeom prst="roundRect">
              <a:avLst>
                <a:gd name="adj" fmla="val 4324"/>
              </a:avLst>
            </a:prstGeom>
            <a:solidFill>
              <a:srgbClr val="1E293B"/>
            </a:solidFill>
            <a:ln>
              <a:noFill/>
            </a:ln>
          </p:spPr>
        </p:sp>
        <p:sp>
          <p:nvSpPr>
            <p:cNvPr id="50" name="TextBox 50"/>
            <p:cNvSpPr txBox="1"/>
            <p:nvPr/>
          </p:nvSpPr>
          <p:spPr>
            <a:xfrm>
              <a:off x="842962" y="4164806"/>
              <a:ext cx="942939"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Key Details</a:t>
              </a:r>
            </a:p>
          </p:txBody>
        </p:sp>
        <p:sp>
          <p:nvSpPr>
            <p:cNvPr id="51" name="TextBox 51"/>
            <p:cNvSpPr txBox="1"/>
            <p:nvPr/>
          </p:nvSpPr>
          <p:spPr>
            <a:xfrm>
              <a:off x="843915" y="4458652"/>
              <a:ext cx="4933950"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ENDBR64 opcode:  F3 0F 1E FA    (encodes as REP NOP on older CPUs)</a:t>
              </a:r>
            </a:p>
          </p:txBody>
        </p:sp>
        <p:sp>
          <p:nvSpPr>
            <p:cNvPr id="52" name="TextBox 52"/>
            <p:cNvSpPr txBox="1"/>
            <p:nvPr/>
          </p:nvSpPr>
          <p:spPr>
            <a:xfrm>
              <a:off x="843915" y="4725352"/>
              <a:ext cx="3538442"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ENDBR32 opcode:  F3 0F 1E FB    (32-bit variant)</a:t>
              </a:r>
            </a:p>
          </p:txBody>
        </p:sp>
        <p:sp>
          <p:nvSpPr>
            <p:cNvPr id="53" name="TextBox 53"/>
            <p:cNvSpPr txBox="1"/>
            <p:nvPr/>
          </p:nvSpPr>
          <p:spPr>
            <a:xfrm>
              <a:off x="843915" y="5077778"/>
              <a:ext cx="2794683"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Arial"/>
                  <a:ea typeface="Microsoft YaHei"/>
                  <a:cs typeface="Arial"/>
                </a:rPr>
                <a:t>IBT is a "legacy compatible" feature:</a:t>
              </a:r>
            </a:p>
          </p:txBody>
        </p:sp>
        <p:sp>
          <p:nvSpPr>
            <p:cNvPr id="54" name="TextBox 54"/>
            <p:cNvSpPr txBox="1"/>
            <p:nvPr/>
          </p:nvSpPr>
          <p:spPr>
            <a:xfrm>
              <a:off x="844868" y="5323999"/>
              <a:ext cx="5977033" cy="198120"/>
            </a:xfrm>
            <a:prstGeom prst="rect">
              <a:avLst/>
            </a:prstGeom>
            <a:noFill/>
            <a:ln>
              <a:noFill/>
            </a:ln>
          </p:spPr>
          <p:txBody>
            <a:bodyPr wrap="none" lIns="0" tIns="0" rIns="0" bIns="0" anchor="t" anchorCtr="0">
              <a:spAutoFit/>
            </a:bodyPr>
            <a:lstStyle/>
            <a:p>
              <a:pPr algn="l"/>
              <a:r>
                <a:rPr lang="zh-CN" sz="975" dirty="0">
                  <a:solidFill>
                    <a:srgbClr val="CCCCCC"/>
                  </a:solidFill>
                  <a:latin typeface="Arial"/>
                  <a:ea typeface="Microsoft YaHei"/>
                  <a:cs typeface="Arial"/>
                </a:rPr>
                <a:t>ENDBR decodes as NOP on hardware without CET — binaries remain backward compatible</a:t>
              </a:r>
            </a:p>
          </p:txBody>
        </p:sp>
        <p:sp>
          <p:nvSpPr>
            <p:cNvPr id="55" name="TextBox 55"/>
            <p:cNvSpPr txBox="1"/>
            <p:nvPr/>
          </p:nvSpPr>
          <p:spPr>
            <a:xfrm>
              <a:off x="844868" y="5543074"/>
              <a:ext cx="4189928" cy="198120"/>
            </a:xfrm>
            <a:prstGeom prst="rect">
              <a:avLst/>
            </a:prstGeom>
            <a:noFill/>
            <a:ln>
              <a:noFill/>
            </a:ln>
          </p:spPr>
          <p:txBody>
            <a:bodyPr wrap="none" lIns="0" tIns="0" rIns="0" bIns="0" anchor="t" anchorCtr="0">
              <a:spAutoFit/>
            </a:bodyPr>
            <a:lstStyle/>
            <a:p>
              <a:pPr algn="l"/>
              <a:r>
                <a:rPr lang="zh-CN" sz="975" dirty="0">
                  <a:solidFill>
                    <a:srgbClr val="CCCCCC"/>
                  </a:solidFill>
                  <a:latin typeface="Arial"/>
                  <a:ea typeface="Microsoft YaHei"/>
                  <a:cs typeface="Arial"/>
                </a:rPr>
                <a:t>Controlled by CR4.CET and MSR_IA32_U_CET / MSR_IA32_S_CET</a:t>
              </a:r>
            </a:p>
          </p:txBody>
        </p:sp>
      </p:grpSp>
      <p:grpSp>
        <p:nvGrpSpPr>
          <p:cNvPr id="59" name="Group 59"/>
          <p:cNvGrpSpPr/>
          <p:nvPr/>
        </p:nvGrpSpPr>
        <p:grpSpPr>
          <a:xfrm>
            <a:off x="10283883" y="5886450"/>
            <a:ext cx="1441392" cy="947738"/>
            <a:chOff x="10283883" y="5886450"/>
            <a:chExt cx="1441392" cy="947738"/>
          </a:xfrm>
        </p:grpSpPr>
        <p:pic>
          <p:nvPicPr>
            <p:cNvPr id="57" name="Image 57"/>
            <p:cNvPicPr>
              <a:picLocks noChangeAspect="1"/>
            </p:cNvPicPr>
            <p:nvPr/>
          </p:nvPicPr>
          <p:blipFill>
            <a:blip r:embed="rId4"/>
            <a:stretch>
              <a:fillRect/>
            </a:stretch>
          </p:blipFill>
          <p:spPr>
            <a:xfrm>
              <a:off x="10283883" y="5886450"/>
              <a:ext cx="1158759" cy="381000"/>
            </a:xfrm>
            <a:prstGeom prst="rect">
              <a:avLst/>
            </a:prstGeom>
          </p:spPr>
        </p:pic>
        <p:sp>
          <p:nvSpPr>
            <p:cNvPr id="58" name="TextBox 58"/>
            <p:cNvSpPr txBox="1"/>
            <p:nvPr/>
          </p:nvSpPr>
          <p:spPr>
            <a:xfrm>
              <a:off x="11585734" y="6681788"/>
              <a:ext cx="139541"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05</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8102765"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The ENDBR Lifecycle — Compile, Boot, Runtime</a:t>
            </a:r>
          </a:p>
        </p:txBody>
      </p:sp>
      <p:grpSp>
        <p:nvGrpSpPr>
          <p:cNvPr id="28" name="Group 28"/>
          <p:cNvGrpSpPr/>
          <p:nvPr/>
        </p:nvGrpSpPr>
        <p:grpSpPr>
          <a:xfrm>
            <a:off x="523875" y="1285875"/>
            <a:ext cx="3524250" cy="4429125"/>
            <a:chOff x="523875" y="1285875"/>
            <a:chExt cx="3524250" cy="4429125"/>
          </a:xfrm>
        </p:grpSpPr>
        <p:sp>
          <p:nvSpPr>
            <p:cNvPr id="6" name="Rectangle 6"/>
            <p:cNvSpPr/>
            <p:nvPr/>
          </p:nvSpPr>
          <p:spPr>
            <a:xfrm>
              <a:off x="523875" y="1285875"/>
              <a:ext cx="3524250" cy="361950"/>
            </a:xfrm>
            <a:prstGeom prst="roundRect">
              <a:avLst>
                <a:gd name="adj" fmla="val 15789"/>
              </a:avLst>
            </a:prstGeom>
            <a:solidFill>
              <a:srgbClr val="0AB36E"/>
            </a:solidFill>
            <a:ln>
              <a:noFill/>
            </a:ln>
          </p:spPr>
        </p:sp>
        <p:sp>
          <p:nvSpPr>
            <p:cNvPr id="7" name="TextBox 7"/>
            <p:cNvSpPr txBox="1"/>
            <p:nvPr/>
          </p:nvSpPr>
          <p:spPr>
            <a:xfrm>
              <a:off x="1677286" y="1394460"/>
              <a:ext cx="121742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COMPILE TIME</a:t>
              </a:r>
            </a:p>
          </p:txBody>
        </p:sp>
        <p:sp>
          <p:nvSpPr>
            <p:cNvPr id="8" name="Rectangle 8"/>
            <p:cNvSpPr/>
            <p:nvPr/>
          </p:nvSpPr>
          <p:spPr>
            <a:xfrm>
              <a:off x="523875" y="1714500"/>
              <a:ext cx="3524250" cy="4000500"/>
            </a:xfrm>
            <a:prstGeom prst="roundRect">
              <a:avLst>
                <a:gd name="adj" fmla="val 2162"/>
              </a:avLst>
            </a:prstGeom>
            <a:solidFill>
              <a:srgbClr val="F0FDF9"/>
            </a:solidFill>
            <a:ln w="14288">
              <a:solidFill>
                <a:srgbClr val="0AB36E"/>
              </a:solidFill>
            </a:ln>
          </p:spPr>
        </p:sp>
        <p:sp>
          <p:nvSpPr>
            <p:cNvPr id="9" name="Rectangle 9"/>
            <p:cNvSpPr/>
            <p:nvPr/>
          </p:nvSpPr>
          <p:spPr>
            <a:xfrm>
              <a:off x="714375" y="1857375"/>
              <a:ext cx="3143250" cy="523875"/>
            </a:xfrm>
            <a:prstGeom prst="roundRect">
              <a:avLst>
                <a:gd name="adj" fmla="val 10909"/>
              </a:avLst>
            </a:prstGeom>
            <a:solidFill>
              <a:srgbClr val="FFFFFF"/>
            </a:solidFill>
            <a:ln w="9525">
              <a:solidFill>
                <a:srgbClr val="0AB36E"/>
              </a:solidFill>
            </a:ln>
          </p:spPr>
        </p:sp>
        <p:sp>
          <p:nvSpPr>
            <p:cNvPr id="10" name="TextBox 10"/>
            <p:cNvSpPr txBox="1"/>
            <p:nvPr/>
          </p:nvSpPr>
          <p:spPr>
            <a:xfrm>
              <a:off x="844868" y="1961674"/>
              <a:ext cx="2088123" cy="198120"/>
            </a:xfrm>
            <a:prstGeom prst="rect">
              <a:avLst/>
            </a:prstGeom>
            <a:noFill/>
            <a:ln>
              <a:noFill/>
            </a:ln>
          </p:spPr>
          <p:txBody>
            <a:bodyPr wrap="none" lIns="0" tIns="0" rIns="0" bIns="0" anchor="t" anchorCtr="0">
              <a:spAutoFit/>
            </a:bodyPr>
            <a:lstStyle/>
            <a:p>
              <a:pPr algn="l"/>
              <a:r>
                <a:rPr lang="zh-CN" sz="975" b="1" dirty="0">
                  <a:solidFill>
                    <a:srgbClr val="0AB36E"/>
                  </a:solidFill>
                  <a:latin typeface="Consolas"/>
                  <a:ea typeface="Microsoft YaHei"/>
                  <a:cs typeface="Consolas"/>
                </a:rPr>
                <a:t>gcc -fcf-protection=branch</a:t>
              </a:r>
            </a:p>
          </p:txBody>
        </p:sp>
        <p:sp>
          <p:nvSpPr>
            <p:cNvPr id="11" name="TextBox 11"/>
            <p:cNvSpPr txBox="1"/>
            <p:nvPr/>
          </p:nvSpPr>
          <p:spPr>
            <a:xfrm>
              <a:off x="845820" y="2160270"/>
              <a:ext cx="1955101"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ENDBR at every function entry</a:t>
              </a:r>
            </a:p>
          </p:txBody>
        </p:sp>
        <p:sp>
          <p:nvSpPr>
            <p:cNvPr id="12" name="Line 12"/>
            <p:cNvSpPr/>
            <p:nvPr/>
          </p:nvSpPr>
          <p:spPr>
            <a:xfrm>
              <a:off x="2286000" y="2381250"/>
              <a:ext cx="1" cy="238125"/>
            </a:xfrm>
            <a:prstGeom prst="line">
              <a:avLst/>
            </a:prstGeom>
            <a:noFill/>
            <a:ln w="19050">
              <a:solidFill>
                <a:srgbClr val="0AB36E"/>
              </a:solidFill>
              <a:tailEnd type="triangle" w="lg" len="lg"/>
            </a:ln>
          </p:spPr>
        </p:sp>
        <p:sp>
          <p:nvSpPr>
            <p:cNvPr id="13" name="Rectangle 13"/>
            <p:cNvSpPr/>
            <p:nvPr/>
          </p:nvSpPr>
          <p:spPr>
            <a:xfrm>
              <a:off x="904875" y="2667000"/>
              <a:ext cx="1333500" cy="266700"/>
            </a:xfrm>
            <a:prstGeom prst="roundRect">
              <a:avLst>
                <a:gd name="adj" fmla="val 14286"/>
              </a:avLst>
            </a:prstGeom>
            <a:solidFill>
              <a:srgbClr val="FEF2F2"/>
            </a:solidFill>
            <a:ln w="9525">
              <a:solidFill>
                <a:srgbClr val="EF4444"/>
              </a:solidFill>
            </a:ln>
          </p:spPr>
        </p:sp>
        <p:sp>
          <p:nvSpPr>
            <p:cNvPr id="14" name="TextBox 14"/>
            <p:cNvSpPr txBox="1"/>
            <p:nvPr/>
          </p:nvSpPr>
          <p:spPr>
            <a:xfrm>
              <a:off x="847237" y="2758916"/>
              <a:ext cx="1448776" cy="167640"/>
            </a:xfrm>
            <a:prstGeom prst="rect">
              <a:avLst/>
            </a:prstGeom>
            <a:noFill/>
            <a:ln>
              <a:noFill/>
            </a:ln>
          </p:spPr>
          <p:txBody>
            <a:bodyPr wrap="none" lIns="0" tIns="0" rIns="0" bIns="0" anchor="t" anchorCtr="0">
              <a:spAutoFit/>
            </a:bodyPr>
            <a:lstStyle/>
            <a:p>
              <a:pPr algn="ctr"/>
              <a:r>
                <a:rPr lang="zh-CN" sz="825" dirty="0">
                  <a:solidFill>
                    <a:srgbClr val="EF4444"/>
                  </a:solidFill>
                  <a:latin typeface="Arial"/>
                  <a:ea typeface="Microsoft YaHei"/>
                  <a:cs typeface="Arial"/>
                </a:rPr>
                <a:t>Too many — conservative</a:t>
              </a:r>
            </a:p>
          </p:txBody>
        </p:sp>
        <p:sp>
          <p:nvSpPr>
            <p:cNvPr id="15" name="Line 15"/>
            <p:cNvSpPr/>
            <p:nvPr/>
          </p:nvSpPr>
          <p:spPr>
            <a:xfrm>
              <a:off x="2286000" y="3000375"/>
              <a:ext cx="1" cy="238125"/>
            </a:xfrm>
            <a:prstGeom prst="line">
              <a:avLst/>
            </a:prstGeom>
            <a:noFill/>
            <a:ln w="19050">
              <a:solidFill>
                <a:srgbClr val="0AB36E"/>
              </a:solidFill>
              <a:tailEnd type="triangle" w="lg" len="lg"/>
            </a:ln>
          </p:spPr>
        </p:sp>
        <p:sp>
          <p:nvSpPr>
            <p:cNvPr id="16" name="Rectangle 16"/>
            <p:cNvSpPr/>
            <p:nvPr/>
          </p:nvSpPr>
          <p:spPr>
            <a:xfrm>
              <a:off x="714375" y="3286125"/>
              <a:ext cx="3143250" cy="857250"/>
            </a:xfrm>
            <a:prstGeom prst="roundRect">
              <a:avLst>
                <a:gd name="adj" fmla="val 6667"/>
              </a:avLst>
            </a:prstGeom>
            <a:solidFill>
              <a:srgbClr val="FFFFFF"/>
            </a:solidFill>
            <a:ln w="9525">
              <a:solidFill>
                <a:srgbClr val="0AB36E"/>
              </a:solidFill>
            </a:ln>
          </p:spPr>
        </p:sp>
        <p:sp>
          <p:nvSpPr>
            <p:cNvPr id="17" name="TextBox 17"/>
            <p:cNvSpPr txBox="1"/>
            <p:nvPr/>
          </p:nvSpPr>
          <p:spPr>
            <a:xfrm>
              <a:off x="844868" y="3390424"/>
              <a:ext cx="944305" cy="198120"/>
            </a:xfrm>
            <a:prstGeom prst="rect">
              <a:avLst/>
            </a:prstGeom>
            <a:noFill/>
            <a:ln>
              <a:noFill/>
            </a:ln>
          </p:spPr>
          <p:txBody>
            <a:bodyPr wrap="none" lIns="0" tIns="0" rIns="0" bIns="0" anchor="t" anchorCtr="0">
              <a:spAutoFit/>
            </a:bodyPr>
            <a:lstStyle/>
            <a:p>
              <a:pPr algn="l"/>
              <a:r>
                <a:rPr lang="zh-CN" sz="975" b="1" dirty="0">
                  <a:solidFill>
                    <a:srgbClr val="0AB36E"/>
                  </a:solidFill>
                  <a:latin typeface="Consolas"/>
                  <a:ea typeface="Microsoft YaHei"/>
                  <a:cs typeface="Consolas"/>
                </a:rPr>
                <a:t>objtool --ibt</a:t>
              </a:r>
            </a:p>
          </p:txBody>
        </p:sp>
        <p:sp>
          <p:nvSpPr>
            <p:cNvPr id="18" name="TextBox 18"/>
            <p:cNvSpPr txBox="1"/>
            <p:nvPr/>
          </p:nvSpPr>
          <p:spPr>
            <a:xfrm>
              <a:off x="845820" y="3589020"/>
              <a:ext cx="1849945"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Finds functions only reached</a:t>
              </a:r>
            </a:p>
          </p:txBody>
        </p:sp>
        <p:sp>
          <p:nvSpPr>
            <p:cNvPr id="19" name="TextBox 19"/>
            <p:cNvSpPr txBox="1"/>
            <p:nvPr/>
          </p:nvSpPr>
          <p:spPr>
            <a:xfrm>
              <a:off x="845820" y="3741420"/>
              <a:ext cx="936403"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by direct CALL</a:t>
              </a:r>
            </a:p>
          </p:txBody>
        </p:sp>
        <p:sp>
          <p:nvSpPr>
            <p:cNvPr id="20" name="TextBox 20"/>
            <p:cNvSpPr txBox="1"/>
            <p:nvPr/>
          </p:nvSpPr>
          <p:spPr>
            <a:xfrm>
              <a:off x="845820" y="3931920"/>
              <a:ext cx="1370171"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Records addresses in</a:t>
              </a:r>
            </a:p>
          </p:txBody>
        </p:sp>
        <p:sp>
          <p:nvSpPr>
            <p:cNvPr id="21" name="Line 21"/>
            <p:cNvSpPr/>
            <p:nvPr/>
          </p:nvSpPr>
          <p:spPr>
            <a:xfrm>
              <a:off x="2286000" y="4143375"/>
              <a:ext cx="1" cy="238125"/>
            </a:xfrm>
            <a:prstGeom prst="line">
              <a:avLst/>
            </a:prstGeom>
            <a:noFill/>
            <a:ln w="19050">
              <a:solidFill>
                <a:srgbClr val="0AB36E"/>
              </a:solidFill>
              <a:tailEnd type="triangle" w="lg" len="lg"/>
            </a:ln>
          </p:spPr>
        </p:sp>
        <p:sp>
          <p:nvSpPr>
            <p:cNvPr id="22" name="Rectangle 22"/>
            <p:cNvSpPr/>
            <p:nvPr/>
          </p:nvSpPr>
          <p:spPr>
            <a:xfrm>
              <a:off x="904875" y="4429125"/>
              <a:ext cx="2190750" cy="285750"/>
            </a:xfrm>
            <a:prstGeom prst="roundRect">
              <a:avLst>
                <a:gd name="adj" fmla="val 13333"/>
              </a:avLst>
            </a:prstGeom>
            <a:solidFill>
              <a:srgbClr val="1E293B"/>
            </a:solidFill>
            <a:ln>
              <a:noFill/>
            </a:ln>
          </p:spPr>
        </p:sp>
        <p:sp>
          <p:nvSpPr>
            <p:cNvPr id="23" name="TextBox 23"/>
            <p:cNvSpPr txBox="1"/>
            <p:nvPr/>
          </p:nvSpPr>
          <p:spPr>
            <a:xfrm>
              <a:off x="1479471" y="4522470"/>
              <a:ext cx="1041559" cy="182880"/>
            </a:xfrm>
            <a:prstGeom prst="rect">
              <a:avLst/>
            </a:prstGeom>
            <a:noFill/>
            <a:ln>
              <a:noFill/>
            </a:ln>
          </p:spPr>
          <p:txBody>
            <a:bodyPr wrap="none" lIns="0" tIns="0" rIns="0" bIns="0" anchor="t" anchorCtr="0">
              <a:spAutoFit/>
            </a:bodyPr>
            <a:lstStyle/>
            <a:p>
              <a:pPr algn="ctr"/>
              <a:r>
                <a:rPr lang="zh-CN" sz="900" dirty="0">
                  <a:solidFill>
                    <a:srgbClr val="0AB36E"/>
                  </a:solidFill>
                  <a:latin typeface="Consolas"/>
                  <a:ea typeface="Microsoft YaHei"/>
                  <a:cs typeface="Consolas"/>
                </a:rPr>
                <a:t>.ibt_endbr_seal</a:t>
              </a:r>
            </a:p>
          </p:txBody>
        </p:sp>
        <p:sp>
          <p:nvSpPr>
            <p:cNvPr id="24" name="Line 24"/>
            <p:cNvSpPr/>
            <p:nvPr/>
          </p:nvSpPr>
          <p:spPr>
            <a:xfrm>
              <a:off x="2286000" y="4762500"/>
              <a:ext cx="1" cy="238125"/>
            </a:xfrm>
            <a:prstGeom prst="line">
              <a:avLst/>
            </a:prstGeom>
            <a:noFill/>
            <a:ln w="19050">
              <a:solidFill>
                <a:srgbClr val="0AB36E"/>
              </a:solidFill>
              <a:tailEnd type="triangle" w="lg" len="lg"/>
            </a:ln>
          </p:spPr>
        </p:sp>
        <p:sp>
          <p:nvSpPr>
            <p:cNvPr id="25" name="Rectangle 25"/>
            <p:cNvSpPr/>
            <p:nvPr/>
          </p:nvSpPr>
          <p:spPr>
            <a:xfrm>
              <a:off x="714375" y="5048250"/>
              <a:ext cx="3143250" cy="523875"/>
            </a:xfrm>
            <a:prstGeom prst="roundRect">
              <a:avLst>
                <a:gd name="adj" fmla="val 10909"/>
              </a:avLst>
            </a:prstGeom>
            <a:solidFill>
              <a:srgbClr val="0AB36E">
                <a:alpha val="10000"/>
              </a:srgbClr>
            </a:solidFill>
            <a:ln>
              <a:noFill/>
            </a:ln>
          </p:spPr>
        </p:sp>
        <p:sp>
          <p:nvSpPr>
            <p:cNvPr id="26" name="TextBox 26"/>
            <p:cNvSpPr txBox="1"/>
            <p:nvPr/>
          </p:nvSpPr>
          <p:spPr>
            <a:xfrm>
              <a:off x="1552190" y="5162074"/>
              <a:ext cx="1467620" cy="198120"/>
            </a:xfrm>
            <a:prstGeom prst="rect">
              <a:avLst/>
            </a:prstGeom>
            <a:noFill/>
            <a:ln>
              <a:noFill/>
            </a:ln>
          </p:spPr>
          <p:txBody>
            <a:bodyPr wrap="none" lIns="0" tIns="0" rIns="0" bIns="0" anchor="t" anchorCtr="0">
              <a:spAutoFit/>
            </a:bodyPr>
            <a:lstStyle/>
            <a:p>
              <a:pPr algn="ctr"/>
              <a:r>
                <a:rPr lang="zh-CN" sz="975" b="1" dirty="0">
                  <a:solidFill>
                    <a:srgbClr val="0AB36E"/>
                  </a:solidFill>
                  <a:latin typeface="Arial"/>
                  <a:ea typeface="Microsoft YaHei"/>
                  <a:cs typeface="Arial"/>
                </a:rPr>
                <a:t>Fewer valid targets</a:t>
              </a:r>
            </a:p>
          </p:txBody>
        </p:sp>
        <p:sp>
          <p:nvSpPr>
            <p:cNvPr id="27" name="TextBox 27"/>
            <p:cNvSpPr txBox="1"/>
            <p:nvPr/>
          </p:nvSpPr>
          <p:spPr>
            <a:xfrm>
              <a:off x="1603784" y="5368766"/>
              <a:ext cx="1364432" cy="167640"/>
            </a:xfrm>
            <a:prstGeom prst="rect">
              <a:avLst/>
            </a:prstGeom>
            <a:noFill/>
            <a:ln>
              <a:noFill/>
            </a:ln>
          </p:spPr>
          <p:txBody>
            <a:bodyPr wrap="none" lIns="0" tIns="0" rIns="0" bIns="0" anchor="t" anchorCtr="0">
              <a:spAutoFit/>
            </a:bodyPr>
            <a:lstStyle/>
            <a:p>
              <a:pPr algn="ctr"/>
              <a:r>
                <a:rPr lang="zh-CN" sz="825" dirty="0">
                  <a:solidFill>
                    <a:srgbClr val="333333"/>
                  </a:solidFill>
                  <a:latin typeface="Arial"/>
                  <a:ea typeface="Microsoft YaHei"/>
                  <a:cs typeface="Arial"/>
                </a:rPr>
                <a:t>identified at build time</a:t>
              </a:r>
            </a:p>
          </p:txBody>
        </p:sp>
      </p:grpSp>
      <p:grpSp>
        <p:nvGrpSpPr>
          <p:cNvPr id="51" name="Group 51"/>
          <p:cNvGrpSpPr/>
          <p:nvPr/>
        </p:nvGrpSpPr>
        <p:grpSpPr>
          <a:xfrm>
            <a:off x="4333875" y="1285875"/>
            <a:ext cx="3524250" cy="4429125"/>
            <a:chOff x="4333875" y="1285875"/>
            <a:chExt cx="3524250" cy="4429125"/>
          </a:xfrm>
        </p:grpSpPr>
        <p:sp>
          <p:nvSpPr>
            <p:cNvPr id="29" name="Rectangle 29"/>
            <p:cNvSpPr/>
            <p:nvPr/>
          </p:nvSpPr>
          <p:spPr>
            <a:xfrm>
              <a:off x="4333875" y="1285875"/>
              <a:ext cx="3524250" cy="361950"/>
            </a:xfrm>
            <a:prstGeom prst="roundRect">
              <a:avLst>
                <a:gd name="adj" fmla="val 15789"/>
              </a:avLst>
            </a:prstGeom>
            <a:solidFill>
              <a:srgbClr val="AF00C0"/>
            </a:solidFill>
            <a:ln>
              <a:noFill/>
            </a:ln>
          </p:spPr>
        </p:sp>
        <p:sp>
          <p:nvSpPr>
            <p:cNvPr id="30" name="TextBox 30"/>
            <p:cNvSpPr txBox="1"/>
            <p:nvPr/>
          </p:nvSpPr>
          <p:spPr>
            <a:xfrm>
              <a:off x="5616102" y="1394460"/>
              <a:ext cx="95979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BOOT TIME</a:t>
              </a:r>
            </a:p>
          </p:txBody>
        </p:sp>
        <p:sp>
          <p:nvSpPr>
            <p:cNvPr id="31" name="Rectangle 31"/>
            <p:cNvSpPr/>
            <p:nvPr/>
          </p:nvSpPr>
          <p:spPr>
            <a:xfrm>
              <a:off x="4333875" y="1714500"/>
              <a:ext cx="3524250" cy="4000500"/>
            </a:xfrm>
            <a:prstGeom prst="roundRect">
              <a:avLst>
                <a:gd name="adj" fmla="val 2162"/>
              </a:avLst>
            </a:prstGeom>
            <a:solidFill>
              <a:srgbClr val="FAF5FF"/>
            </a:solidFill>
            <a:ln w="14288">
              <a:solidFill>
                <a:srgbClr val="AF00C0"/>
              </a:solidFill>
            </a:ln>
          </p:spPr>
        </p:sp>
        <p:sp>
          <p:nvSpPr>
            <p:cNvPr id="32" name="Rectangle 32"/>
            <p:cNvSpPr/>
            <p:nvPr/>
          </p:nvSpPr>
          <p:spPr>
            <a:xfrm>
              <a:off x="4524375" y="1857375"/>
              <a:ext cx="3143250" cy="381000"/>
            </a:xfrm>
            <a:prstGeom prst="roundRect">
              <a:avLst>
                <a:gd name="adj" fmla="val 15000"/>
              </a:avLst>
            </a:prstGeom>
            <a:solidFill>
              <a:srgbClr val="FFFFFF"/>
            </a:solidFill>
            <a:ln w="9525">
              <a:solidFill>
                <a:srgbClr val="AF00C0"/>
              </a:solidFill>
            </a:ln>
          </p:spPr>
        </p:sp>
        <p:sp>
          <p:nvSpPr>
            <p:cNvPr id="33" name="TextBox 33"/>
            <p:cNvSpPr txBox="1"/>
            <p:nvPr/>
          </p:nvSpPr>
          <p:spPr>
            <a:xfrm>
              <a:off x="4654868" y="1990249"/>
              <a:ext cx="1430241" cy="198120"/>
            </a:xfrm>
            <a:prstGeom prst="rect">
              <a:avLst/>
            </a:prstGeom>
            <a:noFill/>
            <a:ln>
              <a:noFill/>
            </a:ln>
          </p:spPr>
          <p:txBody>
            <a:bodyPr wrap="none" lIns="0" tIns="0" rIns="0" bIns="0" anchor="t" anchorCtr="0">
              <a:spAutoFit/>
            </a:bodyPr>
            <a:lstStyle/>
            <a:p>
              <a:pPr algn="l"/>
              <a:r>
                <a:rPr lang="zh-CN" sz="975" b="1" dirty="0">
                  <a:solidFill>
                    <a:srgbClr val="AF00C0"/>
                  </a:solidFill>
                  <a:latin typeface="Consolas"/>
                  <a:ea typeface="Microsoft YaHei"/>
                  <a:cs typeface="Consolas"/>
                </a:rPr>
                <a:t>apply_seal_endbr()</a:t>
              </a:r>
            </a:p>
          </p:txBody>
        </p:sp>
        <p:sp>
          <p:nvSpPr>
            <p:cNvPr id="34" name="Line 34"/>
            <p:cNvSpPr/>
            <p:nvPr/>
          </p:nvSpPr>
          <p:spPr>
            <a:xfrm>
              <a:off x="6096000" y="2238375"/>
              <a:ext cx="1" cy="238125"/>
            </a:xfrm>
            <a:prstGeom prst="line">
              <a:avLst/>
            </a:prstGeom>
            <a:noFill/>
            <a:ln w="19050">
              <a:solidFill>
                <a:srgbClr val="AF00C0"/>
              </a:solidFill>
              <a:tailEnd type="triangle" w="lg" len="lg"/>
            </a:ln>
          </p:spPr>
        </p:sp>
        <p:sp>
          <p:nvSpPr>
            <p:cNvPr id="35" name="Rectangle 35"/>
            <p:cNvSpPr/>
            <p:nvPr/>
          </p:nvSpPr>
          <p:spPr>
            <a:xfrm>
              <a:off x="4524375" y="2524125"/>
              <a:ext cx="3143250" cy="523875"/>
            </a:xfrm>
            <a:prstGeom prst="roundRect">
              <a:avLst>
                <a:gd name="adj" fmla="val 10909"/>
              </a:avLst>
            </a:prstGeom>
            <a:solidFill>
              <a:srgbClr val="FFFFFF"/>
            </a:solidFill>
            <a:ln w="9525">
              <a:solidFill>
                <a:srgbClr val="AF00C0"/>
              </a:solidFill>
            </a:ln>
          </p:spPr>
        </p:sp>
        <p:sp>
          <p:nvSpPr>
            <p:cNvPr id="36" name="TextBox 36"/>
            <p:cNvSpPr txBox="1"/>
            <p:nvPr/>
          </p:nvSpPr>
          <p:spPr>
            <a:xfrm>
              <a:off x="4655820" y="2617470"/>
              <a:ext cx="1048131"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For each addr in</a:t>
              </a:r>
            </a:p>
          </p:txBody>
        </p:sp>
        <p:sp>
          <p:nvSpPr>
            <p:cNvPr id="37" name="TextBox 37"/>
            <p:cNvSpPr txBox="1"/>
            <p:nvPr/>
          </p:nvSpPr>
          <p:spPr>
            <a:xfrm>
              <a:off x="4655820" y="2807970"/>
              <a:ext cx="1113853" cy="182880"/>
            </a:xfrm>
            <a:prstGeom prst="rect">
              <a:avLst/>
            </a:prstGeom>
            <a:noFill/>
            <a:ln>
              <a:noFill/>
            </a:ln>
          </p:spPr>
          <p:txBody>
            <a:bodyPr wrap="none" lIns="0" tIns="0" rIns="0" bIns="0" anchor="t" anchorCtr="0">
              <a:spAutoFit/>
            </a:bodyPr>
            <a:lstStyle/>
            <a:p>
              <a:pPr algn="l"/>
              <a:r>
                <a:rPr lang="zh-CN" sz="900" dirty="0">
                  <a:solidFill>
                    <a:srgbClr val="AF00C0"/>
                  </a:solidFill>
                  <a:latin typeface="Consolas"/>
                  <a:ea typeface="Microsoft YaHei"/>
                  <a:cs typeface="Consolas"/>
                </a:rPr>
                <a:t>.ibt_endbr_seal:</a:t>
              </a:r>
            </a:p>
          </p:txBody>
        </p:sp>
        <p:sp>
          <p:nvSpPr>
            <p:cNvPr id="38" name="Line 38"/>
            <p:cNvSpPr/>
            <p:nvPr/>
          </p:nvSpPr>
          <p:spPr>
            <a:xfrm>
              <a:off x="6096000" y="3048000"/>
              <a:ext cx="1" cy="238125"/>
            </a:xfrm>
            <a:prstGeom prst="line">
              <a:avLst/>
            </a:prstGeom>
            <a:noFill/>
            <a:ln w="19050">
              <a:solidFill>
                <a:srgbClr val="AF00C0"/>
              </a:solidFill>
              <a:tailEnd type="triangle" w="lg" len="lg"/>
            </a:ln>
          </p:spPr>
        </p:sp>
        <p:sp>
          <p:nvSpPr>
            <p:cNvPr id="39" name="Rectangle 39"/>
            <p:cNvSpPr/>
            <p:nvPr/>
          </p:nvSpPr>
          <p:spPr>
            <a:xfrm>
              <a:off x="4524375" y="3333750"/>
              <a:ext cx="3143250" cy="523875"/>
            </a:xfrm>
            <a:prstGeom prst="roundRect">
              <a:avLst>
                <a:gd name="adj" fmla="val 10909"/>
              </a:avLst>
            </a:prstGeom>
            <a:solidFill>
              <a:srgbClr val="FFFFFF"/>
            </a:solidFill>
            <a:ln w="9525">
              <a:solidFill>
                <a:srgbClr val="AF00C0"/>
              </a:solidFill>
            </a:ln>
          </p:spPr>
        </p:sp>
        <p:sp>
          <p:nvSpPr>
            <p:cNvPr id="40" name="TextBox 40"/>
            <p:cNvSpPr txBox="1"/>
            <p:nvPr/>
          </p:nvSpPr>
          <p:spPr>
            <a:xfrm>
              <a:off x="4655820" y="3446145"/>
              <a:ext cx="1074420" cy="182880"/>
            </a:xfrm>
            <a:prstGeom prst="rect">
              <a:avLst/>
            </a:prstGeom>
            <a:noFill/>
            <a:ln>
              <a:noFill/>
            </a:ln>
          </p:spPr>
          <p:txBody>
            <a:bodyPr wrap="none" lIns="0" tIns="0" rIns="0" bIns="0" anchor="t" anchorCtr="0">
              <a:spAutoFit/>
            </a:bodyPr>
            <a:lstStyle/>
            <a:p>
              <a:pPr algn="l"/>
              <a:r>
                <a:rPr lang="zh-CN" sz="900" dirty="0">
                  <a:solidFill>
                    <a:srgbClr val="AF00C0"/>
                  </a:solidFill>
                  <a:latin typeface="Consolas"/>
                  <a:ea typeface="Microsoft YaHei"/>
                  <a:cs typeface="Consolas"/>
                </a:rPr>
                <a:t>is_endbr(addr)?</a:t>
              </a:r>
            </a:p>
          </p:txBody>
        </p:sp>
        <p:sp>
          <p:nvSpPr>
            <p:cNvPr id="41" name="TextBox 41"/>
            <p:cNvSpPr txBox="1"/>
            <p:nvPr/>
          </p:nvSpPr>
          <p:spPr>
            <a:xfrm>
              <a:off x="4655820" y="3636645"/>
              <a:ext cx="1771078"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uses gen_endbr() to verify</a:t>
              </a:r>
            </a:p>
          </p:txBody>
        </p:sp>
        <p:sp>
          <p:nvSpPr>
            <p:cNvPr id="42" name="Line 42"/>
            <p:cNvSpPr/>
            <p:nvPr/>
          </p:nvSpPr>
          <p:spPr>
            <a:xfrm>
              <a:off x="6096000" y="3857625"/>
              <a:ext cx="1" cy="238125"/>
            </a:xfrm>
            <a:prstGeom prst="line">
              <a:avLst/>
            </a:prstGeom>
            <a:noFill/>
            <a:ln w="19050">
              <a:solidFill>
                <a:srgbClr val="AF00C0"/>
              </a:solidFill>
              <a:tailEnd type="triangle" w="lg" len="lg"/>
            </a:ln>
          </p:spPr>
        </p:sp>
        <p:sp>
          <p:nvSpPr>
            <p:cNvPr id="43" name="Rectangle 43"/>
            <p:cNvSpPr/>
            <p:nvPr/>
          </p:nvSpPr>
          <p:spPr>
            <a:xfrm>
              <a:off x="4524375" y="4143375"/>
              <a:ext cx="3143250" cy="523875"/>
            </a:xfrm>
            <a:prstGeom prst="roundRect">
              <a:avLst>
                <a:gd name="adj" fmla="val 10909"/>
              </a:avLst>
            </a:prstGeom>
            <a:solidFill>
              <a:srgbClr val="FFFFFF"/>
            </a:solidFill>
            <a:ln w="9525">
              <a:solidFill>
                <a:srgbClr val="AF00C0"/>
              </a:solidFill>
            </a:ln>
          </p:spPr>
        </p:sp>
        <p:sp>
          <p:nvSpPr>
            <p:cNvPr id="44" name="TextBox 44"/>
            <p:cNvSpPr txBox="1"/>
            <p:nvPr/>
          </p:nvSpPr>
          <p:spPr>
            <a:xfrm>
              <a:off x="4655820" y="4236720"/>
              <a:ext cx="1219009" cy="182880"/>
            </a:xfrm>
            <a:prstGeom prst="rect">
              <a:avLst/>
            </a:prstGeom>
            <a:noFill/>
            <a:ln>
              <a:noFill/>
            </a:ln>
          </p:spPr>
          <p:txBody>
            <a:bodyPr wrap="none" lIns="0" tIns="0" rIns="0" bIns="0" anchor="t" anchorCtr="0">
              <a:spAutoFit/>
            </a:bodyPr>
            <a:lstStyle/>
            <a:p>
              <a:pPr algn="l"/>
              <a:r>
                <a:rPr lang="zh-CN" sz="900" dirty="0">
                  <a:solidFill>
                    <a:srgbClr val="AF00C0"/>
                  </a:solidFill>
                  <a:latin typeface="Consolas"/>
                  <a:ea typeface="Microsoft YaHei"/>
                  <a:cs typeface="Consolas"/>
                </a:rPr>
                <a:t>text_poke_early()</a:t>
              </a:r>
            </a:p>
          </p:txBody>
        </p:sp>
        <p:sp>
          <p:nvSpPr>
            <p:cNvPr id="45" name="TextBox 45"/>
            <p:cNvSpPr txBox="1"/>
            <p:nvPr/>
          </p:nvSpPr>
          <p:spPr>
            <a:xfrm>
              <a:off x="4655820" y="4427220"/>
              <a:ext cx="2198275"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replaces with gen_endbr_poison()</a:t>
              </a:r>
            </a:p>
          </p:txBody>
        </p:sp>
        <p:sp>
          <p:nvSpPr>
            <p:cNvPr id="46" name="Line 46"/>
            <p:cNvSpPr/>
            <p:nvPr/>
          </p:nvSpPr>
          <p:spPr>
            <a:xfrm>
              <a:off x="6096000" y="4667250"/>
              <a:ext cx="1" cy="238125"/>
            </a:xfrm>
            <a:prstGeom prst="line">
              <a:avLst/>
            </a:prstGeom>
            <a:noFill/>
            <a:ln w="19050">
              <a:solidFill>
                <a:srgbClr val="AF00C0"/>
              </a:solidFill>
              <a:tailEnd type="triangle" w="lg" len="lg"/>
            </a:ln>
          </p:spPr>
        </p:sp>
        <p:sp>
          <p:nvSpPr>
            <p:cNvPr id="47" name="Rectangle 47"/>
            <p:cNvSpPr/>
            <p:nvPr/>
          </p:nvSpPr>
          <p:spPr>
            <a:xfrm>
              <a:off x="4714875" y="4933950"/>
              <a:ext cx="2190750" cy="285750"/>
            </a:xfrm>
            <a:prstGeom prst="roundRect">
              <a:avLst>
                <a:gd name="adj" fmla="val 13333"/>
              </a:avLst>
            </a:prstGeom>
            <a:solidFill>
              <a:srgbClr val="1E293B"/>
            </a:solidFill>
            <a:ln>
              <a:noFill/>
            </a:ln>
          </p:spPr>
        </p:sp>
        <p:sp>
          <p:nvSpPr>
            <p:cNvPr id="48" name="TextBox 48"/>
            <p:cNvSpPr txBox="1"/>
            <p:nvPr/>
          </p:nvSpPr>
          <p:spPr>
            <a:xfrm>
              <a:off x="5453777" y="5027295"/>
              <a:ext cx="712946" cy="182880"/>
            </a:xfrm>
            <a:prstGeom prst="rect">
              <a:avLst/>
            </a:prstGeom>
            <a:noFill/>
            <a:ln>
              <a:noFill/>
            </a:ln>
          </p:spPr>
          <p:txBody>
            <a:bodyPr wrap="none" lIns="0" tIns="0" rIns="0" bIns="0" anchor="t" anchorCtr="0">
              <a:spAutoFit/>
            </a:bodyPr>
            <a:lstStyle/>
            <a:p>
              <a:pPr algn="ctr"/>
              <a:r>
                <a:rPr lang="zh-CN" sz="900" dirty="0">
                  <a:solidFill>
                    <a:srgbClr val="F79646"/>
                  </a:solidFill>
                  <a:latin typeface="Consolas"/>
                  <a:ea typeface="Microsoft YaHei"/>
                  <a:cs typeface="Consolas"/>
                </a:rPr>
                <a:t>0xd6401f0f</a:t>
              </a:r>
            </a:p>
          </p:txBody>
        </p:sp>
        <p:sp>
          <p:nvSpPr>
            <p:cNvPr id="49" name="Rectangle 49"/>
            <p:cNvSpPr/>
            <p:nvPr/>
          </p:nvSpPr>
          <p:spPr>
            <a:xfrm>
              <a:off x="4524375" y="5334000"/>
              <a:ext cx="3143250" cy="266700"/>
            </a:xfrm>
            <a:prstGeom prst="roundRect">
              <a:avLst>
                <a:gd name="adj" fmla="val 21429"/>
              </a:avLst>
            </a:prstGeom>
            <a:solidFill>
              <a:srgbClr val="AF00C0">
                <a:alpha val="10000"/>
              </a:srgbClr>
            </a:solidFill>
            <a:ln>
              <a:noFill/>
            </a:ln>
          </p:spPr>
        </p:sp>
        <p:sp>
          <p:nvSpPr>
            <p:cNvPr id="50" name="TextBox 50"/>
            <p:cNvSpPr txBox="1"/>
            <p:nvPr/>
          </p:nvSpPr>
          <p:spPr>
            <a:xfrm>
              <a:off x="5025773" y="5409724"/>
              <a:ext cx="2140454" cy="198120"/>
            </a:xfrm>
            <a:prstGeom prst="rect">
              <a:avLst/>
            </a:prstGeom>
            <a:noFill/>
            <a:ln>
              <a:noFill/>
            </a:ln>
          </p:spPr>
          <p:txBody>
            <a:bodyPr wrap="none" lIns="0" tIns="0" rIns="0" bIns="0" anchor="t" anchorCtr="0">
              <a:spAutoFit/>
            </a:bodyPr>
            <a:lstStyle/>
            <a:p>
              <a:pPr algn="ctr"/>
              <a:r>
                <a:rPr lang="zh-CN" sz="975" b="1" dirty="0">
                  <a:solidFill>
                    <a:srgbClr val="AF00C0"/>
                  </a:solidFill>
                  <a:latin typeface="Arial"/>
                  <a:ea typeface="Microsoft YaHei"/>
                  <a:cs typeface="Arial"/>
                </a:rPr>
                <a:t>Sealed: jump here = #CP fault</a:t>
              </a:r>
            </a:p>
          </p:txBody>
        </p:sp>
      </p:grpSp>
      <p:grpSp>
        <p:nvGrpSpPr>
          <p:cNvPr id="75" name="Group 75"/>
          <p:cNvGrpSpPr/>
          <p:nvPr/>
        </p:nvGrpSpPr>
        <p:grpSpPr>
          <a:xfrm>
            <a:off x="8143875" y="1285875"/>
            <a:ext cx="3524250" cy="4429125"/>
            <a:chOff x="8143875" y="1285875"/>
            <a:chExt cx="3524250" cy="4429125"/>
          </a:xfrm>
        </p:grpSpPr>
        <p:sp>
          <p:nvSpPr>
            <p:cNvPr id="52" name="Rectangle 52"/>
            <p:cNvSpPr/>
            <p:nvPr/>
          </p:nvSpPr>
          <p:spPr>
            <a:xfrm>
              <a:off x="8143875" y="1285875"/>
              <a:ext cx="3524250" cy="361950"/>
            </a:xfrm>
            <a:prstGeom prst="roundRect">
              <a:avLst>
                <a:gd name="adj" fmla="val 15789"/>
              </a:avLst>
            </a:prstGeom>
            <a:solidFill>
              <a:srgbClr val="1E293B"/>
            </a:solidFill>
            <a:ln>
              <a:noFill/>
            </a:ln>
          </p:spPr>
        </p:sp>
        <p:sp>
          <p:nvSpPr>
            <p:cNvPr id="53" name="TextBox 53"/>
            <p:cNvSpPr txBox="1"/>
            <p:nvPr/>
          </p:nvSpPr>
          <p:spPr>
            <a:xfrm>
              <a:off x="9541116" y="1394460"/>
              <a:ext cx="72976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RUNTIME</a:t>
              </a:r>
            </a:p>
          </p:txBody>
        </p:sp>
        <p:sp>
          <p:nvSpPr>
            <p:cNvPr id="54" name="Rectangle 54"/>
            <p:cNvSpPr/>
            <p:nvPr/>
          </p:nvSpPr>
          <p:spPr>
            <a:xfrm>
              <a:off x="8143875" y="1714500"/>
              <a:ext cx="3524250" cy="4000500"/>
            </a:xfrm>
            <a:prstGeom prst="roundRect">
              <a:avLst>
                <a:gd name="adj" fmla="val 2162"/>
              </a:avLst>
            </a:prstGeom>
            <a:solidFill>
              <a:srgbClr val="F8FAFC"/>
            </a:solidFill>
            <a:ln w="14288">
              <a:solidFill>
                <a:srgbClr val="1E293B"/>
              </a:solidFill>
            </a:ln>
          </p:spPr>
        </p:sp>
        <p:sp>
          <p:nvSpPr>
            <p:cNvPr id="55" name="Rectangle 55"/>
            <p:cNvSpPr/>
            <p:nvPr/>
          </p:nvSpPr>
          <p:spPr>
            <a:xfrm>
              <a:off x="8334375" y="1857375"/>
              <a:ext cx="3143250" cy="381000"/>
            </a:xfrm>
            <a:prstGeom prst="roundRect">
              <a:avLst>
                <a:gd name="adj" fmla="val 15000"/>
              </a:avLst>
            </a:prstGeom>
            <a:solidFill>
              <a:srgbClr val="FFFFFF"/>
            </a:solidFill>
            <a:ln w="9525">
              <a:solidFill>
                <a:srgbClr val="1E293B"/>
              </a:solidFill>
            </a:ln>
          </p:spPr>
        </p:sp>
        <p:sp>
          <p:nvSpPr>
            <p:cNvPr id="56" name="TextBox 56"/>
            <p:cNvSpPr txBox="1"/>
            <p:nvPr/>
          </p:nvSpPr>
          <p:spPr>
            <a:xfrm>
              <a:off x="8464868" y="1990249"/>
              <a:ext cx="1490048" cy="198120"/>
            </a:xfrm>
            <a:prstGeom prst="rect">
              <a:avLst/>
            </a:prstGeom>
            <a:noFill/>
            <a:ln>
              <a:noFill/>
            </a:ln>
          </p:spPr>
          <p:txBody>
            <a:bodyPr wrap="none" lIns="0" tIns="0" rIns="0" bIns="0" anchor="t" anchorCtr="0">
              <a:spAutoFit/>
            </a:bodyPr>
            <a:lstStyle/>
            <a:p>
              <a:pPr algn="l"/>
              <a:r>
                <a:rPr lang="zh-CN" sz="975" b="1" dirty="0">
                  <a:solidFill>
                    <a:srgbClr val="1E293B"/>
                  </a:solidFill>
                  <a:latin typeface="Consolas"/>
                  <a:ea typeface="Microsoft YaHei"/>
                  <a:cs typeface="Consolas"/>
                </a:rPr>
                <a:t>BPF JIT / V8 / LuaJIT</a:t>
              </a:r>
            </a:p>
          </p:txBody>
        </p:sp>
        <p:sp>
          <p:nvSpPr>
            <p:cNvPr id="57" name="Line 57"/>
            <p:cNvSpPr/>
            <p:nvPr/>
          </p:nvSpPr>
          <p:spPr>
            <a:xfrm>
              <a:off x="9906000" y="2238375"/>
              <a:ext cx="9525" cy="333375"/>
            </a:xfrm>
            <a:custGeom>
              <a:avLst/>
              <a:gdLst/>
              <a:ahLst/>
              <a:cxnLst/>
              <a:rect l="l" t="t" r="r" b="b"/>
              <a:pathLst>
                <a:path w="9525" h="333375">
                  <a:moveTo>
                    <a:pt x="0" y="0"/>
                  </a:moveTo>
                  <a:lnTo>
                    <a:pt x="0" y="333375"/>
                  </a:lnTo>
                </a:path>
              </a:pathLst>
            </a:custGeom>
            <a:noFill/>
            <a:ln w="19050">
              <a:solidFill>
                <a:srgbClr val="1E293B"/>
              </a:solidFill>
            </a:ln>
          </p:spPr>
        </p:sp>
        <p:sp>
          <p:nvSpPr>
            <p:cNvPr id="58" name="Polygon 58"/>
            <p:cNvSpPr/>
            <p:nvPr/>
          </p:nvSpPr>
          <p:spPr>
            <a:xfrm>
              <a:off x="9867900" y="2552700"/>
              <a:ext cx="76200" cy="95250"/>
            </a:xfrm>
            <a:custGeom>
              <a:avLst/>
              <a:gdLst/>
              <a:ahLst/>
              <a:cxnLst/>
              <a:rect l="l" t="t" r="r" b="b"/>
              <a:pathLst>
                <a:path w="76200" h="95250">
                  <a:moveTo>
                    <a:pt x="0" y="0"/>
                  </a:moveTo>
                  <a:lnTo>
                    <a:pt x="38100" y="95250"/>
                  </a:lnTo>
                  <a:lnTo>
                    <a:pt x="76200" y="0"/>
                  </a:lnTo>
                  <a:close/>
                </a:path>
              </a:pathLst>
            </a:custGeom>
            <a:solidFill>
              <a:srgbClr val="1E293B"/>
            </a:solidFill>
            <a:ln>
              <a:noFill/>
            </a:ln>
          </p:spPr>
        </p:sp>
        <p:sp>
          <p:nvSpPr>
            <p:cNvPr id="59" name="Rectangle 59"/>
            <p:cNvSpPr/>
            <p:nvPr/>
          </p:nvSpPr>
          <p:spPr>
            <a:xfrm>
              <a:off x="8334375" y="2695575"/>
              <a:ext cx="3143250" cy="523875"/>
            </a:xfrm>
            <a:prstGeom prst="roundRect">
              <a:avLst>
                <a:gd name="adj" fmla="val 10909"/>
              </a:avLst>
            </a:prstGeom>
            <a:solidFill>
              <a:srgbClr val="FFFFFF"/>
            </a:solidFill>
            <a:ln w="9525">
              <a:solidFill>
                <a:srgbClr val="0AB36E"/>
              </a:solidFill>
            </a:ln>
          </p:spPr>
        </p:sp>
        <p:sp>
          <p:nvSpPr>
            <p:cNvPr id="60" name="TextBox 60"/>
            <p:cNvSpPr txBox="1"/>
            <p:nvPr/>
          </p:nvSpPr>
          <p:spPr>
            <a:xfrm>
              <a:off x="8465820" y="2807970"/>
              <a:ext cx="883825" cy="182880"/>
            </a:xfrm>
            <a:prstGeom prst="rect">
              <a:avLst/>
            </a:prstGeom>
            <a:noFill/>
            <a:ln>
              <a:noFill/>
            </a:ln>
          </p:spPr>
          <p:txBody>
            <a:bodyPr wrap="none" lIns="0" tIns="0" rIns="0" bIns="0" anchor="t" anchorCtr="0">
              <a:spAutoFit/>
            </a:bodyPr>
            <a:lstStyle/>
            <a:p>
              <a:pPr algn="l"/>
              <a:r>
                <a:rPr lang="zh-CN" sz="900" dirty="0">
                  <a:solidFill>
                    <a:srgbClr val="0AB36E"/>
                  </a:solidFill>
                  <a:latin typeface="Consolas"/>
                  <a:ea typeface="Microsoft YaHei"/>
                  <a:cs typeface="Consolas"/>
                </a:rPr>
                <a:t>EMIT_ENDBR()</a:t>
              </a:r>
            </a:p>
          </p:txBody>
        </p:sp>
        <p:sp>
          <p:nvSpPr>
            <p:cNvPr id="61" name="TextBox 61"/>
            <p:cNvSpPr txBox="1"/>
            <p:nvPr/>
          </p:nvSpPr>
          <p:spPr>
            <a:xfrm>
              <a:off x="8465820" y="2998470"/>
              <a:ext cx="1541050"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 EMIT(gen_endbr(), 4)</a:t>
              </a:r>
            </a:p>
          </p:txBody>
        </p:sp>
        <p:sp>
          <p:nvSpPr>
            <p:cNvPr id="62" name="Line 62"/>
            <p:cNvSpPr/>
            <p:nvPr/>
          </p:nvSpPr>
          <p:spPr>
            <a:xfrm>
              <a:off x="9906000" y="3219450"/>
              <a:ext cx="9525" cy="333375"/>
            </a:xfrm>
            <a:custGeom>
              <a:avLst/>
              <a:gdLst/>
              <a:ahLst/>
              <a:cxnLst/>
              <a:rect l="l" t="t" r="r" b="b"/>
              <a:pathLst>
                <a:path w="9525" h="333375">
                  <a:moveTo>
                    <a:pt x="0" y="0"/>
                  </a:moveTo>
                  <a:lnTo>
                    <a:pt x="0" y="333375"/>
                  </a:lnTo>
                </a:path>
              </a:pathLst>
            </a:custGeom>
            <a:noFill/>
            <a:ln w="19050">
              <a:solidFill>
                <a:srgbClr val="1E293B"/>
              </a:solidFill>
            </a:ln>
          </p:spPr>
        </p:sp>
        <p:sp>
          <p:nvSpPr>
            <p:cNvPr id="63" name="Polygon 63"/>
            <p:cNvSpPr/>
            <p:nvPr/>
          </p:nvSpPr>
          <p:spPr>
            <a:xfrm>
              <a:off x="9867900" y="3533775"/>
              <a:ext cx="76200" cy="95250"/>
            </a:xfrm>
            <a:custGeom>
              <a:avLst/>
              <a:gdLst/>
              <a:ahLst/>
              <a:cxnLst/>
              <a:rect l="l" t="t" r="r" b="b"/>
              <a:pathLst>
                <a:path w="76200" h="95250">
                  <a:moveTo>
                    <a:pt x="0" y="0"/>
                  </a:moveTo>
                  <a:lnTo>
                    <a:pt x="38100" y="95250"/>
                  </a:lnTo>
                  <a:lnTo>
                    <a:pt x="76200" y="0"/>
                  </a:lnTo>
                  <a:close/>
                </a:path>
              </a:pathLst>
            </a:custGeom>
            <a:solidFill>
              <a:srgbClr val="1E293B"/>
            </a:solidFill>
            <a:ln>
              <a:noFill/>
            </a:ln>
          </p:spPr>
        </p:sp>
        <p:sp>
          <p:nvSpPr>
            <p:cNvPr id="64" name="Rectangle 64"/>
            <p:cNvSpPr/>
            <p:nvPr/>
          </p:nvSpPr>
          <p:spPr>
            <a:xfrm>
              <a:off x="8524875" y="3676650"/>
              <a:ext cx="2190750" cy="285750"/>
            </a:xfrm>
            <a:prstGeom prst="roundRect">
              <a:avLst>
                <a:gd name="adj" fmla="val 13333"/>
              </a:avLst>
            </a:prstGeom>
            <a:solidFill>
              <a:srgbClr val="1E293B"/>
            </a:solidFill>
            <a:ln>
              <a:noFill/>
            </a:ln>
          </p:spPr>
        </p:sp>
        <p:sp>
          <p:nvSpPr>
            <p:cNvPr id="65" name="TextBox 65"/>
            <p:cNvSpPr txBox="1"/>
            <p:nvPr/>
          </p:nvSpPr>
          <p:spPr>
            <a:xfrm>
              <a:off x="9248311" y="3761899"/>
              <a:ext cx="743879" cy="198120"/>
            </a:xfrm>
            <a:prstGeom prst="rect">
              <a:avLst/>
            </a:prstGeom>
            <a:noFill/>
            <a:ln>
              <a:noFill/>
            </a:ln>
          </p:spPr>
          <p:txBody>
            <a:bodyPr wrap="none" lIns="0" tIns="0" rIns="0" bIns="0" anchor="t" anchorCtr="0">
              <a:spAutoFit/>
            </a:bodyPr>
            <a:lstStyle/>
            <a:p>
              <a:pPr algn="ctr"/>
              <a:r>
                <a:rPr lang="zh-CN" sz="975" dirty="0">
                  <a:solidFill>
                    <a:srgbClr val="0AB36E"/>
                  </a:solidFill>
                  <a:latin typeface="Consolas"/>
                  <a:ea typeface="Microsoft YaHei"/>
                  <a:cs typeface="Consolas"/>
                </a:rPr>
                <a:t>f3 0f 1e fa</a:t>
              </a:r>
            </a:p>
          </p:txBody>
        </p:sp>
        <p:sp>
          <p:nvSpPr>
            <p:cNvPr id="66" name="Line 66"/>
            <p:cNvSpPr/>
            <p:nvPr/>
          </p:nvSpPr>
          <p:spPr>
            <a:xfrm>
              <a:off x="9906000" y="4000500"/>
              <a:ext cx="9525" cy="333375"/>
            </a:xfrm>
            <a:custGeom>
              <a:avLst/>
              <a:gdLst/>
              <a:ahLst/>
              <a:cxnLst/>
              <a:rect l="l" t="t" r="r" b="b"/>
              <a:pathLst>
                <a:path w="9525" h="333375">
                  <a:moveTo>
                    <a:pt x="0" y="0"/>
                  </a:moveTo>
                  <a:lnTo>
                    <a:pt x="0" y="333375"/>
                  </a:lnTo>
                </a:path>
              </a:pathLst>
            </a:custGeom>
            <a:noFill/>
            <a:ln w="19050">
              <a:solidFill>
                <a:srgbClr val="1E293B"/>
              </a:solidFill>
            </a:ln>
          </p:spPr>
        </p:sp>
        <p:sp>
          <p:nvSpPr>
            <p:cNvPr id="67" name="Polygon 67"/>
            <p:cNvSpPr/>
            <p:nvPr/>
          </p:nvSpPr>
          <p:spPr>
            <a:xfrm>
              <a:off x="9867900" y="4314825"/>
              <a:ext cx="76200" cy="95250"/>
            </a:xfrm>
            <a:custGeom>
              <a:avLst/>
              <a:gdLst/>
              <a:ahLst/>
              <a:cxnLst/>
              <a:rect l="l" t="t" r="r" b="b"/>
              <a:pathLst>
                <a:path w="76200" h="95250">
                  <a:moveTo>
                    <a:pt x="0" y="0"/>
                  </a:moveTo>
                  <a:lnTo>
                    <a:pt x="38100" y="95250"/>
                  </a:lnTo>
                  <a:lnTo>
                    <a:pt x="76200" y="0"/>
                  </a:lnTo>
                  <a:close/>
                </a:path>
              </a:pathLst>
            </a:custGeom>
            <a:solidFill>
              <a:srgbClr val="1E293B"/>
            </a:solidFill>
            <a:ln>
              <a:noFill/>
            </a:ln>
          </p:spPr>
        </p:sp>
        <p:sp>
          <p:nvSpPr>
            <p:cNvPr id="68" name="Rectangle 68"/>
            <p:cNvSpPr/>
            <p:nvPr/>
          </p:nvSpPr>
          <p:spPr>
            <a:xfrm>
              <a:off x="8334375" y="4457700"/>
              <a:ext cx="3143250" cy="619125"/>
            </a:xfrm>
            <a:prstGeom prst="roundRect">
              <a:avLst>
                <a:gd name="adj" fmla="val 9231"/>
              </a:avLst>
            </a:prstGeom>
            <a:solidFill>
              <a:srgbClr val="FFFFFF"/>
            </a:solidFill>
            <a:ln w="9525">
              <a:solidFill>
                <a:srgbClr val="0AB36E"/>
              </a:solidFill>
            </a:ln>
          </p:spPr>
        </p:sp>
        <p:sp>
          <p:nvSpPr>
            <p:cNvPr id="69" name="TextBox 69"/>
            <p:cNvSpPr txBox="1"/>
            <p:nvPr/>
          </p:nvSpPr>
          <p:spPr>
            <a:xfrm>
              <a:off x="8465820" y="4570095"/>
              <a:ext cx="1987963"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Writes ENDBR64 into JIT'd code</a:t>
              </a:r>
            </a:p>
          </p:txBody>
        </p:sp>
        <p:sp>
          <p:nvSpPr>
            <p:cNvPr id="70" name="TextBox 70"/>
            <p:cNvSpPr txBox="1"/>
            <p:nvPr/>
          </p:nvSpPr>
          <p:spPr>
            <a:xfrm>
              <a:off x="8465820" y="4741545"/>
              <a:ext cx="1928812"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so indirect calls to generated</a:t>
              </a:r>
            </a:p>
          </p:txBody>
        </p:sp>
        <p:sp>
          <p:nvSpPr>
            <p:cNvPr id="71" name="TextBox 71"/>
            <p:cNvSpPr txBox="1"/>
            <p:nvPr/>
          </p:nvSpPr>
          <p:spPr>
            <a:xfrm>
              <a:off x="8465820" y="4893945"/>
              <a:ext cx="1481899"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code don't trigger #CP</a:t>
              </a:r>
            </a:p>
          </p:txBody>
        </p:sp>
        <p:sp>
          <p:nvSpPr>
            <p:cNvPr id="72" name="Rectangle 72"/>
            <p:cNvSpPr/>
            <p:nvPr/>
          </p:nvSpPr>
          <p:spPr>
            <a:xfrm>
              <a:off x="8334375" y="5191125"/>
              <a:ext cx="3143250" cy="409575"/>
            </a:xfrm>
            <a:prstGeom prst="roundRect">
              <a:avLst>
                <a:gd name="adj" fmla="val 13953"/>
              </a:avLst>
            </a:prstGeom>
            <a:solidFill>
              <a:srgbClr val="1E293B">
                <a:alpha val="8000"/>
              </a:srgbClr>
            </a:solidFill>
            <a:ln>
              <a:noFill/>
            </a:ln>
          </p:spPr>
        </p:sp>
        <p:sp>
          <p:nvSpPr>
            <p:cNvPr id="73" name="TextBox 73"/>
            <p:cNvSpPr txBox="1"/>
            <p:nvPr/>
          </p:nvSpPr>
          <p:spPr>
            <a:xfrm>
              <a:off x="8701206" y="5266849"/>
              <a:ext cx="2409588" cy="198120"/>
            </a:xfrm>
            <a:prstGeom prst="rect">
              <a:avLst/>
            </a:prstGeom>
            <a:noFill/>
            <a:ln>
              <a:noFill/>
            </a:ln>
          </p:spPr>
          <p:txBody>
            <a:bodyPr wrap="none" lIns="0" tIns="0" rIns="0" bIns="0" anchor="t" anchorCtr="0">
              <a:spAutoFit/>
            </a:bodyPr>
            <a:lstStyle/>
            <a:p>
              <a:pPr algn="ctr"/>
              <a:r>
                <a:rPr lang="zh-CN" sz="975" b="1" dirty="0">
                  <a:solidFill>
                    <a:srgbClr val="1E293B"/>
                  </a:solidFill>
                  <a:latin typeface="Arial"/>
                  <a:ea typeface="Microsoft YaHei"/>
                  <a:cs typeface="Arial"/>
                </a:rPr>
                <a:t>JIT code = first-class IBT citizen</a:t>
              </a:r>
            </a:p>
          </p:txBody>
        </p:sp>
        <p:sp>
          <p:nvSpPr>
            <p:cNvPr id="74" name="TextBox 74"/>
            <p:cNvSpPr txBox="1"/>
            <p:nvPr/>
          </p:nvSpPr>
          <p:spPr>
            <a:xfrm>
              <a:off x="9085219" y="5435441"/>
              <a:ext cx="1641562"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Arial"/>
                  <a:ea typeface="Microsoft YaHei"/>
                  <a:cs typeface="Arial"/>
                </a:rPr>
                <a:t>eBPF tail calls land on ENDBR</a:t>
              </a:r>
            </a:p>
          </p:txBody>
        </p:sp>
      </p:grpSp>
      <p:grpSp>
        <p:nvGrpSpPr>
          <p:cNvPr id="78" name="Group 78"/>
          <p:cNvGrpSpPr/>
          <p:nvPr/>
        </p:nvGrpSpPr>
        <p:grpSpPr>
          <a:xfrm>
            <a:off x="10283883" y="5886450"/>
            <a:ext cx="1441392" cy="947738"/>
            <a:chOff x="10283883" y="5886450"/>
            <a:chExt cx="1441392" cy="947738"/>
          </a:xfrm>
        </p:grpSpPr>
        <p:pic>
          <p:nvPicPr>
            <p:cNvPr id="76" name="Image 76"/>
            <p:cNvPicPr>
              <a:picLocks noChangeAspect="1"/>
            </p:cNvPicPr>
            <p:nvPr/>
          </p:nvPicPr>
          <p:blipFill>
            <a:blip r:embed="rId4"/>
            <a:stretch>
              <a:fillRect/>
            </a:stretch>
          </p:blipFill>
          <p:spPr>
            <a:xfrm>
              <a:off x="10283883" y="5886450"/>
              <a:ext cx="1158759" cy="381000"/>
            </a:xfrm>
            <a:prstGeom prst="rect">
              <a:avLst/>
            </a:prstGeom>
          </p:spPr>
        </p:pic>
        <p:sp>
          <p:nvSpPr>
            <p:cNvPr id="77" name="TextBox 77"/>
            <p:cNvSpPr txBox="1"/>
            <p:nvPr/>
          </p:nvSpPr>
          <p:spPr>
            <a:xfrm>
              <a:off x="11645979" y="6681788"/>
              <a:ext cx="79296"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7</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edge">
                                      <p:cBhvr>
                                        <p:cTn id="11" dur="400"/>
                                        <p:tgtEl>
                                          <p:spTgt spid="51"/>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wheel(4)">
                                      <p:cBhvr>
                                        <p:cTn id="15"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51" grpId="0"/>
      <p:bldP spid="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6961823"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Generating ENDBR Without Embedding It</a:t>
            </a:r>
          </a:p>
        </p:txBody>
      </p:sp>
      <p:grpSp>
        <p:nvGrpSpPr>
          <p:cNvPr id="60" name="Group 60"/>
          <p:cNvGrpSpPr/>
          <p:nvPr/>
        </p:nvGrpSpPr>
        <p:grpSpPr>
          <a:xfrm>
            <a:off x="476250" y="1333500"/>
            <a:ext cx="11239500" cy="4381500"/>
            <a:chOff x="476250" y="1333500"/>
            <a:chExt cx="11239500" cy="4381500"/>
          </a:xfrm>
        </p:grpSpPr>
        <p:sp>
          <p:nvSpPr>
            <p:cNvPr id="6" name="Rectangle 6"/>
            <p:cNvSpPr/>
            <p:nvPr/>
          </p:nvSpPr>
          <p:spPr>
            <a:xfrm>
              <a:off x="476250" y="1333500"/>
              <a:ext cx="6667500" cy="3238500"/>
            </a:xfrm>
            <a:prstGeom prst="roundRect">
              <a:avLst>
                <a:gd name="adj" fmla="val 2353"/>
              </a:avLst>
            </a:prstGeom>
            <a:solidFill>
              <a:srgbClr val="1E293B"/>
            </a:solidFill>
            <a:ln>
              <a:noFill/>
            </a:ln>
          </p:spPr>
        </p:sp>
        <p:sp>
          <p:nvSpPr>
            <p:cNvPr id="7" name="TextBox 7"/>
            <p:cNvSpPr txBox="1"/>
            <p:nvPr/>
          </p:nvSpPr>
          <p:spPr>
            <a:xfrm>
              <a:off x="655320" y="1474470"/>
              <a:ext cx="2934367" cy="182880"/>
            </a:xfrm>
            <a:prstGeom prst="rect">
              <a:avLst/>
            </a:prstGeom>
            <a:noFill/>
            <a:ln>
              <a:noFill/>
            </a:ln>
          </p:spPr>
          <p:txBody>
            <a:bodyPr wrap="none" lIns="0" tIns="0" rIns="0" bIns="0" anchor="t" anchorCtr="0">
              <a:spAutoFit/>
            </a:bodyPr>
            <a:lstStyle/>
            <a:p>
              <a:pPr algn="l"/>
              <a:r>
                <a:rPr lang="zh-CN" sz="900" dirty="0">
                  <a:solidFill>
                    <a:srgbClr val="6A9955"/>
                  </a:solidFill>
                  <a:latin typeface="Arial"/>
                  <a:ea typeface="Microsoft YaHei"/>
                  <a:cs typeface="Arial"/>
                </a:rPr>
                <a:t>/* arch/x86/include/asm/ibt.h lines 44–57 */</a:t>
              </a:r>
            </a:p>
          </p:txBody>
        </p:sp>
        <p:sp>
          <p:nvSpPr>
            <p:cNvPr id="8" name="TextBox 8"/>
            <p:cNvSpPr txBox="1"/>
            <p:nvPr/>
          </p:nvSpPr>
          <p:spPr>
            <a:xfrm>
              <a:off x="653415" y="1744028"/>
              <a:ext cx="2695003"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 gen_endbr()                       \</a:t>
              </a:r>
            </a:p>
          </p:txBody>
        </p:sp>
        <p:sp>
          <p:nvSpPr>
            <p:cNvPr id="9" name="TextBox 9"/>
            <p:cNvSpPr txBox="1"/>
            <p:nvPr/>
          </p:nvSpPr>
          <p:spPr>
            <a:xfrm>
              <a:off x="653415" y="1963102"/>
              <a:ext cx="2418969"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asm volatile(                           \</a:t>
              </a:r>
            </a:p>
          </p:txBody>
        </p:sp>
        <p:sp>
          <p:nvSpPr>
            <p:cNvPr id="10" name="TextBox 10"/>
            <p:cNvSpPr txBox="1"/>
            <p:nvPr/>
          </p:nvSpPr>
          <p:spPr>
            <a:xfrm>
              <a:off x="653415" y="2182178"/>
              <a:ext cx="246497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ALTERNATIVE(                          \</a:t>
              </a:r>
            </a:p>
          </p:txBody>
        </p:sp>
        <p:sp>
          <p:nvSpPr>
            <p:cNvPr id="11" name="TextBox 11"/>
            <p:cNvSpPr txBox="1"/>
            <p:nvPr/>
          </p:nvSpPr>
          <p:spPr>
            <a:xfrm>
              <a:off x="653415" y="2401252"/>
              <a:ext cx="3262408"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      "mov $~0xfa1e0ff3, %[scratch]\n\t"  \</a:t>
              </a:r>
            </a:p>
          </p:txBody>
        </p:sp>
        <p:sp>
          <p:nvSpPr>
            <p:cNvPr id="12" name="TextBox 12"/>
            <p:cNvSpPr txBox="1"/>
            <p:nvPr/>
          </p:nvSpPr>
          <p:spPr>
            <a:xfrm>
              <a:off x="653415" y="2620328"/>
              <a:ext cx="2764012"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      "not %[scratch]\n\t",              \</a:t>
              </a:r>
            </a:p>
          </p:txBody>
        </p:sp>
        <p:sp>
          <p:nvSpPr>
            <p:cNvPr id="13" name="TextBox 13"/>
            <p:cNvSpPr txBox="1"/>
            <p:nvPr/>
          </p:nvSpPr>
          <p:spPr>
            <a:xfrm>
              <a:off x="653415" y="2839402"/>
              <a:ext cx="2112264"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      "",                                \</a:t>
              </a:r>
            </a:p>
          </p:txBody>
        </p:sp>
        <p:sp>
          <p:nvSpPr>
            <p:cNvPr id="14" name="TextBox 14"/>
            <p:cNvSpPr txBox="1"/>
            <p:nvPr/>
          </p:nvSpPr>
          <p:spPr>
            <a:xfrm>
              <a:off x="653415" y="3058478"/>
              <a:ext cx="2572321"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X86_FEATURE_IBT)                   \</a:t>
              </a:r>
            </a:p>
          </p:txBody>
        </p:sp>
        <p:sp>
          <p:nvSpPr>
            <p:cNvPr id="15" name="TextBox 15"/>
            <p:cNvSpPr txBox="1"/>
            <p:nvPr/>
          </p:nvSpPr>
          <p:spPr>
            <a:xfrm>
              <a:off x="653415" y="3277552"/>
              <a:ext cx="114614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 [scratch] </a:t>
              </a:r>
            </a:p>
          </p:txBody>
        </p:sp>
        <p:sp>
          <p:nvSpPr>
            <p:cNvPr id="16" name="TextBox 16"/>
            <p:cNvSpPr txBox="1"/>
            <p:nvPr/>
          </p:nvSpPr>
          <p:spPr>
            <a:xfrm>
              <a:off x="2110740" y="3277552"/>
              <a:ext cx="448389"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"=&amp;r"</a:t>
              </a:r>
            </a:p>
          </p:txBody>
        </p:sp>
        <p:sp>
          <p:nvSpPr>
            <p:cNvPr id="17" name="TextBox 17"/>
            <p:cNvSpPr txBox="1"/>
            <p:nvPr/>
          </p:nvSpPr>
          <p:spPr>
            <a:xfrm>
              <a:off x="2653665" y="3277552"/>
              <a:ext cx="1253490"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(__junk)          \</a:t>
              </a:r>
            </a:p>
          </p:txBody>
        </p:sp>
        <p:sp>
          <p:nvSpPr>
            <p:cNvPr id="18" name="TextBox 18"/>
            <p:cNvSpPr txBox="1"/>
            <p:nvPr/>
          </p:nvSpPr>
          <p:spPr>
            <a:xfrm>
              <a:off x="653415" y="3496628"/>
              <a:ext cx="203558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                                    \</a:t>
              </a:r>
            </a:p>
          </p:txBody>
        </p:sp>
        <p:sp>
          <p:nvSpPr>
            <p:cNvPr id="19" name="TextBox 19"/>
            <p:cNvSpPr txBox="1"/>
            <p:nvPr/>
          </p:nvSpPr>
          <p:spPr>
            <a:xfrm>
              <a:off x="653415" y="3715702"/>
              <a:ext cx="34104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 </a:t>
              </a:r>
            </a:p>
          </p:txBody>
        </p:sp>
        <p:sp>
          <p:nvSpPr>
            <p:cNvPr id="20" name="TextBox 20"/>
            <p:cNvSpPr txBox="1"/>
            <p:nvPr/>
          </p:nvSpPr>
          <p:spPr>
            <a:xfrm>
              <a:off x="1062990" y="3715702"/>
              <a:ext cx="762762"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"memory"</a:t>
              </a:r>
            </a:p>
          </p:txBody>
        </p:sp>
        <p:sp>
          <p:nvSpPr>
            <p:cNvPr id="21" name="TextBox 21"/>
            <p:cNvSpPr txBox="1"/>
            <p:nvPr/>
          </p:nvSpPr>
          <p:spPr>
            <a:xfrm>
              <a:off x="1796415" y="3715702"/>
              <a:ext cx="19535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22" name="TextBox 22"/>
            <p:cNvSpPr txBox="1"/>
            <p:nvPr/>
          </p:nvSpPr>
          <p:spPr>
            <a:xfrm>
              <a:off x="653415" y="4077652"/>
              <a:ext cx="3837480"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On non-IBT CPUs: ALTERNATIVE patches to NOP */</a:t>
              </a:r>
            </a:p>
          </p:txBody>
        </p:sp>
        <p:sp>
          <p:nvSpPr>
            <p:cNvPr id="23" name="TextBox 23"/>
            <p:cNvSpPr txBox="1"/>
            <p:nvPr/>
          </p:nvSpPr>
          <p:spPr>
            <a:xfrm>
              <a:off x="653415" y="4296728"/>
              <a:ext cx="3960162"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On IBT CPUs: mov+not produces ENDBR64 opcode */</a:t>
              </a:r>
            </a:p>
          </p:txBody>
        </p:sp>
        <p:sp>
          <p:nvSpPr>
            <p:cNvPr id="24" name="Rectangle 24"/>
            <p:cNvSpPr/>
            <p:nvPr/>
          </p:nvSpPr>
          <p:spPr>
            <a:xfrm>
              <a:off x="7429500" y="1333500"/>
              <a:ext cx="4286250" cy="666750"/>
            </a:xfrm>
            <a:prstGeom prst="roundRect">
              <a:avLst>
                <a:gd name="adj" fmla="val 8571"/>
              </a:avLst>
            </a:prstGeom>
            <a:solidFill>
              <a:srgbClr val="F0FDF9"/>
            </a:solidFill>
            <a:ln w="14288">
              <a:solidFill>
                <a:srgbClr val="0AB36E"/>
              </a:solidFill>
            </a:ln>
          </p:spPr>
        </p:sp>
        <p:grpSp>
          <p:nvGrpSpPr>
            <p:cNvPr id="28" name="Group 28"/>
            <p:cNvGrpSpPr/>
            <p:nvPr/>
          </p:nvGrpSpPr>
          <p:grpSpPr>
            <a:xfrm>
              <a:off x="7600950" y="1514475"/>
              <a:ext cx="171450" cy="152400"/>
              <a:chOff x="7600950" y="1514475"/>
              <a:chExt cx="171450" cy="152400"/>
            </a:xfrm>
          </p:grpSpPr>
          <p:sp>
            <p:nvSpPr>
              <p:cNvPr id="25" name="Freeform 25"/>
              <p:cNvSpPr/>
              <p:nvPr/>
            </p:nvSpPr>
            <p:spPr>
              <a:xfrm>
                <a:off x="7600950" y="1552575"/>
                <a:ext cx="38100" cy="76200"/>
              </a:xfrm>
              <a:custGeom>
                <a:avLst/>
                <a:gdLst/>
                <a:ahLst/>
                <a:cxnLst/>
                <a:rect l="l" t="t" r="r" b="b"/>
                <a:pathLst>
                  <a:path w="38100" h="76200">
                    <a:moveTo>
                      <a:pt x="38100" y="0"/>
                    </a:moveTo>
                    <a:lnTo>
                      <a:pt x="0" y="38100"/>
                    </a:lnTo>
                    <a:lnTo>
                      <a:pt x="38100" y="76200"/>
                    </a:lnTo>
                  </a:path>
                </a:pathLst>
              </a:custGeom>
              <a:noFill/>
              <a:ln w="19050">
                <a:solidFill>
                  <a:srgbClr val="0AB36E"/>
                </a:solidFill>
              </a:ln>
            </p:spPr>
          </p:sp>
          <p:sp>
            <p:nvSpPr>
              <p:cNvPr id="26" name="Freeform 26"/>
              <p:cNvSpPr/>
              <p:nvPr/>
            </p:nvSpPr>
            <p:spPr>
              <a:xfrm>
                <a:off x="7734300" y="1552575"/>
                <a:ext cx="38100" cy="76200"/>
              </a:xfrm>
              <a:custGeom>
                <a:avLst/>
                <a:gdLst/>
                <a:ahLst/>
                <a:cxnLst/>
                <a:rect l="l" t="t" r="r" b="b"/>
                <a:pathLst>
                  <a:path w="38100" h="76200">
                    <a:moveTo>
                      <a:pt x="0" y="0"/>
                    </a:moveTo>
                    <a:lnTo>
                      <a:pt x="38100" y="38100"/>
                    </a:lnTo>
                    <a:lnTo>
                      <a:pt x="0" y="76200"/>
                    </a:lnTo>
                  </a:path>
                </a:pathLst>
              </a:custGeom>
              <a:noFill/>
              <a:ln w="19050">
                <a:solidFill>
                  <a:srgbClr val="0AB36E"/>
                </a:solidFill>
              </a:ln>
            </p:spPr>
          </p:sp>
          <p:sp>
            <p:nvSpPr>
              <p:cNvPr id="27" name="Freeform 27"/>
              <p:cNvSpPr/>
              <p:nvPr/>
            </p:nvSpPr>
            <p:spPr>
              <a:xfrm>
                <a:off x="7667625" y="1514475"/>
                <a:ext cx="38100" cy="152400"/>
              </a:xfrm>
              <a:custGeom>
                <a:avLst/>
                <a:gdLst/>
                <a:ahLst/>
                <a:cxnLst/>
                <a:rect l="l" t="t" r="r" b="b"/>
                <a:pathLst>
                  <a:path w="38100" h="152400">
                    <a:moveTo>
                      <a:pt x="38100" y="0"/>
                    </a:moveTo>
                    <a:lnTo>
                      <a:pt x="0" y="152400"/>
                    </a:lnTo>
                  </a:path>
                </a:pathLst>
              </a:custGeom>
              <a:noFill/>
              <a:ln w="19050">
                <a:solidFill>
                  <a:srgbClr val="0AB36E"/>
                </a:solidFill>
              </a:ln>
            </p:spPr>
          </p:sp>
        </p:grpSp>
        <p:sp>
          <p:nvSpPr>
            <p:cNvPr id="29" name="TextBox 29"/>
            <p:cNvSpPr txBox="1"/>
            <p:nvPr/>
          </p:nvSpPr>
          <p:spPr>
            <a:xfrm>
              <a:off x="7873365" y="1505902"/>
              <a:ext cx="1773738" cy="213360"/>
            </a:xfrm>
            <a:prstGeom prst="rect">
              <a:avLst/>
            </a:prstGeom>
            <a:noFill/>
            <a:ln>
              <a:noFill/>
            </a:ln>
          </p:spPr>
          <p:txBody>
            <a:bodyPr wrap="none" lIns="0" tIns="0" rIns="0" bIns="0" anchor="t" anchorCtr="0">
              <a:spAutoFit/>
            </a:bodyPr>
            <a:lstStyle/>
            <a:p>
              <a:pPr algn="l"/>
              <a:r>
                <a:rPr lang="zh-CN" sz="1050" b="1" dirty="0">
                  <a:solidFill>
                    <a:srgbClr val="0AB36E"/>
                  </a:solidFill>
                  <a:latin typeface="Arial"/>
                  <a:ea typeface="Microsoft YaHei"/>
                  <a:cs typeface="Arial"/>
                </a:rPr>
                <a:t>MOV loads bitwise NOT</a:t>
              </a:r>
            </a:p>
          </p:txBody>
        </p:sp>
        <p:sp>
          <p:nvSpPr>
            <p:cNvPr id="30" name="TextBox 30"/>
            <p:cNvSpPr txBox="1"/>
            <p:nvPr/>
          </p:nvSpPr>
          <p:spPr>
            <a:xfrm>
              <a:off x="7559992" y="1752124"/>
              <a:ext cx="1762030" cy="198120"/>
            </a:xfrm>
            <a:prstGeom prst="rect">
              <a:avLst/>
            </a:prstGeom>
            <a:noFill/>
            <a:ln>
              <a:noFill/>
            </a:ln>
          </p:spPr>
          <p:txBody>
            <a:bodyPr wrap="none" lIns="0" tIns="0" rIns="0" bIns="0" anchor="t" anchorCtr="0">
              <a:spAutoFit/>
            </a:bodyPr>
            <a:lstStyle/>
            <a:p>
              <a:pPr algn="l"/>
              <a:r>
                <a:rPr lang="zh-CN" sz="975" dirty="0">
                  <a:solidFill>
                    <a:srgbClr val="333333"/>
                  </a:solidFill>
                  <a:latin typeface="Consolas"/>
                  <a:ea typeface="Microsoft YaHei"/>
                  <a:cs typeface="Consolas"/>
                </a:rPr>
                <a:t>~0xfa1e0ff3 = 0x05e1f00c</a:t>
              </a:r>
            </a:p>
          </p:txBody>
        </p:sp>
        <p:sp>
          <p:nvSpPr>
            <p:cNvPr id="31" name="Rectangle 31"/>
            <p:cNvSpPr/>
            <p:nvPr/>
          </p:nvSpPr>
          <p:spPr>
            <a:xfrm>
              <a:off x="7429500" y="2143125"/>
              <a:ext cx="4286250" cy="666750"/>
            </a:xfrm>
            <a:prstGeom prst="roundRect">
              <a:avLst>
                <a:gd name="adj" fmla="val 8571"/>
              </a:avLst>
            </a:prstGeom>
            <a:solidFill>
              <a:srgbClr val="F0FDF9"/>
            </a:solidFill>
            <a:ln w="14288">
              <a:solidFill>
                <a:srgbClr val="0AB36E"/>
              </a:solidFill>
            </a:ln>
          </p:spPr>
        </p:sp>
        <p:grpSp>
          <p:nvGrpSpPr>
            <p:cNvPr id="34" name="Group 34"/>
            <p:cNvGrpSpPr/>
            <p:nvPr/>
          </p:nvGrpSpPr>
          <p:grpSpPr>
            <a:xfrm>
              <a:off x="7610475" y="2320425"/>
              <a:ext cx="152400" cy="159750"/>
              <a:chOff x="7610475" y="2320425"/>
              <a:chExt cx="152400" cy="159750"/>
            </a:xfrm>
          </p:grpSpPr>
          <p:sp>
            <p:nvSpPr>
              <p:cNvPr id="32" name="Freeform 32"/>
              <p:cNvSpPr/>
              <p:nvPr/>
            </p:nvSpPr>
            <p:spPr>
              <a:xfrm>
                <a:off x="7610475" y="2320425"/>
                <a:ext cx="152400" cy="70350"/>
              </a:xfrm>
              <a:custGeom>
                <a:avLst/>
                <a:gdLst/>
                <a:ahLst/>
                <a:cxnLst/>
                <a:rect l="l" t="t" r="r" b="b"/>
                <a:pathLst>
                  <a:path w="152400" h="70350">
                    <a:moveTo>
                      <a:pt x="152400" y="70350"/>
                    </a:moveTo>
                    <a:cubicBezTo>
                      <a:pt x="147612" y="35894"/>
                      <a:pt x="120357" y="8904"/>
                      <a:pt x="85855" y="4452"/>
                    </a:cubicBezTo>
                    <a:cubicBezTo>
                      <a:pt x="51354" y="0"/>
                      <a:pt x="18140" y="19188"/>
                      <a:pt x="4762" y="51300"/>
                    </a:cubicBezTo>
                    <a:moveTo>
                      <a:pt x="0" y="13200"/>
                    </a:moveTo>
                    <a:lnTo>
                      <a:pt x="0" y="51300"/>
                    </a:lnTo>
                    <a:lnTo>
                      <a:pt x="38100" y="51300"/>
                    </a:lnTo>
                  </a:path>
                </a:pathLst>
              </a:custGeom>
              <a:noFill/>
              <a:ln w="19050">
                <a:solidFill>
                  <a:srgbClr val="0AB36E"/>
                </a:solidFill>
              </a:ln>
            </p:spPr>
          </p:sp>
          <p:sp>
            <p:nvSpPr>
              <p:cNvPr id="33" name="Freeform 33"/>
              <p:cNvSpPr/>
              <p:nvPr/>
            </p:nvSpPr>
            <p:spPr>
              <a:xfrm>
                <a:off x="7610475" y="2409825"/>
                <a:ext cx="152400" cy="70350"/>
              </a:xfrm>
              <a:custGeom>
                <a:avLst/>
                <a:gdLst/>
                <a:ahLst/>
                <a:cxnLst/>
                <a:rect l="l" t="t" r="r" b="b"/>
                <a:pathLst>
                  <a:path w="152400" h="70350">
                    <a:moveTo>
                      <a:pt x="0" y="0"/>
                    </a:moveTo>
                    <a:cubicBezTo>
                      <a:pt x="4788" y="34456"/>
                      <a:pt x="32043" y="61446"/>
                      <a:pt x="66545" y="65898"/>
                    </a:cubicBezTo>
                    <a:cubicBezTo>
                      <a:pt x="101046" y="70350"/>
                      <a:pt x="134260" y="51162"/>
                      <a:pt x="147638" y="19050"/>
                    </a:cubicBezTo>
                    <a:moveTo>
                      <a:pt x="152400" y="57150"/>
                    </a:moveTo>
                    <a:lnTo>
                      <a:pt x="152400" y="19050"/>
                    </a:lnTo>
                    <a:lnTo>
                      <a:pt x="114300" y="19050"/>
                    </a:lnTo>
                  </a:path>
                </a:pathLst>
              </a:custGeom>
              <a:noFill/>
              <a:ln w="19050">
                <a:solidFill>
                  <a:srgbClr val="0AB36E"/>
                </a:solidFill>
              </a:ln>
            </p:spPr>
          </p:sp>
        </p:grpSp>
        <p:sp>
          <p:nvSpPr>
            <p:cNvPr id="35" name="TextBox 35"/>
            <p:cNvSpPr txBox="1"/>
            <p:nvPr/>
          </p:nvSpPr>
          <p:spPr>
            <a:xfrm>
              <a:off x="7873365" y="2315528"/>
              <a:ext cx="1500004" cy="213360"/>
            </a:xfrm>
            <a:prstGeom prst="rect">
              <a:avLst/>
            </a:prstGeom>
            <a:noFill/>
            <a:ln>
              <a:noFill/>
            </a:ln>
          </p:spPr>
          <p:txBody>
            <a:bodyPr wrap="none" lIns="0" tIns="0" rIns="0" bIns="0" anchor="t" anchorCtr="0">
              <a:spAutoFit/>
            </a:bodyPr>
            <a:lstStyle/>
            <a:p>
              <a:pPr algn="l"/>
              <a:r>
                <a:rPr lang="zh-CN" sz="1050" b="1" dirty="0">
                  <a:solidFill>
                    <a:srgbClr val="0AB36E"/>
                  </a:solidFill>
                  <a:latin typeface="Arial"/>
                  <a:ea typeface="Microsoft YaHei"/>
                  <a:cs typeface="Arial"/>
                </a:rPr>
                <a:t>NOT flips bits back</a:t>
              </a:r>
            </a:p>
          </p:txBody>
        </p:sp>
        <p:sp>
          <p:nvSpPr>
            <p:cNvPr id="36" name="TextBox 36"/>
            <p:cNvSpPr txBox="1"/>
            <p:nvPr/>
          </p:nvSpPr>
          <p:spPr>
            <a:xfrm>
              <a:off x="7559992" y="2561749"/>
              <a:ext cx="2815781" cy="198120"/>
            </a:xfrm>
            <a:prstGeom prst="rect">
              <a:avLst/>
            </a:prstGeom>
            <a:noFill/>
            <a:ln>
              <a:noFill/>
            </a:ln>
          </p:spPr>
          <p:txBody>
            <a:bodyPr wrap="none" lIns="0" tIns="0" rIns="0" bIns="0" anchor="t" anchorCtr="0">
              <a:spAutoFit/>
            </a:bodyPr>
            <a:lstStyle/>
            <a:p>
              <a:pPr algn="l"/>
              <a:r>
                <a:rPr lang="zh-CN" sz="975" dirty="0">
                  <a:solidFill>
                    <a:srgbClr val="333333"/>
                  </a:solidFill>
                  <a:latin typeface="Consolas"/>
                  <a:ea typeface="Microsoft YaHei"/>
                  <a:cs typeface="Consolas"/>
                </a:rPr>
                <a:t>NOT(0x05e1f00c) = 0xfa1e0ff3 = ENDBR64</a:t>
              </a:r>
            </a:p>
          </p:txBody>
        </p:sp>
        <p:sp>
          <p:nvSpPr>
            <p:cNvPr id="37" name="Rectangle 37"/>
            <p:cNvSpPr/>
            <p:nvPr/>
          </p:nvSpPr>
          <p:spPr>
            <a:xfrm>
              <a:off x="7429500" y="2952750"/>
              <a:ext cx="4286250" cy="666750"/>
            </a:xfrm>
            <a:prstGeom prst="roundRect">
              <a:avLst>
                <a:gd name="adj" fmla="val 8571"/>
              </a:avLst>
            </a:prstGeom>
            <a:solidFill>
              <a:srgbClr val="FEF2F2"/>
            </a:solidFill>
            <a:ln w="14288">
              <a:solidFill>
                <a:srgbClr val="EF4444"/>
              </a:solidFill>
            </a:ln>
          </p:spPr>
        </p:sp>
        <p:grpSp>
          <p:nvGrpSpPr>
            <p:cNvPr id="41" name="Group 41"/>
            <p:cNvGrpSpPr/>
            <p:nvPr/>
          </p:nvGrpSpPr>
          <p:grpSpPr>
            <a:xfrm>
              <a:off x="7596983" y="3124200"/>
              <a:ext cx="179383" cy="171450"/>
              <a:chOff x="7596983" y="3124200"/>
              <a:chExt cx="179383" cy="171450"/>
            </a:xfrm>
          </p:grpSpPr>
          <p:sp>
            <p:nvSpPr>
              <p:cNvPr id="38" name="Freeform 38"/>
              <p:cNvSpPr/>
              <p:nvPr/>
            </p:nvSpPr>
            <p:spPr>
              <a:xfrm>
                <a:off x="7596983" y="3124200"/>
                <a:ext cx="179383" cy="171450"/>
              </a:xfrm>
              <a:custGeom>
                <a:avLst/>
                <a:gdLst/>
                <a:ahLst/>
                <a:cxnLst/>
                <a:rect l="l" t="t" r="r" b="b"/>
                <a:pathLst>
                  <a:path w="179383" h="171450">
                    <a:moveTo>
                      <a:pt x="89692" y="0"/>
                    </a:moveTo>
                    <a:cubicBezTo>
                      <a:pt x="111940" y="19684"/>
                      <a:pt x="140979" y="29933"/>
                      <a:pt x="170654" y="28575"/>
                    </a:cubicBezTo>
                    <a:cubicBezTo>
                      <a:pt x="179383" y="58269"/>
                      <a:pt x="175697" y="90235"/>
                      <a:pt x="160438" y="117163"/>
                    </a:cubicBezTo>
                    <a:cubicBezTo>
                      <a:pt x="145178" y="144091"/>
                      <a:pt x="119651" y="163679"/>
                      <a:pt x="89692" y="171450"/>
                    </a:cubicBezTo>
                    <a:cubicBezTo>
                      <a:pt x="59732" y="163679"/>
                      <a:pt x="34205" y="144091"/>
                      <a:pt x="18946" y="117163"/>
                    </a:cubicBezTo>
                    <a:cubicBezTo>
                      <a:pt x="3686" y="90235"/>
                      <a:pt x="0" y="58269"/>
                      <a:pt x="8729" y="28575"/>
                    </a:cubicBezTo>
                    <a:cubicBezTo>
                      <a:pt x="38405" y="29933"/>
                      <a:pt x="67443" y="19684"/>
                      <a:pt x="89692" y="0"/>
                    </a:cubicBezTo>
                  </a:path>
                </a:pathLst>
              </a:custGeom>
              <a:noFill/>
              <a:ln w="19050">
                <a:solidFill>
                  <a:srgbClr val="EF4444"/>
                </a:solidFill>
              </a:ln>
            </p:spPr>
          </p:sp>
          <p:sp>
            <p:nvSpPr>
              <p:cNvPr id="39" name="Freeform 39"/>
              <p:cNvSpPr/>
              <p:nvPr/>
            </p:nvSpPr>
            <p:spPr>
              <a:xfrm>
                <a:off x="7677150" y="3190875"/>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rgbClr val="EF4444"/>
                </a:solidFill>
              </a:ln>
            </p:spPr>
          </p:sp>
          <p:sp>
            <p:nvSpPr>
              <p:cNvPr id="40" name="Freeform 40"/>
              <p:cNvSpPr/>
              <p:nvPr/>
            </p:nvSpPr>
            <p:spPr>
              <a:xfrm>
                <a:off x="7686675" y="3209925"/>
                <a:ext cx="9525" cy="23812"/>
              </a:xfrm>
              <a:custGeom>
                <a:avLst/>
                <a:gdLst/>
                <a:ahLst/>
                <a:cxnLst/>
                <a:rect l="l" t="t" r="r" b="b"/>
                <a:pathLst>
                  <a:path w="9525" h="23812">
                    <a:moveTo>
                      <a:pt x="0" y="0"/>
                    </a:moveTo>
                    <a:lnTo>
                      <a:pt x="0" y="23812"/>
                    </a:lnTo>
                  </a:path>
                </a:pathLst>
              </a:custGeom>
              <a:noFill/>
              <a:ln w="19050">
                <a:solidFill>
                  <a:srgbClr val="EF4444"/>
                </a:solidFill>
              </a:ln>
            </p:spPr>
          </p:sp>
        </p:grpSp>
        <p:sp>
          <p:nvSpPr>
            <p:cNvPr id="42" name="TextBox 42"/>
            <p:cNvSpPr txBox="1"/>
            <p:nvPr/>
          </p:nvSpPr>
          <p:spPr>
            <a:xfrm>
              <a:off x="7873365" y="3125152"/>
              <a:ext cx="1644922" cy="213360"/>
            </a:xfrm>
            <a:prstGeom prst="rect">
              <a:avLst/>
            </a:prstGeom>
            <a:noFill/>
            <a:ln>
              <a:noFill/>
            </a:ln>
          </p:spPr>
          <p:txBody>
            <a:bodyPr wrap="none" lIns="0" tIns="0" rIns="0" bIns="0" anchor="t" anchorCtr="0">
              <a:spAutoFit/>
            </a:bodyPr>
            <a:lstStyle/>
            <a:p>
              <a:pPr algn="l"/>
              <a:r>
                <a:rPr lang="zh-CN" sz="1050" b="1" dirty="0">
                  <a:solidFill>
                    <a:srgbClr val="EF4444"/>
                  </a:solidFill>
                  <a:latin typeface="Arial"/>
                  <a:ea typeface="Microsoft YaHei"/>
                  <a:cs typeface="Arial"/>
                </a:rPr>
                <a:t>Why not direct MOV?</a:t>
              </a:r>
            </a:p>
          </p:txBody>
        </p:sp>
        <p:sp>
          <p:nvSpPr>
            <p:cNvPr id="43" name="TextBox 43"/>
            <p:cNvSpPr txBox="1"/>
            <p:nvPr/>
          </p:nvSpPr>
          <p:spPr>
            <a:xfrm>
              <a:off x="7559992" y="3371374"/>
              <a:ext cx="3577614"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Direct encoding would create ENDBR gadget in .text</a:t>
              </a:r>
            </a:p>
          </p:txBody>
        </p:sp>
        <p:sp>
          <p:nvSpPr>
            <p:cNvPr id="44" name="Rectangle 44"/>
            <p:cNvSpPr/>
            <p:nvPr/>
          </p:nvSpPr>
          <p:spPr>
            <a:xfrm>
              <a:off x="7429500" y="3762375"/>
              <a:ext cx="4286250" cy="666750"/>
            </a:xfrm>
            <a:prstGeom prst="roundRect">
              <a:avLst>
                <a:gd name="adj" fmla="val 8571"/>
              </a:avLst>
            </a:prstGeom>
            <a:solidFill>
              <a:srgbClr val="FAF5FF"/>
            </a:solidFill>
            <a:ln w="14288">
              <a:solidFill>
                <a:srgbClr val="AF00C0"/>
              </a:solidFill>
            </a:ln>
          </p:spPr>
        </p:sp>
        <p:grpSp>
          <p:nvGrpSpPr>
            <p:cNvPr id="47" name="Group 47"/>
            <p:cNvGrpSpPr/>
            <p:nvPr/>
          </p:nvGrpSpPr>
          <p:grpSpPr>
            <a:xfrm>
              <a:off x="7596188" y="3943350"/>
              <a:ext cx="180975" cy="152400"/>
              <a:chOff x="7596188" y="3943350"/>
              <a:chExt cx="180975" cy="152400"/>
            </a:xfrm>
          </p:grpSpPr>
          <p:sp>
            <p:nvSpPr>
              <p:cNvPr id="45" name="Freeform 45"/>
              <p:cNvSpPr/>
              <p:nvPr/>
            </p:nvSpPr>
            <p:spPr>
              <a:xfrm>
                <a:off x="7596188" y="3943350"/>
                <a:ext cx="180975" cy="152400"/>
              </a:xfrm>
              <a:custGeom>
                <a:avLst/>
                <a:gdLst/>
                <a:ahLst/>
                <a:cxnLst/>
                <a:rect l="l" t="t" r="r" b="b"/>
                <a:pathLst>
                  <a:path w="180975" h="152400">
                    <a:moveTo>
                      <a:pt x="23812" y="0"/>
                    </a:moveTo>
                    <a:cubicBezTo>
                      <a:pt x="0" y="47625"/>
                      <a:pt x="0" y="95250"/>
                      <a:pt x="23812" y="152400"/>
                    </a:cubicBezTo>
                    <a:moveTo>
                      <a:pt x="157162" y="0"/>
                    </a:moveTo>
                    <a:cubicBezTo>
                      <a:pt x="180975" y="47625"/>
                      <a:pt x="180975" y="95250"/>
                      <a:pt x="157162" y="152400"/>
                    </a:cubicBezTo>
                    <a:moveTo>
                      <a:pt x="61912" y="47625"/>
                    </a:moveTo>
                    <a:lnTo>
                      <a:pt x="71438" y="47625"/>
                    </a:lnTo>
                    <a:cubicBezTo>
                      <a:pt x="80962" y="47625"/>
                      <a:pt x="80962" y="57150"/>
                      <a:pt x="90640" y="81220"/>
                    </a:cubicBezTo>
                    <a:cubicBezTo>
                      <a:pt x="100012" y="104775"/>
                      <a:pt x="100012" y="114300"/>
                      <a:pt x="109538" y="114300"/>
                    </a:cubicBezTo>
                    <a:lnTo>
                      <a:pt x="119062" y="114300"/>
                    </a:lnTo>
                  </a:path>
                </a:pathLst>
              </a:custGeom>
              <a:noFill/>
              <a:ln w="19050">
                <a:solidFill>
                  <a:srgbClr val="AF00C0"/>
                </a:solidFill>
              </a:ln>
            </p:spPr>
          </p:sp>
          <p:sp>
            <p:nvSpPr>
              <p:cNvPr id="46" name="Freeform 46"/>
              <p:cNvSpPr/>
              <p:nvPr/>
            </p:nvSpPr>
            <p:spPr>
              <a:xfrm>
                <a:off x="7648575" y="3990975"/>
                <a:ext cx="76200" cy="66675"/>
              </a:xfrm>
              <a:custGeom>
                <a:avLst/>
                <a:gdLst/>
                <a:ahLst/>
                <a:cxnLst/>
                <a:rect l="l" t="t" r="r" b="b"/>
                <a:pathLst>
                  <a:path w="76200" h="66675">
                    <a:moveTo>
                      <a:pt x="0" y="66675"/>
                    </a:moveTo>
                    <a:cubicBezTo>
                      <a:pt x="14288" y="66675"/>
                      <a:pt x="28575" y="47625"/>
                      <a:pt x="38100" y="33338"/>
                    </a:cubicBezTo>
                    <a:cubicBezTo>
                      <a:pt x="47625" y="19050"/>
                      <a:pt x="61912" y="0"/>
                      <a:pt x="76200" y="0"/>
                    </a:cubicBezTo>
                  </a:path>
                </a:pathLst>
              </a:custGeom>
              <a:noFill/>
              <a:ln w="19050">
                <a:solidFill>
                  <a:srgbClr val="AF00C0"/>
                </a:solidFill>
              </a:ln>
            </p:spPr>
          </p:sp>
        </p:grpSp>
        <p:sp>
          <p:nvSpPr>
            <p:cNvPr id="48" name="TextBox 48"/>
            <p:cNvSpPr txBox="1"/>
            <p:nvPr/>
          </p:nvSpPr>
          <p:spPr>
            <a:xfrm>
              <a:off x="7873365" y="3953828"/>
              <a:ext cx="1588565" cy="213360"/>
            </a:xfrm>
            <a:prstGeom prst="rect">
              <a:avLst/>
            </a:prstGeom>
            <a:noFill/>
            <a:ln>
              <a:noFill/>
            </a:ln>
          </p:spPr>
          <p:txBody>
            <a:bodyPr wrap="none" lIns="0" tIns="0" rIns="0" bIns="0" anchor="t" anchorCtr="0">
              <a:spAutoFit/>
            </a:bodyPr>
            <a:lstStyle/>
            <a:p>
              <a:pPr algn="l"/>
              <a:r>
                <a:rPr lang="zh-CN" sz="1050" b="1" dirty="0">
                  <a:solidFill>
                    <a:srgbClr val="AF00C0"/>
                  </a:solidFill>
                  <a:latin typeface="Arial"/>
                  <a:ea typeface="Microsoft YaHei"/>
                  <a:cs typeface="Arial"/>
                </a:rPr>
                <a:t>"=&amp;r" early-clobber</a:t>
              </a:r>
            </a:p>
          </p:txBody>
        </p:sp>
        <p:sp>
          <p:nvSpPr>
            <p:cNvPr id="49" name="TextBox 49"/>
            <p:cNvSpPr txBox="1"/>
            <p:nvPr/>
          </p:nvSpPr>
          <p:spPr>
            <a:xfrm>
              <a:off x="7559992" y="4200049"/>
              <a:ext cx="3477935"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Scratch register written before inputs consumed</a:t>
              </a:r>
            </a:p>
          </p:txBody>
        </p:sp>
        <p:sp>
          <p:nvSpPr>
            <p:cNvPr id="50" name="Rectangle 50"/>
            <p:cNvSpPr/>
            <p:nvPr/>
          </p:nvSpPr>
          <p:spPr>
            <a:xfrm>
              <a:off x="476250" y="4762500"/>
              <a:ext cx="11239500" cy="952500"/>
            </a:xfrm>
            <a:prstGeom prst="roundRect">
              <a:avLst>
                <a:gd name="adj" fmla="val 8000"/>
              </a:avLst>
            </a:prstGeom>
            <a:solidFill>
              <a:srgbClr val="F8FAFC"/>
            </a:solidFill>
            <a:ln w="9525">
              <a:solidFill>
                <a:srgbClr val="64748B"/>
              </a:solidFill>
            </a:ln>
          </p:spPr>
        </p:sp>
        <p:sp>
          <p:nvSpPr>
            <p:cNvPr id="51" name="TextBox 51"/>
            <p:cNvSpPr txBox="1"/>
            <p:nvPr/>
          </p:nvSpPr>
          <p:spPr>
            <a:xfrm>
              <a:off x="4850861" y="4887278"/>
              <a:ext cx="2490278"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Byte Transformation in Memory</a:t>
              </a:r>
            </a:p>
          </p:txBody>
        </p:sp>
        <p:sp>
          <p:nvSpPr>
            <p:cNvPr id="52" name="Rectangle 52"/>
            <p:cNvSpPr/>
            <p:nvPr/>
          </p:nvSpPr>
          <p:spPr>
            <a:xfrm>
              <a:off x="1143000" y="5191125"/>
              <a:ext cx="2286000" cy="381000"/>
            </a:xfrm>
            <a:prstGeom prst="roundRect">
              <a:avLst>
                <a:gd name="adj" fmla="val 10000"/>
              </a:avLst>
            </a:prstGeom>
            <a:solidFill>
              <a:srgbClr val="1E293B"/>
            </a:solidFill>
            <a:ln>
              <a:noFill/>
            </a:ln>
          </p:spPr>
        </p:sp>
        <p:sp>
          <p:nvSpPr>
            <p:cNvPr id="53" name="TextBox 53"/>
            <p:cNvSpPr txBox="1"/>
            <p:nvPr/>
          </p:nvSpPr>
          <p:spPr>
            <a:xfrm>
              <a:off x="1840409" y="5317331"/>
              <a:ext cx="891183" cy="228600"/>
            </a:xfrm>
            <a:prstGeom prst="rect">
              <a:avLst/>
            </a:prstGeom>
            <a:noFill/>
            <a:ln>
              <a:noFill/>
            </a:ln>
          </p:spPr>
          <p:txBody>
            <a:bodyPr wrap="none" lIns="0" tIns="0" rIns="0" bIns="0" anchor="t" anchorCtr="0">
              <a:spAutoFit/>
            </a:bodyPr>
            <a:lstStyle/>
            <a:p>
              <a:pPr algn="ctr"/>
              <a:r>
                <a:rPr lang="zh-CN" sz="1125" dirty="0">
                  <a:solidFill>
                    <a:srgbClr val="F79646"/>
                  </a:solidFill>
                  <a:latin typeface="Consolas"/>
                  <a:ea typeface="Microsoft YaHei"/>
                  <a:cs typeface="Consolas"/>
                </a:rPr>
                <a:t>0x05e1f00c</a:t>
              </a:r>
            </a:p>
          </p:txBody>
        </p:sp>
        <p:sp>
          <p:nvSpPr>
            <p:cNvPr id="54" name="TextBox 54"/>
            <p:cNvSpPr txBox="1"/>
            <p:nvPr/>
          </p:nvSpPr>
          <p:spPr>
            <a:xfrm>
              <a:off x="3790950" y="5276850"/>
              <a:ext cx="815816" cy="304800"/>
            </a:xfrm>
            <a:prstGeom prst="rect">
              <a:avLst/>
            </a:prstGeom>
            <a:noFill/>
            <a:ln>
              <a:noFill/>
            </a:ln>
          </p:spPr>
          <p:txBody>
            <a:bodyPr wrap="none" lIns="0" tIns="0" rIns="0" bIns="0" anchor="t" anchorCtr="0">
              <a:spAutoFit/>
            </a:bodyPr>
            <a:lstStyle/>
            <a:p>
              <a:pPr algn="l"/>
              <a:r>
                <a:rPr lang="zh-CN" sz="1500" dirty="0">
                  <a:solidFill>
                    <a:srgbClr val="333333"/>
                  </a:solidFill>
                  <a:latin typeface="Arial"/>
                  <a:ea typeface="Microsoft YaHei"/>
                  <a:cs typeface="Arial"/>
                </a:rPr>
                <a:t>→ NOT →</a:t>
              </a:r>
            </a:p>
          </p:txBody>
        </p:sp>
        <p:sp>
          <p:nvSpPr>
            <p:cNvPr id="55" name="Rectangle 55"/>
            <p:cNvSpPr/>
            <p:nvPr/>
          </p:nvSpPr>
          <p:spPr>
            <a:xfrm>
              <a:off x="4953000" y="5191125"/>
              <a:ext cx="2286000" cy="381000"/>
            </a:xfrm>
            <a:prstGeom prst="roundRect">
              <a:avLst>
                <a:gd name="adj" fmla="val 10000"/>
              </a:avLst>
            </a:prstGeom>
            <a:solidFill>
              <a:srgbClr val="1E293B"/>
            </a:solidFill>
            <a:ln>
              <a:noFill/>
            </a:ln>
          </p:spPr>
        </p:sp>
        <p:sp>
          <p:nvSpPr>
            <p:cNvPr id="56" name="TextBox 56"/>
            <p:cNvSpPr txBox="1"/>
            <p:nvPr/>
          </p:nvSpPr>
          <p:spPr>
            <a:xfrm>
              <a:off x="5650409" y="5317331"/>
              <a:ext cx="891183" cy="228600"/>
            </a:xfrm>
            <a:prstGeom prst="rect">
              <a:avLst/>
            </a:prstGeom>
            <a:noFill/>
            <a:ln>
              <a:noFill/>
            </a:ln>
          </p:spPr>
          <p:txBody>
            <a:bodyPr wrap="none" lIns="0" tIns="0" rIns="0" bIns="0" anchor="t" anchorCtr="0">
              <a:spAutoFit/>
            </a:bodyPr>
            <a:lstStyle/>
            <a:p>
              <a:pPr algn="ctr"/>
              <a:r>
                <a:rPr lang="zh-CN" sz="1125" dirty="0">
                  <a:solidFill>
                    <a:srgbClr val="0AB36E"/>
                  </a:solidFill>
                  <a:latin typeface="Consolas"/>
                  <a:ea typeface="Microsoft YaHei"/>
                  <a:cs typeface="Consolas"/>
                </a:rPr>
                <a:t>0xfa1e0ff3</a:t>
              </a:r>
            </a:p>
          </p:txBody>
        </p:sp>
        <p:sp>
          <p:nvSpPr>
            <p:cNvPr id="57" name="TextBox 57"/>
            <p:cNvSpPr txBox="1"/>
            <p:nvPr/>
          </p:nvSpPr>
          <p:spPr>
            <a:xfrm>
              <a:off x="7600950" y="5276850"/>
              <a:ext cx="1133475" cy="304800"/>
            </a:xfrm>
            <a:prstGeom prst="rect">
              <a:avLst/>
            </a:prstGeom>
            <a:noFill/>
            <a:ln>
              <a:noFill/>
            </a:ln>
          </p:spPr>
          <p:txBody>
            <a:bodyPr wrap="none" lIns="0" tIns="0" rIns="0" bIns="0" anchor="t" anchorCtr="0">
              <a:spAutoFit/>
            </a:bodyPr>
            <a:lstStyle/>
            <a:p>
              <a:pPr algn="l"/>
              <a:r>
                <a:rPr lang="zh-CN" sz="1500" dirty="0">
                  <a:solidFill>
                    <a:srgbClr val="333333"/>
                  </a:solidFill>
                  <a:latin typeface="Arial"/>
                  <a:ea typeface="Microsoft YaHei"/>
                  <a:cs typeface="Arial"/>
                </a:rPr>
                <a:t>→ decode →</a:t>
              </a:r>
            </a:p>
          </p:txBody>
        </p:sp>
        <p:sp>
          <p:nvSpPr>
            <p:cNvPr id="58" name="Rectangle 58"/>
            <p:cNvSpPr/>
            <p:nvPr/>
          </p:nvSpPr>
          <p:spPr>
            <a:xfrm>
              <a:off x="8858250" y="5191125"/>
              <a:ext cx="2286000" cy="381000"/>
            </a:xfrm>
            <a:prstGeom prst="roundRect">
              <a:avLst>
                <a:gd name="adj" fmla="val 10000"/>
              </a:avLst>
            </a:prstGeom>
            <a:solidFill>
              <a:srgbClr val="0AB36E"/>
            </a:solidFill>
            <a:ln>
              <a:noFill/>
            </a:ln>
          </p:spPr>
        </p:sp>
        <p:sp>
          <p:nvSpPr>
            <p:cNvPr id="59" name="TextBox 59"/>
            <p:cNvSpPr txBox="1"/>
            <p:nvPr/>
          </p:nvSpPr>
          <p:spPr>
            <a:xfrm>
              <a:off x="9670673" y="5317331"/>
              <a:ext cx="661154"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Consolas"/>
                  <a:ea typeface="Microsoft YaHei"/>
                  <a:cs typeface="Consolas"/>
                </a:rPr>
                <a:t>ENDBR64</a:t>
              </a:r>
            </a:p>
          </p:txBody>
        </p:sp>
      </p:grpSp>
      <p:grpSp>
        <p:nvGrpSpPr>
          <p:cNvPr id="63" name="Group 63"/>
          <p:cNvGrpSpPr/>
          <p:nvPr/>
        </p:nvGrpSpPr>
        <p:grpSpPr>
          <a:xfrm>
            <a:off x="10283883" y="5886450"/>
            <a:ext cx="1441392" cy="947738"/>
            <a:chOff x="10283883" y="5886450"/>
            <a:chExt cx="1441392" cy="947738"/>
          </a:xfrm>
        </p:grpSpPr>
        <p:pic>
          <p:nvPicPr>
            <p:cNvPr id="61" name="Image 61"/>
            <p:cNvPicPr>
              <a:picLocks noChangeAspect="1"/>
            </p:cNvPicPr>
            <p:nvPr/>
          </p:nvPicPr>
          <p:blipFill>
            <a:blip r:embed="rId4"/>
            <a:stretch>
              <a:fillRect/>
            </a:stretch>
          </p:blipFill>
          <p:spPr>
            <a:xfrm>
              <a:off x="10283883" y="5886450"/>
              <a:ext cx="1158759" cy="381000"/>
            </a:xfrm>
            <a:prstGeom prst="rect">
              <a:avLst/>
            </a:prstGeom>
          </p:spPr>
        </p:pic>
        <p:sp>
          <p:nvSpPr>
            <p:cNvPr id="62" name="TextBox 62"/>
            <p:cNvSpPr txBox="1"/>
            <p:nvPr/>
          </p:nvSpPr>
          <p:spPr>
            <a:xfrm>
              <a:off x="11585734" y="6681788"/>
              <a:ext cx="139541"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06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7826731"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Control Protection Exception — Error Codes</a:t>
            </a:r>
          </a:p>
        </p:txBody>
      </p:sp>
      <p:grpSp>
        <p:nvGrpSpPr>
          <p:cNvPr id="65" name="Group 65"/>
          <p:cNvGrpSpPr/>
          <p:nvPr/>
        </p:nvGrpSpPr>
        <p:grpSpPr>
          <a:xfrm>
            <a:off x="476250" y="1333500"/>
            <a:ext cx="11239500" cy="4433888"/>
            <a:chOff x="476250" y="1333500"/>
            <a:chExt cx="11239500" cy="4433888"/>
          </a:xfrm>
        </p:grpSpPr>
        <p:sp>
          <p:nvSpPr>
            <p:cNvPr id="6" name="Rectangle 6"/>
            <p:cNvSpPr/>
            <p:nvPr/>
          </p:nvSpPr>
          <p:spPr>
            <a:xfrm>
              <a:off x="476250" y="1333500"/>
              <a:ext cx="5715000" cy="2667000"/>
            </a:xfrm>
            <a:prstGeom prst="roundRect">
              <a:avLst>
                <a:gd name="adj" fmla="val 2857"/>
              </a:avLst>
            </a:prstGeom>
            <a:solidFill>
              <a:srgbClr val="1E293B"/>
            </a:solidFill>
            <a:ln>
              <a:noFill/>
            </a:ln>
          </p:spPr>
        </p:sp>
        <p:sp>
          <p:nvSpPr>
            <p:cNvPr id="7" name="TextBox 7"/>
            <p:cNvSpPr txBox="1"/>
            <p:nvPr/>
          </p:nvSpPr>
          <p:spPr>
            <a:xfrm>
              <a:off x="655320" y="1503045"/>
              <a:ext cx="2507170" cy="182880"/>
            </a:xfrm>
            <a:prstGeom prst="rect">
              <a:avLst/>
            </a:prstGeom>
            <a:noFill/>
            <a:ln>
              <a:noFill/>
            </a:ln>
          </p:spPr>
          <p:txBody>
            <a:bodyPr wrap="none" lIns="0" tIns="0" rIns="0" bIns="0" anchor="t" anchorCtr="0">
              <a:spAutoFit/>
            </a:bodyPr>
            <a:lstStyle/>
            <a:p>
              <a:pPr algn="l"/>
              <a:r>
                <a:rPr lang="zh-CN" sz="900" dirty="0">
                  <a:solidFill>
                    <a:srgbClr val="6A9955"/>
                  </a:solidFill>
                  <a:latin typeface="Arial"/>
                  <a:ea typeface="Microsoft YaHei"/>
                  <a:cs typeface="Arial"/>
                </a:rPr>
                <a:t>/* arch/x86/kernel/cet.c lines 8–18 */</a:t>
              </a:r>
            </a:p>
          </p:txBody>
        </p:sp>
        <p:sp>
          <p:nvSpPr>
            <p:cNvPr id="8" name="TextBox 8"/>
            <p:cNvSpPr txBox="1"/>
            <p:nvPr/>
          </p:nvSpPr>
          <p:spPr>
            <a:xfrm>
              <a:off x="653415" y="1791652"/>
              <a:ext cx="394716"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enum</a:t>
              </a:r>
            </a:p>
          </p:txBody>
        </p:sp>
        <p:sp>
          <p:nvSpPr>
            <p:cNvPr id="9" name="TextBox 9"/>
            <p:cNvSpPr txBox="1"/>
            <p:nvPr/>
          </p:nvSpPr>
          <p:spPr>
            <a:xfrm>
              <a:off x="1034415" y="1791652"/>
              <a:ext cx="129949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cp_error_code {</a:t>
              </a:r>
            </a:p>
          </p:txBody>
        </p:sp>
        <p:sp>
          <p:nvSpPr>
            <p:cNvPr id="10" name="TextBox 10"/>
            <p:cNvSpPr txBox="1"/>
            <p:nvPr/>
          </p:nvSpPr>
          <p:spPr>
            <a:xfrm>
              <a:off x="653415" y="2058352"/>
              <a:ext cx="113080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CP_EC        = </a:t>
              </a:r>
            </a:p>
          </p:txBody>
        </p:sp>
        <p:sp>
          <p:nvSpPr>
            <p:cNvPr id="11" name="TextBox 11"/>
            <p:cNvSpPr txBox="1"/>
            <p:nvPr/>
          </p:nvSpPr>
          <p:spPr>
            <a:xfrm>
              <a:off x="2386965" y="2058352"/>
              <a:ext cx="540401"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BIT(15)</a:t>
              </a:r>
            </a:p>
          </p:txBody>
        </p:sp>
        <p:sp>
          <p:nvSpPr>
            <p:cNvPr id="12" name="TextBox 12"/>
            <p:cNvSpPr txBox="1"/>
            <p:nvPr/>
          </p:nvSpPr>
          <p:spPr>
            <a:xfrm>
              <a:off x="3063240" y="20583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3" name="TextBox 13"/>
            <p:cNvSpPr txBox="1"/>
            <p:nvPr/>
          </p:nvSpPr>
          <p:spPr>
            <a:xfrm>
              <a:off x="3606165" y="2058352"/>
              <a:ext cx="1307163"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SGX enclave */</a:t>
              </a:r>
            </a:p>
          </p:txBody>
        </p:sp>
        <p:sp>
          <p:nvSpPr>
            <p:cNvPr id="14" name="TextBox 14"/>
            <p:cNvSpPr txBox="1"/>
            <p:nvPr/>
          </p:nvSpPr>
          <p:spPr>
            <a:xfrm>
              <a:off x="653415" y="2325052"/>
              <a:ext cx="116914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CP_RET       = </a:t>
              </a:r>
            </a:p>
          </p:txBody>
        </p:sp>
        <p:sp>
          <p:nvSpPr>
            <p:cNvPr id="15" name="TextBox 15"/>
            <p:cNvSpPr txBox="1"/>
            <p:nvPr/>
          </p:nvSpPr>
          <p:spPr>
            <a:xfrm>
              <a:off x="2386965" y="2325052"/>
              <a:ext cx="72676"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1</a:t>
              </a:r>
            </a:p>
          </p:txBody>
        </p:sp>
        <p:sp>
          <p:nvSpPr>
            <p:cNvPr id="16" name="TextBox 16"/>
            <p:cNvSpPr txBox="1"/>
            <p:nvPr/>
          </p:nvSpPr>
          <p:spPr>
            <a:xfrm>
              <a:off x="2472690" y="23250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7" name="TextBox 17"/>
            <p:cNvSpPr txBox="1"/>
            <p:nvPr/>
          </p:nvSpPr>
          <p:spPr>
            <a:xfrm>
              <a:off x="3606165" y="2325052"/>
              <a:ext cx="1092470"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near RET */</a:t>
              </a:r>
            </a:p>
          </p:txBody>
        </p:sp>
        <p:sp>
          <p:nvSpPr>
            <p:cNvPr id="18" name="TextBox 18"/>
            <p:cNvSpPr txBox="1"/>
            <p:nvPr/>
          </p:nvSpPr>
          <p:spPr>
            <a:xfrm>
              <a:off x="653415" y="2591752"/>
              <a:ext cx="116914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CP_IRET      = </a:t>
              </a:r>
            </a:p>
          </p:txBody>
        </p:sp>
        <p:sp>
          <p:nvSpPr>
            <p:cNvPr id="19" name="TextBox 19"/>
            <p:cNvSpPr txBox="1"/>
            <p:nvPr/>
          </p:nvSpPr>
          <p:spPr>
            <a:xfrm>
              <a:off x="2386965" y="2591752"/>
              <a:ext cx="111014"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2</a:t>
              </a:r>
            </a:p>
          </p:txBody>
        </p:sp>
        <p:sp>
          <p:nvSpPr>
            <p:cNvPr id="20" name="TextBox 20"/>
            <p:cNvSpPr txBox="1"/>
            <p:nvPr/>
          </p:nvSpPr>
          <p:spPr>
            <a:xfrm>
              <a:off x="2472690" y="25917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21" name="TextBox 21"/>
            <p:cNvSpPr txBox="1"/>
            <p:nvPr/>
          </p:nvSpPr>
          <p:spPr>
            <a:xfrm>
              <a:off x="3606165" y="2591752"/>
              <a:ext cx="1391507"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IRET/far RET */</a:t>
              </a:r>
            </a:p>
          </p:txBody>
        </p:sp>
        <p:sp>
          <p:nvSpPr>
            <p:cNvPr id="22" name="TextBox 22"/>
            <p:cNvSpPr txBox="1"/>
            <p:nvPr/>
          </p:nvSpPr>
          <p:spPr>
            <a:xfrm>
              <a:off x="653415" y="2858452"/>
              <a:ext cx="1245822"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CP_ENDBR     = </a:t>
              </a:r>
            </a:p>
          </p:txBody>
        </p:sp>
        <p:sp>
          <p:nvSpPr>
            <p:cNvPr id="23" name="TextBox 23"/>
            <p:cNvSpPr txBox="1"/>
            <p:nvPr/>
          </p:nvSpPr>
          <p:spPr>
            <a:xfrm>
              <a:off x="2386965" y="2858452"/>
              <a:ext cx="111014"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3</a:t>
              </a:r>
            </a:p>
          </p:txBody>
        </p:sp>
        <p:sp>
          <p:nvSpPr>
            <p:cNvPr id="24" name="TextBox 24"/>
            <p:cNvSpPr txBox="1"/>
            <p:nvPr/>
          </p:nvSpPr>
          <p:spPr>
            <a:xfrm>
              <a:off x="2472690" y="28584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25" name="TextBox 25"/>
            <p:cNvSpPr txBox="1"/>
            <p:nvPr/>
          </p:nvSpPr>
          <p:spPr>
            <a:xfrm>
              <a:off x="3606165" y="2858452"/>
              <a:ext cx="1468184"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missing ENDBR */</a:t>
              </a:r>
            </a:p>
          </p:txBody>
        </p:sp>
        <p:sp>
          <p:nvSpPr>
            <p:cNvPr id="26" name="TextBox 26"/>
            <p:cNvSpPr txBox="1"/>
            <p:nvPr/>
          </p:nvSpPr>
          <p:spPr>
            <a:xfrm>
              <a:off x="653415" y="3125152"/>
              <a:ext cx="139150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CP_RSTORSSP  = </a:t>
              </a:r>
            </a:p>
          </p:txBody>
        </p:sp>
        <p:sp>
          <p:nvSpPr>
            <p:cNvPr id="27" name="TextBox 27"/>
            <p:cNvSpPr txBox="1"/>
            <p:nvPr/>
          </p:nvSpPr>
          <p:spPr>
            <a:xfrm>
              <a:off x="2386965" y="3125152"/>
              <a:ext cx="111014"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4</a:t>
              </a:r>
            </a:p>
          </p:txBody>
        </p:sp>
        <p:sp>
          <p:nvSpPr>
            <p:cNvPr id="28" name="TextBox 28"/>
            <p:cNvSpPr txBox="1"/>
            <p:nvPr/>
          </p:nvSpPr>
          <p:spPr>
            <a:xfrm>
              <a:off x="2472690" y="31251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29" name="TextBox 29"/>
            <p:cNvSpPr txBox="1"/>
            <p:nvPr/>
          </p:nvSpPr>
          <p:spPr>
            <a:xfrm>
              <a:off x="3606165" y="3125152"/>
              <a:ext cx="1629204"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RSTORSSP token */</a:t>
              </a:r>
            </a:p>
          </p:txBody>
        </p:sp>
        <p:sp>
          <p:nvSpPr>
            <p:cNvPr id="30" name="TextBox 30"/>
            <p:cNvSpPr txBox="1"/>
            <p:nvPr/>
          </p:nvSpPr>
          <p:spPr>
            <a:xfrm>
              <a:off x="653415" y="3391852"/>
              <a:ext cx="136083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CP_SETSSBSY  = </a:t>
              </a:r>
            </a:p>
          </p:txBody>
        </p:sp>
        <p:sp>
          <p:nvSpPr>
            <p:cNvPr id="31" name="TextBox 31"/>
            <p:cNvSpPr txBox="1"/>
            <p:nvPr/>
          </p:nvSpPr>
          <p:spPr>
            <a:xfrm>
              <a:off x="2386965" y="3391852"/>
              <a:ext cx="111014"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5</a:t>
              </a:r>
            </a:p>
          </p:txBody>
        </p:sp>
        <p:sp>
          <p:nvSpPr>
            <p:cNvPr id="32" name="TextBox 32"/>
            <p:cNvSpPr txBox="1"/>
            <p:nvPr/>
          </p:nvSpPr>
          <p:spPr>
            <a:xfrm>
              <a:off x="2472690" y="33918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33" name="TextBox 33"/>
            <p:cNvSpPr txBox="1"/>
            <p:nvPr/>
          </p:nvSpPr>
          <p:spPr>
            <a:xfrm>
              <a:off x="3606165" y="3391852"/>
              <a:ext cx="1598533"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SETSSBSY token */</a:t>
              </a:r>
            </a:p>
          </p:txBody>
        </p:sp>
        <p:sp>
          <p:nvSpPr>
            <p:cNvPr id="34" name="TextBox 34"/>
            <p:cNvSpPr txBox="1"/>
            <p:nvPr/>
          </p:nvSpPr>
          <p:spPr>
            <a:xfrm>
              <a:off x="653415" y="3658552"/>
              <a:ext cx="19535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35" name="TextBox 35"/>
            <p:cNvSpPr txBox="1"/>
            <p:nvPr/>
          </p:nvSpPr>
          <p:spPr>
            <a:xfrm>
              <a:off x="6650355" y="1425892"/>
              <a:ext cx="1638741" cy="274320"/>
            </a:xfrm>
            <a:prstGeom prst="rect">
              <a:avLst/>
            </a:prstGeom>
            <a:noFill/>
            <a:ln>
              <a:noFill/>
            </a:ln>
          </p:spPr>
          <p:txBody>
            <a:bodyPr wrap="none" lIns="0" tIns="0" rIns="0" bIns="0" anchor="t" anchorCtr="0">
              <a:spAutoFit/>
            </a:bodyPr>
            <a:lstStyle/>
            <a:p>
              <a:pPr algn="l"/>
              <a:r>
                <a:rPr lang="zh-CN" sz="1350" b="1" dirty="0">
                  <a:solidFill>
                    <a:srgbClr val="333333"/>
                  </a:solidFill>
                  <a:latin typeface="Arial"/>
                  <a:ea typeface="Microsoft YaHei"/>
                  <a:cs typeface="Arial"/>
                </a:rPr>
                <a:t>Key Error Codes</a:t>
              </a:r>
            </a:p>
          </p:txBody>
        </p:sp>
        <p:sp>
          <p:nvSpPr>
            <p:cNvPr id="36" name="Rectangle 36"/>
            <p:cNvSpPr/>
            <p:nvPr/>
          </p:nvSpPr>
          <p:spPr>
            <a:xfrm>
              <a:off x="6667500" y="1714500"/>
              <a:ext cx="5048250" cy="342900"/>
            </a:xfrm>
            <a:prstGeom prst="roundRect">
              <a:avLst>
                <a:gd name="adj" fmla="val 11111"/>
              </a:avLst>
            </a:prstGeom>
            <a:solidFill>
              <a:srgbClr val="1E293B"/>
            </a:solidFill>
            <a:ln>
              <a:noFill/>
            </a:ln>
          </p:spPr>
        </p:sp>
        <p:sp>
          <p:nvSpPr>
            <p:cNvPr id="37" name="TextBox 37"/>
            <p:cNvSpPr txBox="1"/>
            <p:nvPr/>
          </p:nvSpPr>
          <p:spPr>
            <a:xfrm>
              <a:off x="6940868" y="1837849"/>
              <a:ext cx="35370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Code</a:t>
              </a:r>
            </a:p>
          </p:txBody>
        </p:sp>
        <p:sp>
          <p:nvSpPr>
            <p:cNvPr id="38" name="TextBox 38"/>
            <p:cNvSpPr txBox="1"/>
            <p:nvPr/>
          </p:nvSpPr>
          <p:spPr>
            <a:xfrm>
              <a:off x="7893368" y="1837849"/>
              <a:ext cx="59293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Meaning</a:t>
              </a:r>
            </a:p>
          </p:txBody>
        </p:sp>
        <p:sp>
          <p:nvSpPr>
            <p:cNvPr id="39" name="TextBox 39"/>
            <p:cNvSpPr txBox="1"/>
            <p:nvPr/>
          </p:nvSpPr>
          <p:spPr>
            <a:xfrm>
              <a:off x="9893618" y="1837849"/>
              <a:ext cx="682647"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Protects</a:t>
              </a:r>
            </a:p>
          </p:txBody>
        </p:sp>
        <p:sp>
          <p:nvSpPr>
            <p:cNvPr id="40" name="Rectangle 40"/>
            <p:cNvSpPr/>
            <p:nvPr/>
          </p:nvSpPr>
          <p:spPr>
            <a:xfrm>
              <a:off x="6667500" y="2095500"/>
              <a:ext cx="5048250" cy="571500"/>
            </a:xfrm>
            <a:prstGeom prst="roundRect">
              <a:avLst>
                <a:gd name="adj" fmla="val 6667"/>
              </a:avLst>
            </a:prstGeom>
            <a:solidFill>
              <a:srgbClr val="FAF5FF"/>
            </a:solidFill>
            <a:ln w="9525">
              <a:solidFill>
                <a:srgbClr val="AF00C0"/>
              </a:solidFill>
            </a:ln>
          </p:spPr>
        </p:sp>
        <p:sp>
          <p:nvSpPr>
            <p:cNvPr id="41" name="TextBox 41"/>
            <p:cNvSpPr txBox="1"/>
            <p:nvPr/>
          </p:nvSpPr>
          <p:spPr>
            <a:xfrm>
              <a:off x="6939915" y="2239328"/>
              <a:ext cx="74976" cy="213360"/>
            </a:xfrm>
            <a:prstGeom prst="rect">
              <a:avLst/>
            </a:prstGeom>
            <a:noFill/>
            <a:ln>
              <a:noFill/>
            </a:ln>
          </p:spPr>
          <p:txBody>
            <a:bodyPr wrap="none" lIns="0" tIns="0" rIns="0" bIns="0" anchor="t" anchorCtr="0">
              <a:spAutoFit/>
            </a:bodyPr>
            <a:lstStyle/>
            <a:p>
              <a:pPr algn="l"/>
              <a:r>
                <a:rPr lang="zh-CN" sz="1050" b="1" dirty="0">
                  <a:solidFill>
                    <a:srgbClr val="AF00C0"/>
                  </a:solidFill>
                  <a:latin typeface="Consolas"/>
                  <a:ea typeface="Microsoft YaHei"/>
                  <a:cs typeface="Consolas"/>
                </a:rPr>
                <a:t>1</a:t>
              </a:r>
            </a:p>
          </p:txBody>
        </p:sp>
        <p:sp>
          <p:nvSpPr>
            <p:cNvPr id="42" name="TextBox 42"/>
            <p:cNvSpPr txBox="1"/>
            <p:nvPr/>
          </p:nvSpPr>
          <p:spPr>
            <a:xfrm>
              <a:off x="7892415" y="2172652"/>
              <a:ext cx="532733"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CP_RET</a:t>
              </a:r>
            </a:p>
          </p:txBody>
        </p:sp>
        <p:sp>
          <p:nvSpPr>
            <p:cNvPr id="43" name="TextBox 43"/>
            <p:cNvSpPr txBox="1"/>
            <p:nvPr/>
          </p:nvSpPr>
          <p:spPr>
            <a:xfrm>
              <a:off x="7894320" y="2398395"/>
              <a:ext cx="1961674"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Shadow stack mismatch on RET</a:t>
              </a:r>
            </a:p>
          </p:txBody>
        </p:sp>
        <p:sp>
          <p:nvSpPr>
            <p:cNvPr id="44" name="TextBox 44"/>
            <p:cNvSpPr txBox="1"/>
            <p:nvPr/>
          </p:nvSpPr>
          <p:spPr>
            <a:xfrm>
              <a:off x="9892665" y="2239328"/>
              <a:ext cx="469475" cy="213360"/>
            </a:xfrm>
            <a:prstGeom prst="rect">
              <a:avLst/>
            </a:prstGeom>
            <a:noFill/>
            <a:ln>
              <a:noFill/>
            </a:ln>
          </p:spPr>
          <p:txBody>
            <a:bodyPr wrap="none" lIns="0" tIns="0" rIns="0" bIns="0" anchor="t" anchorCtr="0">
              <a:spAutoFit/>
            </a:bodyPr>
            <a:lstStyle/>
            <a:p>
              <a:pPr algn="l"/>
              <a:r>
                <a:rPr lang="zh-CN" sz="1050" b="1" dirty="0">
                  <a:solidFill>
                    <a:srgbClr val="AF00C0"/>
                  </a:solidFill>
                  <a:latin typeface="Arial"/>
                  <a:ea typeface="Microsoft YaHei"/>
                  <a:cs typeface="Arial"/>
                </a:rPr>
                <a:t>SHSTK</a:t>
              </a:r>
            </a:p>
          </p:txBody>
        </p:sp>
        <p:sp>
          <p:nvSpPr>
            <p:cNvPr id="45" name="Rectangle 45"/>
            <p:cNvSpPr/>
            <p:nvPr/>
          </p:nvSpPr>
          <p:spPr>
            <a:xfrm>
              <a:off x="6667500" y="2743200"/>
              <a:ext cx="5048250" cy="571500"/>
            </a:xfrm>
            <a:prstGeom prst="roundRect">
              <a:avLst>
                <a:gd name="adj" fmla="val 6667"/>
              </a:avLst>
            </a:prstGeom>
            <a:solidFill>
              <a:srgbClr val="F0FDF9"/>
            </a:solidFill>
            <a:ln w="9525">
              <a:solidFill>
                <a:srgbClr val="0AB36E"/>
              </a:solidFill>
            </a:ln>
          </p:spPr>
        </p:sp>
        <p:sp>
          <p:nvSpPr>
            <p:cNvPr id="46" name="TextBox 46"/>
            <p:cNvSpPr txBox="1"/>
            <p:nvPr/>
          </p:nvSpPr>
          <p:spPr>
            <a:xfrm>
              <a:off x="6939915" y="2887028"/>
              <a:ext cx="115231" cy="213360"/>
            </a:xfrm>
            <a:prstGeom prst="rect">
              <a:avLst/>
            </a:prstGeom>
            <a:noFill/>
            <a:ln>
              <a:noFill/>
            </a:ln>
          </p:spPr>
          <p:txBody>
            <a:bodyPr wrap="none" lIns="0" tIns="0" rIns="0" bIns="0" anchor="t" anchorCtr="0">
              <a:spAutoFit/>
            </a:bodyPr>
            <a:lstStyle/>
            <a:p>
              <a:pPr algn="l"/>
              <a:r>
                <a:rPr lang="zh-CN" sz="1050" b="1" dirty="0">
                  <a:solidFill>
                    <a:srgbClr val="0AB36E"/>
                  </a:solidFill>
                  <a:latin typeface="Consolas"/>
                  <a:ea typeface="Microsoft YaHei"/>
                  <a:cs typeface="Consolas"/>
                </a:rPr>
                <a:t>3</a:t>
              </a:r>
            </a:p>
          </p:txBody>
        </p:sp>
        <p:sp>
          <p:nvSpPr>
            <p:cNvPr id="47" name="TextBox 47"/>
            <p:cNvSpPr txBox="1"/>
            <p:nvPr/>
          </p:nvSpPr>
          <p:spPr>
            <a:xfrm>
              <a:off x="7892415" y="2820352"/>
              <a:ext cx="701421"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CP_ENDBR</a:t>
              </a:r>
            </a:p>
          </p:txBody>
        </p:sp>
        <p:sp>
          <p:nvSpPr>
            <p:cNvPr id="48" name="TextBox 48"/>
            <p:cNvSpPr txBox="1"/>
            <p:nvPr/>
          </p:nvSpPr>
          <p:spPr>
            <a:xfrm>
              <a:off x="7894320" y="3046095"/>
              <a:ext cx="2020824"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Missing ENDBR at branch target</a:t>
              </a:r>
            </a:p>
          </p:txBody>
        </p:sp>
        <p:sp>
          <p:nvSpPr>
            <p:cNvPr id="49" name="TextBox 49"/>
            <p:cNvSpPr txBox="1"/>
            <p:nvPr/>
          </p:nvSpPr>
          <p:spPr>
            <a:xfrm>
              <a:off x="9892665" y="2887028"/>
              <a:ext cx="252098" cy="213360"/>
            </a:xfrm>
            <a:prstGeom prst="rect">
              <a:avLst/>
            </a:prstGeom>
            <a:noFill/>
            <a:ln>
              <a:noFill/>
            </a:ln>
          </p:spPr>
          <p:txBody>
            <a:bodyPr wrap="none" lIns="0" tIns="0" rIns="0" bIns="0" anchor="t" anchorCtr="0">
              <a:spAutoFit/>
            </a:bodyPr>
            <a:lstStyle/>
            <a:p>
              <a:pPr algn="l"/>
              <a:r>
                <a:rPr lang="zh-CN" sz="1050" b="1" dirty="0">
                  <a:solidFill>
                    <a:srgbClr val="0AB36E"/>
                  </a:solidFill>
                  <a:latin typeface="Arial"/>
                  <a:ea typeface="Microsoft YaHei"/>
                  <a:cs typeface="Arial"/>
                </a:rPr>
                <a:t>IBT</a:t>
              </a:r>
            </a:p>
          </p:txBody>
        </p:sp>
        <p:sp>
          <p:nvSpPr>
            <p:cNvPr id="50" name="Rectangle 50"/>
            <p:cNvSpPr/>
            <p:nvPr/>
          </p:nvSpPr>
          <p:spPr>
            <a:xfrm>
              <a:off x="6667500" y="3390900"/>
              <a:ext cx="5048250" cy="571500"/>
            </a:xfrm>
            <a:prstGeom prst="roundRect">
              <a:avLst>
                <a:gd name="adj" fmla="val 6667"/>
              </a:avLst>
            </a:prstGeom>
            <a:solidFill>
              <a:srgbClr val="F8FAFC"/>
            </a:solidFill>
            <a:ln w="9525">
              <a:solidFill>
                <a:srgbClr val="64748B"/>
              </a:solidFill>
            </a:ln>
          </p:spPr>
        </p:sp>
        <p:sp>
          <p:nvSpPr>
            <p:cNvPr id="51" name="TextBox 51"/>
            <p:cNvSpPr txBox="1"/>
            <p:nvPr/>
          </p:nvSpPr>
          <p:spPr>
            <a:xfrm>
              <a:off x="6939915" y="3534728"/>
              <a:ext cx="437271"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Consolas"/>
                  <a:ea typeface="Microsoft YaHei"/>
                  <a:cs typeface="Consolas"/>
                </a:rPr>
                <a:t>bit 15</a:t>
              </a:r>
            </a:p>
          </p:txBody>
        </p:sp>
        <p:sp>
          <p:nvSpPr>
            <p:cNvPr id="52" name="TextBox 52"/>
            <p:cNvSpPr txBox="1"/>
            <p:nvPr/>
          </p:nvSpPr>
          <p:spPr>
            <a:xfrm>
              <a:off x="7892415" y="3468052"/>
              <a:ext cx="1253490"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CP_EC (CP_ENCL)</a:t>
              </a:r>
            </a:p>
          </p:txBody>
        </p:sp>
        <p:sp>
          <p:nvSpPr>
            <p:cNvPr id="53" name="TextBox 53"/>
            <p:cNvSpPr txBox="1"/>
            <p:nvPr/>
          </p:nvSpPr>
          <p:spPr>
            <a:xfrm>
              <a:off x="7894320" y="3693795"/>
              <a:ext cx="2145697" cy="182880"/>
            </a:xfrm>
            <a:prstGeom prst="rect">
              <a:avLst/>
            </a:prstGeom>
            <a:noFill/>
            <a:ln>
              <a:noFill/>
            </a:ln>
          </p:spPr>
          <p:txBody>
            <a:bodyPr wrap="none" lIns="0" tIns="0" rIns="0" bIns="0" anchor="t" anchorCtr="0">
              <a:spAutoFit/>
            </a:bodyPr>
            <a:lstStyle/>
            <a:p>
              <a:pPr algn="l"/>
              <a:r>
                <a:rPr lang="zh-CN" sz="900" dirty="0">
                  <a:solidFill>
                    <a:srgbClr val="555555"/>
                  </a:solidFill>
                  <a:latin typeface="Arial"/>
                  <a:ea typeface="Microsoft YaHei"/>
                  <a:cs typeface="Arial"/>
                </a:rPr>
                <a:t>Fault occurred inside SGX enclave</a:t>
              </a:r>
            </a:p>
          </p:txBody>
        </p:sp>
        <p:sp>
          <p:nvSpPr>
            <p:cNvPr id="54" name="TextBox 54"/>
            <p:cNvSpPr txBox="1"/>
            <p:nvPr/>
          </p:nvSpPr>
          <p:spPr>
            <a:xfrm>
              <a:off x="9892665" y="3534728"/>
              <a:ext cx="380914"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rial"/>
                  <a:ea typeface="Microsoft YaHei"/>
                  <a:cs typeface="Arial"/>
                </a:rPr>
                <a:t>Both</a:t>
              </a:r>
            </a:p>
          </p:txBody>
        </p:sp>
        <p:sp>
          <p:nvSpPr>
            <p:cNvPr id="55" name="Rectangle 55"/>
            <p:cNvSpPr/>
            <p:nvPr/>
          </p:nvSpPr>
          <p:spPr>
            <a:xfrm>
              <a:off x="476250" y="4191000"/>
              <a:ext cx="11239500" cy="1571625"/>
            </a:xfrm>
            <a:prstGeom prst="roundRect">
              <a:avLst>
                <a:gd name="adj" fmla="val 4848"/>
              </a:avLst>
            </a:prstGeom>
            <a:solidFill>
              <a:srgbClr val="F8FAFC"/>
            </a:solidFill>
            <a:ln w="9525">
              <a:solidFill>
                <a:srgbClr val="64748B"/>
              </a:solidFill>
            </a:ln>
          </p:spPr>
        </p:sp>
        <p:sp>
          <p:nvSpPr>
            <p:cNvPr id="56" name="TextBox 56"/>
            <p:cNvSpPr txBox="1"/>
            <p:nvPr/>
          </p:nvSpPr>
          <p:spPr>
            <a:xfrm>
              <a:off x="842962" y="4355306"/>
              <a:ext cx="1469130" cy="228600"/>
            </a:xfrm>
            <a:prstGeom prst="rect">
              <a:avLst/>
            </a:prstGeom>
            <a:noFill/>
            <a:ln>
              <a:noFill/>
            </a:ln>
          </p:spPr>
          <p:txBody>
            <a:bodyPr wrap="none" lIns="0" tIns="0" rIns="0" bIns="0" anchor="t" anchorCtr="0">
              <a:spAutoFit/>
            </a:bodyPr>
            <a:lstStyle/>
            <a:p>
              <a:pPr algn="l"/>
              <a:r>
                <a:rPr lang="zh-CN" sz="1125" b="1" dirty="0">
                  <a:solidFill>
                    <a:srgbClr val="333333"/>
                  </a:solidFill>
                  <a:latin typeface="Arial"/>
                  <a:ea typeface="Microsoft YaHei"/>
                  <a:cs typeface="Arial"/>
                </a:rPr>
                <a:t>Exception Details</a:t>
              </a:r>
            </a:p>
          </p:txBody>
        </p:sp>
        <p:sp>
          <p:nvSpPr>
            <p:cNvPr id="57" name="Ellipse 57"/>
            <p:cNvSpPr/>
            <p:nvPr/>
          </p:nvSpPr>
          <p:spPr>
            <a:xfrm>
              <a:off x="952500" y="4714875"/>
              <a:ext cx="95250" cy="95250"/>
            </a:xfrm>
            <a:prstGeom prst="ellipse">
              <a:avLst/>
            </a:prstGeom>
            <a:solidFill>
              <a:srgbClr val="09995E"/>
            </a:solidFill>
            <a:ln>
              <a:noFill/>
            </a:ln>
          </p:spPr>
        </p:sp>
        <p:sp>
          <p:nvSpPr>
            <p:cNvPr id="58" name="TextBox 58"/>
            <p:cNvSpPr txBox="1"/>
            <p:nvPr/>
          </p:nvSpPr>
          <p:spPr>
            <a:xfrm>
              <a:off x="1129665" y="4696778"/>
              <a:ext cx="3454098"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Vector 21 (#CP) — shared for all CET violations</a:t>
              </a:r>
            </a:p>
          </p:txBody>
        </p:sp>
        <p:sp>
          <p:nvSpPr>
            <p:cNvPr id="59" name="Ellipse 59"/>
            <p:cNvSpPr/>
            <p:nvPr/>
          </p:nvSpPr>
          <p:spPr>
            <a:xfrm>
              <a:off x="952500" y="5000625"/>
              <a:ext cx="95250" cy="95250"/>
            </a:xfrm>
            <a:prstGeom prst="ellipse">
              <a:avLst/>
            </a:prstGeom>
            <a:solidFill>
              <a:srgbClr val="09995E"/>
            </a:solidFill>
            <a:ln>
              <a:noFill/>
            </a:ln>
          </p:spPr>
        </p:sp>
        <p:sp>
          <p:nvSpPr>
            <p:cNvPr id="60" name="TextBox 60"/>
            <p:cNvSpPr txBox="1"/>
            <p:nvPr/>
          </p:nvSpPr>
          <p:spPr>
            <a:xfrm>
              <a:off x="1129665" y="4982528"/>
              <a:ext cx="4328208"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Error code low bits identify the specific CET sub-feature</a:t>
              </a:r>
            </a:p>
          </p:txBody>
        </p:sp>
        <p:sp>
          <p:nvSpPr>
            <p:cNvPr id="61" name="Ellipse 61"/>
            <p:cNvSpPr/>
            <p:nvPr/>
          </p:nvSpPr>
          <p:spPr>
            <a:xfrm>
              <a:off x="952500" y="5286375"/>
              <a:ext cx="95250" cy="95250"/>
            </a:xfrm>
            <a:prstGeom prst="ellipse">
              <a:avLst/>
            </a:prstGeom>
            <a:solidFill>
              <a:srgbClr val="09995E"/>
            </a:solidFill>
            <a:ln>
              <a:noFill/>
            </a:ln>
          </p:spPr>
        </p:sp>
        <p:sp>
          <p:nvSpPr>
            <p:cNvPr id="62" name="TextBox 62"/>
            <p:cNvSpPr txBox="1"/>
            <p:nvPr/>
          </p:nvSpPr>
          <p:spPr>
            <a:xfrm>
              <a:off x="1129665" y="5268278"/>
              <a:ext cx="5355669"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Bit 15 (CP_EC) is OR-ed in if fault originated from within an SGX enclave</a:t>
              </a:r>
            </a:p>
          </p:txBody>
        </p:sp>
        <p:sp>
          <p:nvSpPr>
            <p:cNvPr id="63" name="Ellipse 63"/>
            <p:cNvSpPr/>
            <p:nvPr/>
          </p:nvSpPr>
          <p:spPr>
            <a:xfrm>
              <a:off x="952500" y="5572125"/>
              <a:ext cx="95250" cy="95250"/>
            </a:xfrm>
            <a:prstGeom prst="ellipse">
              <a:avLst/>
            </a:prstGeom>
            <a:solidFill>
              <a:srgbClr val="09995E"/>
            </a:solidFill>
            <a:ln>
              <a:noFill/>
            </a:ln>
          </p:spPr>
        </p:sp>
        <p:sp>
          <p:nvSpPr>
            <p:cNvPr id="64" name="TextBox 64"/>
            <p:cNvSpPr txBox="1"/>
            <p:nvPr/>
          </p:nvSpPr>
          <p:spPr>
            <a:xfrm>
              <a:off x="1129665" y="5554028"/>
              <a:ext cx="5524357"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Kernel handler dispatches based on error code to distinct recovery paths</a:t>
              </a:r>
            </a:p>
          </p:txBody>
        </p:sp>
      </p:grpSp>
      <p:grpSp>
        <p:nvGrpSpPr>
          <p:cNvPr id="68" name="Group 68"/>
          <p:cNvGrpSpPr/>
          <p:nvPr/>
        </p:nvGrpSpPr>
        <p:grpSpPr>
          <a:xfrm>
            <a:off x="10283883" y="5886450"/>
            <a:ext cx="1441392" cy="947738"/>
            <a:chOff x="10283883" y="5886450"/>
            <a:chExt cx="1441392" cy="947738"/>
          </a:xfrm>
        </p:grpSpPr>
        <p:pic>
          <p:nvPicPr>
            <p:cNvPr id="66" name="Image 66"/>
            <p:cNvPicPr>
              <a:picLocks noChangeAspect="1"/>
            </p:cNvPicPr>
            <p:nvPr/>
          </p:nvPicPr>
          <p:blipFill>
            <a:blip r:embed="rId4"/>
            <a:stretch>
              <a:fillRect/>
            </a:stretch>
          </p:blipFill>
          <p:spPr>
            <a:xfrm>
              <a:off x="10283883" y="5886450"/>
              <a:ext cx="1158759" cy="381000"/>
            </a:xfrm>
            <a:prstGeom prst="rect">
              <a:avLst/>
            </a:prstGeom>
          </p:spPr>
        </p:pic>
        <p:sp>
          <p:nvSpPr>
            <p:cNvPr id="67" name="TextBox 67"/>
            <p:cNvSpPr txBox="1"/>
            <p:nvPr/>
          </p:nvSpPr>
          <p:spPr>
            <a:xfrm>
              <a:off x="11585734" y="6681788"/>
              <a:ext cx="139541"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08</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6317742"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Kernel #CP Handler — Routing Faults</a:t>
            </a:r>
          </a:p>
        </p:txBody>
      </p:sp>
      <p:grpSp>
        <p:nvGrpSpPr>
          <p:cNvPr id="62" name="Group 62"/>
          <p:cNvGrpSpPr/>
          <p:nvPr/>
        </p:nvGrpSpPr>
        <p:grpSpPr>
          <a:xfrm>
            <a:off x="476250" y="1333500"/>
            <a:ext cx="11239500" cy="4448175"/>
            <a:chOff x="476250" y="1333500"/>
            <a:chExt cx="11239500" cy="4448175"/>
          </a:xfrm>
        </p:grpSpPr>
        <p:sp>
          <p:nvSpPr>
            <p:cNvPr id="6" name="Rectangle 6"/>
            <p:cNvSpPr/>
            <p:nvPr/>
          </p:nvSpPr>
          <p:spPr>
            <a:xfrm>
              <a:off x="476250" y="1333500"/>
              <a:ext cx="6858000" cy="3476625"/>
            </a:xfrm>
            <a:prstGeom prst="roundRect">
              <a:avLst>
                <a:gd name="adj" fmla="val 2192"/>
              </a:avLst>
            </a:prstGeom>
            <a:solidFill>
              <a:srgbClr val="1E293B"/>
            </a:solidFill>
            <a:ln>
              <a:noFill/>
            </a:ln>
          </p:spPr>
        </p:sp>
        <p:sp>
          <p:nvSpPr>
            <p:cNvPr id="7" name="TextBox 7"/>
            <p:cNvSpPr txBox="1"/>
            <p:nvPr/>
          </p:nvSpPr>
          <p:spPr>
            <a:xfrm>
              <a:off x="655320" y="1503045"/>
              <a:ext cx="2691193" cy="182880"/>
            </a:xfrm>
            <a:prstGeom prst="rect">
              <a:avLst/>
            </a:prstGeom>
            <a:noFill/>
            <a:ln>
              <a:noFill/>
            </a:ln>
          </p:spPr>
          <p:txBody>
            <a:bodyPr wrap="none" lIns="0" tIns="0" rIns="0" bIns="0" anchor="t" anchorCtr="0">
              <a:spAutoFit/>
            </a:bodyPr>
            <a:lstStyle/>
            <a:p>
              <a:pPr algn="l"/>
              <a:r>
                <a:rPr lang="zh-CN" sz="900" dirty="0">
                  <a:solidFill>
                    <a:srgbClr val="6A9955"/>
                  </a:solidFill>
                  <a:latin typeface="Arial"/>
                  <a:ea typeface="Microsoft YaHei"/>
                  <a:cs typeface="Arial"/>
                </a:rPr>
                <a:t>/* arch/x86/kernel/cet.c lines 149–162 */</a:t>
              </a:r>
            </a:p>
          </p:txBody>
        </p:sp>
        <p:sp>
          <p:nvSpPr>
            <p:cNvPr id="8" name="TextBox 8"/>
            <p:cNvSpPr txBox="1"/>
            <p:nvPr/>
          </p:nvSpPr>
          <p:spPr>
            <a:xfrm>
              <a:off x="653415" y="1791652"/>
              <a:ext cx="2119932"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DEFINE_IDTENTRY_ERRORCODE</a:t>
              </a:r>
            </a:p>
          </p:txBody>
        </p:sp>
        <p:sp>
          <p:nvSpPr>
            <p:cNvPr id="9" name="TextBox 9"/>
            <p:cNvSpPr txBox="1"/>
            <p:nvPr/>
          </p:nvSpPr>
          <p:spPr>
            <a:xfrm>
              <a:off x="2796540" y="1791652"/>
              <a:ext cx="197424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(exc_control_protection)</a:t>
              </a:r>
            </a:p>
          </p:txBody>
        </p:sp>
        <p:sp>
          <p:nvSpPr>
            <p:cNvPr id="10" name="TextBox 10"/>
            <p:cNvSpPr txBox="1"/>
            <p:nvPr/>
          </p:nvSpPr>
          <p:spPr>
            <a:xfrm>
              <a:off x="653415" y="2010728"/>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1" name="TextBox 11"/>
            <p:cNvSpPr txBox="1"/>
            <p:nvPr/>
          </p:nvSpPr>
          <p:spPr>
            <a:xfrm>
              <a:off x="1062990" y="2258378"/>
              <a:ext cx="157020"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if</a:t>
              </a:r>
            </a:p>
          </p:txBody>
        </p:sp>
        <p:sp>
          <p:nvSpPr>
            <p:cNvPr id="12" name="TextBox 12"/>
            <p:cNvSpPr txBox="1"/>
            <p:nvPr/>
          </p:nvSpPr>
          <p:spPr>
            <a:xfrm>
              <a:off x="1224915" y="2258378"/>
              <a:ext cx="333141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(!cpu_feature_enabled(X86_FEATURE_IBT)) {</a:t>
              </a:r>
            </a:p>
          </p:txBody>
        </p:sp>
        <p:sp>
          <p:nvSpPr>
            <p:cNvPr id="13" name="TextBox 13"/>
            <p:cNvSpPr txBox="1"/>
            <p:nvPr/>
          </p:nvSpPr>
          <p:spPr>
            <a:xfrm>
              <a:off x="653415" y="2477452"/>
              <a:ext cx="98512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pr_err(</a:t>
              </a:r>
            </a:p>
          </p:txBody>
        </p:sp>
        <p:sp>
          <p:nvSpPr>
            <p:cNvPr id="14" name="TextBox 14"/>
            <p:cNvSpPr txBox="1"/>
            <p:nvPr/>
          </p:nvSpPr>
          <p:spPr>
            <a:xfrm>
              <a:off x="1796415" y="2477452"/>
              <a:ext cx="1506522"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"unexpected #CP\n"</a:t>
              </a:r>
            </a:p>
          </p:txBody>
        </p:sp>
        <p:sp>
          <p:nvSpPr>
            <p:cNvPr id="15" name="TextBox 15"/>
            <p:cNvSpPr txBox="1"/>
            <p:nvPr/>
          </p:nvSpPr>
          <p:spPr>
            <a:xfrm>
              <a:off x="3463290" y="2477452"/>
              <a:ext cx="19535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6" name="TextBox 16"/>
            <p:cNvSpPr txBox="1"/>
            <p:nvPr/>
          </p:nvSpPr>
          <p:spPr>
            <a:xfrm>
              <a:off x="653415" y="2696528"/>
              <a:ext cx="900779"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BUG();</a:t>
              </a:r>
            </a:p>
          </p:txBody>
        </p:sp>
        <p:sp>
          <p:nvSpPr>
            <p:cNvPr id="17" name="TextBox 17"/>
            <p:cNvSpPr txBox="1"/>
            <p:nvPr/>
          </p:nvSpPr>
          <p:spPr>
            <a:xfrm>
              <a:off x="653415" y="2915602"/>
              <a:ext cx="29503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p>
          </p:txBody>
        </p:sp>
        <p:sp>
          <p:nvSpPr>
            <p:cNvPr id="18" name="TextBox 18"/>
            <p:cNvSpPr txBox="1"/>
            <p:nvPr/>
          </p:nvSpPr>
          <p:spPr>
            <a:xfrm>
              <a:off x="1062990" y="3201352"/>
              <a:ext cx="157020"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if</a:t>
              </a:r>
            </a:p>
          </p:txBody>
        </p:sp>
        <p:sp>
          <p:nvSpPr>
            <p:cNvPr id="19" name="TextBox 19"/>
            <p:cNvSpPr txBox="1"/>
            <p:nvPr/>
          </p:nvSpPr>
          <p:spPr>
            <a:xfrm>
              <a:off x="1224915" y="3201352"/>
              <a:ext cx="162153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(user_mode(regs)) {</a:t>
              </a:r>
            </a:p>
          </p:txBody>
        </p:sp>
        <p:sp>
          <p:nvSpPr>
            <p:cNvPr id="20" name="TextBox 20"/>
            <p:cNvSpPr txBox="1"/>
            <p:nvPr/>
          </p:nvSpPr>
          <p:spPr>
            <a:xfrm>
              <a:off x="653415" y="3420428"/>
              <a:ext cx="327774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force_sig_fault(SIGSEGV, SEGV_CPERR,</a:t>
              </a:r>
            </a:p>
          </p:txBody>
        </p:sp>
        <p:sp>
          <p:nvSpPr>
            <p:cNvPr id="21" name="TextBox 21"/>
            <p:cNvSpPr txBox="1"/>
            <p:nvPr/>
          </p:nvSpPr>
          <p:spPr>
            <a:xfrm>
              <a:off x="653415" y="3639502"/>
              <a:ext cx="1215152"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p>
          </p:txBody>
        </p:sp>
        <p:sp>
          <p:nvSpPr>
            <p:cNvPr id="22" name="TextBox 22"/>
            <p:cNvSpPr txBox="1"/>
            <p:nvPr/>
          </p:nvSpPr>
          <p:spPr>
            <a:xfrm>
              <a:off x="2310765" y="3639502"/>
              <a:ext cx="325707"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void</a:t>
              </a:r>
            </a:p>
          </p:txBody>
        </p:sp>
        <p:sp>
          <p:nvSpPr>
            <p:cNvPr id="23" name="TextBox 23"/>
            <p:cNvSpPr txBox="1"/>
            <p:nvPr/>
          </p:nvSpPr>
          <p:spPr>
            <a:xfrm>
              <a:off x="2653665" y="3639502"/>
              <a:ext cx="155252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__user *)regs-&gt;ip);</a:t>
              </a:r>
            </a:p>
          </p:txBody>
        </p:sp>
        <p:sp>
          <p:nvSpPr>
            <p:cNvPr id="24" name="TextBox 24"/>
            <p:cNvSpPr txBox="1"/>
            <p:nvPr/>
          </p:nvSpPr>
          <p:spPr>
            <a:xfrm>
              <a:off x="1320165" y="3858578"/>
              <a:ext cx="532733"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return</a:t>
              </a:r>
            </a:p>
          </p:txBody>
        </p:sp>
        <p:sp>
          <p:nvSpPr>
            <p:cNvPr id="25" name="TextBox 25"/>
            <p:cNvSpPr txBox="1"/>
            <p:nvPr/>
          </p:nvSpPr>
          <p:spPr>
            <a:xfrm>
              <a:off x="1824990" y="3858578"/>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26" name="TextBox 26"/>
            <p:cNvSpPr txBox="1"/>
            <p:nvPr/>
          </p:nvSpPr>
          <p:spPr>
            <a:xfrm>
              <a:off x="653415" y="4077652"/>
              <a:ext cx="29503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p>
          </p:txBody>
        </p:sp>
        <p:sp>
          <p:nvSpPr>
            <p:cNvPr id="27" name="TextBox 27"/>
            <p:cNvSpPr txBox="1"/>
            <p:nvPr/>
          </p:nvSpPr>
          <p:spPr>
            <a:xfrm>
              <a:off x="1062990" y="4363402"/>
              <a:ext cx="1805559"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kernel-mode fault */</a:t>
              </a:r>
            </a:p>
          </p:txBody>
        </p:sp>
        <p:sp>
          <p:nvSpPr>
            <p:cNvPr id="28" name="TextBox 28"/>
            <p:cNvSpPr txBox="1"/>
            <p:nvPr/>
          </p:nvSpPr>
          <p:spPr>
            <a:xfrm>
              <a:off x="653415" y="4582478"/>
              <a:ext cx="2418969"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ibt_fatal = !sysctl_ibt_warn;</a:t>
              </a:r>
            </a:p>
          </p:txBody>
        </p:sp>
        <p:sp>
          <p:nvSpPr>
            <p:cNvPr id="29" name="TextBox 29"/>
            <p:cNvSpPr txBox="1"/>
            <p:nvPr/>
          </p:nvSpPr>
          <p:spPr>
            <a:xfrm>
              <a:off x="653415" y="4582478"/>
              <a:ext cx="2418969"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ibt_fatal = !sysctl_ibt_warn;</a:t>
              </a:r>
            </a:p>
          </p:txBody>
        </p:sp>
        <p:sp>
          <p:nvSpPr>
            <p:cNvPr id="30" name="TextBox 30"/>
            <p:cNvSpPr txBox="1"/>
            <p:nvPr/>
          </p:nvSpPr>
          <p:spPr>
            <a:xfrm>
              <a:off x="7700010" y="1442085"/>
              <a:ext cx="1309440" cy="243840"/>
            </a:xfrm>
            <a:prstGeom prst="rect">
              <a:avLst/>
            </a:prstGeom>
            <a:noFill/>
            <a:ln>
              <a:noFill/>
            </a:ln>
          </p:spPr>
          <p:txBody>
            <a:bodyPr wrap="none" lIns="0" tIns="0" rIns="0" bIns="0" anchor="t" anchorCtr="0">
              <a:spAutoFit/>
            </a:bodyPr>
            <a:lstStyle/>
            <a:p>
              <a:pPr algn="l"/>
              <a:r>
                <a:rPr lang="zh-CN" sz="1200" b="1" dirty="0">
                  <a:solidFill>
                    <a:srgbClr val="333333"/>
                  </a:solidFill>
                  <a:latin typeface="Arial"/>
                  <a:ea typeface="Microsoft YaHei"/>
                  <a:cs typeface="Arial"/>
                </a:rPr>
                <a:t>Dispatch Logic</a:t>
              </a:r>
            </a:p>
          </p:txBody>
        </p:sp>
        <p:sp>
          <p:nvSpPr>
            <p:cNvPr id="31" name="Rectangle 31"/>
            <p:cNvSpPr/>
            <p:nvPr/>
          </p:nvSpPr>
          <p:spPr>
            <a:xfrm>
              <a:off x="7620000" y="1762125"/>
              <a:ext cx="4095750" cy="857250"/>
            </a:xfrm>
            <a:prstGeom prst="roundRect">
              <a:avLst>
                <a:gd name="adj" fmla="val 8889"/>
              </a:avLst>
            </a:prstGeom>
            <a:solidFill>
              <a:srgbClr val="FEF2F2"/>
            </a:solidFill>
            <a:ln w="14288">
              <a:solidFill>
                <a:srgbClr val="EF4444"/>
              </a:solidFill>
            </a:ln>
          </p:spPr>
        </p:sp>
        <p:grpSp>
          <p:nvGrpSpPr>
            <p:cNvPr id="34" name="Group 34"/>
            <p:cNvGrpSpPr/>
            <p:nvPr/>
          </p:nvGrpSpPr>
          <p:grpSpPr>
            <a:xfrm>
              <a:off x="7820025" y="1933575"/>
              <a:ext cx="114300" cy="171450"/>
              <a:chOff x="7820025" y="1933575"/>
              <a:chExt cx="114300" cy="171450"/>
            </a:xfrm>
          </p:grpSpPr>
          <p:sp>
            <p:nvSpPr>
              <p:cNvPr id="32" name="Freeform 32"/>
              <p:cNvSpPr/>
              <p:nvPr/>
            </p:nvSpPr>
            <p:spPr>
              <a:xfrm>
                <a:off x="7839075" y="193357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EF4444"/>
                </a:solidFill>
              </a:ln>
            </p:spPr>
          </p:sp>
          <p:sp>
            <p:nvSpPr>
              <p:cNvPr id="33" name="Freeform 33"/>
              <p:cNvSpPr/>
              <p:nvPr/>
            </p:nvSpPr>
            <p:spPr>
              <a:xfrm>
                <a:off x="7820025" y="2047875"/>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9050">
                <a:solidFill>
                  <a:srgbClr val="EF4444"/>
                </a:solidFill>
              </a:ln>
            </p:spPr>
          </p:sp>
        </p:grpSp>
        <p:sp>
          <p:nvSpPr>
            <p:cNvPr id="35" name="TextBox 35"/>
            <p:cNvSpPr txBox="1"/>
            <p:nvPr/>
          </p:nvSpPr>
          <p:spPr>
            <a:xfrm>
              <a:off x="8062912" y="1935956"/>
              <a:ext cx="1253478" cy="228600"/>
            </a:xfrm>
            <a:prstGeom prst="rect">
              <a:avLst/>
            </a:prstGeom>
            <a:noFill/>
            <a:ln>
              <a:noFill/>
            </a:ln>
          </p:spPr>
          <p:txBody>
            <a:bodyPr wrap="none" lIns="0" tIns="0" rIns="0" bIns="0" anchor="t" anchorCtr="0">
              <a:spAutoFit/>
            </a:bodyPr>
            <a:lstStyle/>
            <a:p>
              <a:pPr algn="l"/>
              <a:r>
                <a:rPr lang="zh-CN" sz="1125" b="1" dirty="0">
                  <a:solidFill>
                    <a:srgbClr val="EF4444"/>
                  </a:solidFill>
                  <a:latin typeface="Arial"/>
                  <a:ea typeface="Microsoft YaHei"/>
                  <a:cs typeface="Arial"/>
                </a:rPr>
                <a:t>User-mode #CP</a:t>
              </a:r>
            </a:p>
          </p:txBody>
        </p:sp>
        <p:sp>
          <p:nvSpPr>
            <p:cNvPr id="36" name="TextBox 36"/>
            <p:cNvSpPr txBox="1"/>
            <p:nvPr/>
          </p:nvSpPr>
          <p:spPr>
            <a:xfrm>
              <a:off x="7797165" y="2191702"/>
              <a:ext cx="3040047"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Sends SIGSEGV with si_code = SEGV_CPERR</a:t>
              </a:r>
            </a:p>
          </p:txBody>
        </p:sp>
        <p:sp>
          <p:nvSpPr>
            <p:cNvPr id="37" name="TextBox 37"/>
            <p:cNvSpPr txBox="1"/>
            <p:nvPr/>
          </p:nvSpPr>
          <p:spPr>
            <a:xfrm>
              <a:off x="7798118" y="2399824"/>
              <a:ext cx="3221617"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Process terminated — standard signal handling</a:t>
              </a:r>
            </a:p>
          </p:txBody>
        </p:sp>
        <p:sp>
          <p:nvSpPr>
            <p:cNvPr id="38" name="Rectangle 38"/>
            <p:cNvSpPr/>
            <p:nvPr/>
          </p:nvSpPr>
          <p:spPr>
            <a:xfrm>
              <a:off x="7620000" y="2762250"/>
              <a:ext cx="4095750" cy="1000125"/>
            </a:xfrm>
            <a:prstGeom prst="roundRect">
              <a:avLst>
                <a:gd name="adj" fmla="val 7619"/>
              </a:avLst>
            </a:prstGeom>
            <a:solidFill>
              <a:srgbClr val="FFF7ED"/>
            </a:solidFill>
            <a:ln w="14288">
              <a:solidFill>
                <a:srgbClr val="F79646"/>
              </a:solidFill>
            </a:ln>
          </p:spPr>
        </p:sp>
        <p:grpSp>
          <p:nvGrpSpPr>
            <p:cNvPr id="49" name="Group 49"/>
            <p:cNvGrpSpPr/>
            <p:nvPr/>
          </p:nvGrpSpPr>
          <p:grpSpPr>
            <a:xfrm>
              <a:off x="7791450" y="2933700"/>
              <a:ext cx="171450" cy="171450"/>
              <a:chOff x="7791450" y="2933700"/>
              <a:chExt cx="171450" cy="171450"/>
            </a:xfrm>
          </p:grpSpPr>
          <p:sp>
            <p:nvSpPr>
              <p:cNvPr id="39" name="Freeform 39"/>
              <p:cNvSpPr/>
              <p:nvPr/>
            </p:nvSpPr>
            <p:spPr>
              <a:xfrm>
                <a:off x="7810500" y="2952750"/>
                <a:ext cx="133350" cy="133350"/>
              </a:xfrm>
              <a:custGeom>
                <a:avLst/>
                <a:gdLst/>
                <a:ahLst/>
                <a:cxnLst/>
                <a:rect l="l" t="t" r="r" b="b"/>
                <a:pathLst>
                  <a:path w="133350" h="133350">
                    <a:moveTo>
                      <a:pt x="0" y="9525"/>
                    </a:moveTo>
                    <a:cubicBezTo>
                      <a:pt x="0" y="4264"/>
                      <a:pt x="4264" y="0"/>
                      <a:pt x="9525" y="0"/>
                    </a:cubicBezTo>
                    <a:lnTo>
                      <a:pt x="123825" y="0"/>
                    </a:lnTo>
                    <a:cubicBezTo>
                      <a:pt x="129086" y="0"/>
                      <a:pt x="133350" y="4264"/>
                      <a:pt x="133350" y="9525"/>
                    </a:cubicBezTo>
                    <a:lnTo>
                      <a:pt x="133350" y="123825"/>
                    </a:lnTo>
                    <a:cubicBezTo>
                      <a:pt x="133350" y="129086"/>
                      <a:pt x="129086" y="133350"/>
                      <a:pt x="123825" y="133350"/>
                    </a:cubicBezTo>
                    <a:lnTo>
                      <a:pt x="9525" y="133350"/>
                    </a:lnTo>
                    <a:cubicBezTo>
                      <a:pt x="4264" y="133350"/>
                      <a:pt x="0" y="129086"/>
                      <a:pt x="0" y="123825"/>
                    </a:cubicBezTo>
                    <a:lnTo>
                      <a:pt x="0" y="9525"/>
                    </a:lnTo>
                  </a:path>
                </a:pathLst>
              </a:custGeom>
              <a:noFill/>
              <a:ln w="19050">
                <a:solidFill>
                  <a:srgbClr val="F79646"/>
                </a:solidFill>
              </a:ln>
            </p:spPr>
          </p:sp>
          <p:sp>
            <p:nvSpPr>
              <p:cNvPr id="40" name="Freeform 40"/>
              <p:cNvSpPr/>
              <p:nvPr/>
            </p:nvSpPr>
            <p:spPr>
              <a:xfrm>
                <a:off x="7848600" y="2990850"/>
                <a:ext cx="57150" cy="57150"/>
              </a:xfrm>
              <a:custGeom>
                <a:avLst/>
                <a:gdLst/>
                <a:ahLst/>
                <a:cxnLst/>
                <a:rect l="l" t="t" r="r" b="b"/>
                <a:pathLst>
                  <a:path w="57150" h="57150">
                    <a:moveTo>
                      <a:pt x="0" y="0"/>
                    </a:moveTo>
                    <a:lnTo>
                      <a:pt x="57150" y="0"/>
                    </a:lnTo>
                    <a:lnTo>
                      <a:pt x="57150" y="57150"/>
                    </a:lnTo>
                    <a:lnTo>
                      <a:pt x="0" y="57150"/>
                    </a:lnTo>
                    <a:lnTo>
                      <a:pt x="0" y="0"/>
                    </a:lnTo>
                  </a:path>
                </a:pathLst>
              </a:custGeom>
              <a:noFill/>
              <a:ln w="19050">
                <a:solidFill>
                  <a:srgbClr val="F79646"/>
                </a:solidFill>
              </a:ln>
            </p:spPr>
          </p:sp>
          <p:sp>
            <p:nvSpPr>
              <p:cNvPr id="41" name="Freeform 41"/>
              <p:cNvSpPr/>
              <p:nvPr/>
            </p:nvSpPr>
            <p:spPr>
              <a:xfrm>
                <a:off x="7791450" y="3000375"/>
                <a:ext cx="19050" cy="9525"/>
              </a:xfrm>
              <a:custGeom>
                <a:avLst/>
                <a:gdLst/>
                <a:ahLst/>
                <a:cxnLst/>
                <a:rect l="l" t="t" r="r" b="b"/>
                <a:pathLst>
                  <a:path w="19050" h="9525">
                    <a:moveTo>
                      <a:pt x="0" y="0"/>
                    </a:moveTo>
                    <a:lnTo>
                      <a:pt x="19050" y="0"/>
                    </a:lnTo>
                  </a:path>
                </a:pathLst>
              </a:custGeom>
              <a:noFill/>
              <a:ln w="19050">
                <a:solidFill>
                  <a:srgbClr val="F79646"/>
                </a:solidFill>
              </a:ln>
            </p:spPr>
          </p:sp>
          <p:sp>
            <p:nvSpPr>
              <p:cNvPr id="42" name="Freeform 42"/>
              <p:cNvSpPr/>
              <p:nvPr/>
            </p:nvSpPr>
            <p:spPr>
              <a:xfrm>
                <a:off x="7791450" y="3038475"/>
                <a:ext cx="19050" cy="9525"/>
              </a:xfrm>
              <a:custGeom>
                <a:avLst/>
                <a:gdLst/>
                <a:ahLst/>
                <a:cxnLst/>
                <a:rect l="l" t="t" r="r" b="b"/>
                <a:pathLst>
                  <a:path w="19050" h="9525">
                    <a:moveTo>
                      <a:pt x="0" y="0"/>
                    </a:moveTo>
                    <a:lnTo>
                      <a:pt x="19050" y="0"/>
                    </a:lnTo>
                  </a:path>
                </a:pathLst>
              </a:custGeom>
              <a:noFill/>
              <a:ln w="19050">
                <a:solidFill>
                  <a:srgbClr val="F79646"/>
                </a:solidFill>
              </a:ln>
            </p:spPr>
          </p:sp>
          <p:sp>
            <p:nvSpPr>
              <p:cNvPr id="43" name="Freeform 43"/>
              <p:cNvSpPr/>
              <p:nvPr/>
            </p:nvSpPr>
            <p:spPr>
              <a:xfrm>
                <a:off x="7858125" y="2933700"/>
                <a:ext cx="9525" cy="19050"/>
              </a:xfrm>
              <a:custGeom>
                <a:avLst/>
                <a:gdLst/>
                <a:ahLst/>
                <a:cxnLst/>
                <a:rect l="l" t="t" r="r" b="b"/>
                <a:pathLst>
                  <a:path w="9525" h="19050">
                    <a:moveTo>
                      <a:pt x="0" y="0"/>
                    </a:moveTo>
                    <a:lnTo>
                      <a:pt x="0" y="19050"/>
                    </a:lnTo>
                  </a:path>
                </a:pathLst>
              </a:custGeom>
              <a:noFill/>
              <a:ln w="19050">
                <a:solidFill>
                  <a:srgbClr val="F79646"/>
                </a:solidFill>
              </a:ln>
            </p:spPr>
          </p:sp>
          <p:sp>
            <p:nvSpPr>
              <p:cNvPr id="44" name="Freeform 44"/>
              <p:cNvSpPr/>
              <p:nvPr/>
            </p:nvSpPr>
            <p:spPr>
              <a:xfrm>
                <a:off x="7896225" y="2933700"/>
                <a:ext cx="9525" cy="19050"/>
              </a:xfrm>
              <a:custGeom>
                <a:avLst/>
                <a:gdLst/>
                <a:ahLst/>
                <a:cxnLst/>
                <a:rect l="l" t="t" r="r" b="b"/>
                <a:pathLst>
                  <a:path w="9525" h="19050">
                    <a:moveTo>
                      <a:pt x="0" y="0"/>
                    </a:moveTo>
                    <a:lnTo>
                      <a:pt x="0" y="19050"/>
                    </a:lnTo>
                  </a:path>
                </a:pathLst>
              </a:custGeom>
              <a:noFill/>
              <a:ln w="19050">
                <a:solidFill>
                  <a:srgbClr val="F79646"/>
                </a:solidFill>
              </a:ln>
            </p:spPr>
          </p:sp>
          <p:sp>
            <p:nvSpPr>
              <p:cNvPr id="45" name="Freeform 45"/>
              <p:cNvSpPr/>
              <p:nvPr/>
            </p:nvSpPr>
            <p:spPr>
              <a:xfrm>
                <a:off x="7943850" y="3000375"/>
                <a:ext cx="19050" cy="9525"/>
              </a:xfrm>
              <a:custGeom>
                <a:avLst/>
                <a:gdLst/>
                <a:ahLst/>
                <a:cxnLst/>
                <a:rect l="l" t="t" r="r" b="b"/>
                <a:pathLst>
                  <a:path w="19050" h="9525">
                    <a:moveTo>
                      <a:pt x="19050" y="0"/>
                    </a:moveTo>
                    <a:lnTo>
                      <a:pt x="0" y="0"/>
                    </a:lnTo>
                  </a:path>
                </a:pathLst>
              </a:custGeom>
              <a:noFill/>
              <a:ln w="19050">
                <a:solidFill>
                  <a:srgbClr val="F79646"/>
                </a:solidFill>
              </a:ln>
            </p:spPr>
          </p:sp>
          <p:sp>
            <p:nvSpPr>
              <p:cNvPr id="46" name="Freeform 46"/>
              <p:cNvSpPr/>
              <p:nvPr/>
            </p:nvSpPr>
            <p:spPr>
              <a:xfrm>
                <a:off x="7943850" y="3038475"/>
                <a:ext cx="19050" cy="9525"/>
              </a:xfrm>
              <a:custGeom>
                <a:avLst/>
                <a:gdLst/>
                <a:ahLst/>
                <a:cxnLst/>
                <a:rect l="l" t="t" r="r" b="b"/>
                <a:pathLst>
                  <a:path w="19050" h="9525">
                    <a:moveTo>
                      <a:pt x="19050" y="0"/>
                    </a:moveTo>
                    <a:lnTo>
                      <a:pt x="0" y="0"/>
                    </a:lnTo>
                  </a:path>
                </a:pathLst>
              </a:custGeom>
              <a:noFill/>
              <a:ln w="19050">
                <a:solidFill>
                  <a:srgbClr val="F79646"/>
                </a:solidFill>
              </a:ln>
            </p:spPr>
          </p:sp>
          <p:sp>
            <p:nvSpPr>
              <p:cNvPr id="47" name="Freeform 47"/>
              <p:cNvSpPr/>
              <p:nvPr/>
            </p:nvSpPr>
            <p:spPr>
              <a:xfrm>
                <a:off x="7896225" y="3086100"/>
                <a:ext cx="9525" cy="19050"/>
              </a:xfrm>
              <a:custGeom>
                <a:avLst/>
                <a:gdLst/>
                <a:ahLst/>
                <a:cxnLst/>
                <a:rect l="l" t="t" r="r" b="b"/>
                <a:pathLst>
                  <a:path w="9525" h="19050">
                    <a:moveTo>
                      <a:pt x="0" y="19050"/>
                    </a:moveTo>
                    <a:lnTo>
                      <a:pt x="0" y="0"/>
                    </a:lnTo>
                  </a:path>
                </a:pathLst>
              </a:custGeom>
              <a:noFill/>
              <a:ln w="19050">
                <a:solidFill>
                  <a:srgbClr val="F79646"/>
                </a:solidFill>
              </a:ln>
            </p:spPr>
          </p:sp>
          <p:sp>
            <p:nvSpPr>
              <p:cNvPr id="48" name="Freeform 48"/>
              <p:cNvSpPr/>
              <p:nvPr/>
            </p:nvSpPr>
            <p:spPr>
              <a:xfrm>
                <a:off x="7858125" y="3086100"/>
                <a:ext cx="9525" cy="19050"/>
              </a:xfrm>
              <a:custGeom>
                <a:avLst/>
                <a:gdLst/>
                <a:ahLst/>
                <a:cxnLst/>
                <a:rect l="l" t="t" r="r" b="b"/>
                <a:pathLst>
                  <a:path w="9525" h="19050">
                    <a:moveTo>
                      <a:pt x="0" y="19050"/>
                    </a:moveTo>
                    <a:lnTo>
                      <a:pt x="0" y="0"/>
                    </a:lnTo>
                  </a:path>
                </a:pathLst>
              </a:custGeom>
              <a:noFill/>
              <a:ln w="19050">
                <a:solidFill>
                  <a:srgbClr val="F79646"/>
                </a:solidFill>
              </a:ln>
            </p:spPr>
          </p:sp>
        </p:grpSp>
        <p:sp>
          <p:nvSpPr>
            <p:cNvPr id="50" name="TextBox 50"/>
            <p:cNvSpPr txBox="1"/>
            <p:nvPr/>
          </p:nvSpPr>
          <p:spPr>
            <a:xfrm>
              <a:off x="8062912" y="2936081"/>
              <a:ext cx="1400121" cy="228600"/>
            </a:xfrm>
            <a:prstGeom prst="rect">
              <a:avLst/>
            </a:prstGeom>
            <a:noFill/>
            <a:ln>
              <a:noFill/>
            </a:ln>
          </p:spPr>
          <p:txBody>
            <a:bodyPr wrap="none" lIns="0" tIns="0" rIns="0" bIns="0" anchor="t" anchorCtr="0">
              <a:spAutoFit/>
            </a:bodyPr>
            <a:lstStyle/>
            <a:p>
              <a:pPr algn="l"/>
              <a:r>
                <a:rPr lang="zh-CN" sz="1125" b="1" dirty="0">
                  <a:solidFill>
                    <a:srgbClr val="F79646"/>
                  </a:solidFill>
                  <a:latin typeface="Arial"/>
                  <a:ea typeface="Microsoft YaHei"/>
                  <a:cs typeface="Arial"/>
                </a:rPr>
                <a:t>Kernel-mode #CP</a:t>
              </a:r>
            </a:p>
          </p:txBody>
        </p:sp>
        <p:sp>
          <p:nvSpPr>
            <p:cNvPr id="51" name="TextBox 51"/>
            <p:cNvSpPr txBox="1"/>
            <p:nvPr/>
          </p:nvSpPr>
          <p:spPr>
            <a:xfrm>
              <a:off x="7797165" y="3191828"/>
              <a:ext cx="2503313"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Default: BUG() — panic the kernel</a:t>
              </a:r>
            </a:p>
          </p:txBody>
        </p:sp>
        <p:sp>
          <p:nvSpPr>
            <p:cNvPr id="52" name="TextBox 52"/>
            <p:cNvSpPr txBox="1"/>
            <p:nvPr/>
          </p:nvSpPr>
          <p:spPr>
            <a:xfrm>
              <a:off x="7797165" y="3391852"/>
              <a:ext cx="2733342"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ibt=warn: WARN() — log and continue</a:t>
              </a:r>
            </a:p>
          </p:txBody>
        </p:sp>
        <p:sp>
          <p:nvSpPr>
            <p:cNvPr id="53" name="TextBox 53"/>
            <p:cNvSpPr txBox="1"/>
            <p:nvPr/>
          </p:nvSpPr>
          <p:spPr>
            <a:xfrm>
              <a:off x="7798118" y="3599974"/>
              <a:ext cx="3428095"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Boot param allows permissive mode for debugging</a:t>
              </a:r>
            </a:p>
          </p:txBody>
        </p:sp>
        <p:sp>
          <p:nvSpPr>
            <p:cNvPr id="54" name="Rectangle 54"/>
            <p:cNvSpPr/>
            <p:nvPr/>
          </p:nvSpPr>
          <p:spPr>
            <a:xfrm>
              <a:off x="7620000" y="3905250"/>
              <a:ext cx="4095750" cy="666750"/>
            </a:xfrm>
            <a:prstGeom prst="roundRect">
              <a:avLst>
                <a:gd name="adj" fmla="val 11429"/>
              </a:avLst>
            </a:prstGeom>
            <a:solidFill>
              <a:srgbClr val="F0FDF9"/>
            </a:solidFill>
            <a:ln w="14288">
              <a:solidFill>
                <a:srgbClr val="0AB36E"/>
              </a:solidFill>
            </a:ln>
          </p:spPr>
        </p:sp>
        <p:sp>
          <p:nvSpPr>
            <p:cNvPr id="55" name="Freeform 55"/>
            <p:cNvSpPr/>
            <p:nvPr/>
          </p:nvSpPr>
          <p:spPr>
            <a:xfrm>
              <a:off x="7810500" y="4076700"/>
              <a:ext cx="133350" cy="171450"/>
            </a:xfrm>
            <a:custGeom>
              <a:avLst/>
              <a:gdLst/>
              <a:ahLst/>
              <a:cxnLst/>
              <a:rect l="l" t="t" r="r" b="b"/>
              <a:pathLst>
                <a:path w="133350" h="171450">
                  <a:moveTo>
                    <a:pt x="76200" y="0"/>
                  </a:moveTo>
                  <a:lnTo>
                    <a:pt x="76200" y="66675"/>
                  </a:lnTo>
                  <a:lnTo>
                    <a:pt x="133350" y="66675"/>
                  </a:lnTo>
                  <a:lnTo>
                    <a:pt x="57150" y="171450"/>
                  </a:lnTo>
                  <a:lnTo>
                    <a:pt x="57150" y="104775"/>
                  </a:lnTo>
                  <a:lnTo>
                    <a:pt x="0" y="104775"/>
                  </a:lnTo>
                  <a:lnTo>
                    <a:pt x="76200" y="0"/>
                  </a:lnTo>
                </a:path>
              </a:pathLst>
            </a:custGeom>
            <a:noFill/>
            <a:ln w="19050">
              <a:solidFill>
                <a:srgbClr val="0AB36E"/>
              </a:solidFill>
            </a:ln>
          </p:spPr>
        </p:sp>
        <p:sp>
          <p:nvSpPr>
            <p:cNvPr id="56" name="TextBox 56"/>
            <p:cNvSpPr txBox="1"/>
            <p:nvPr/>
          </p:nvSpPr>
          <p:spPr>
            <a:xfrm>
              <a:off x="8062912" y="4079081"/>
              <a:ext cx="1011948"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FRED-aware</a:t>
              </a:r>
            </a:p>
          </p:txBody>
        </p:sp>
        <p:sp>
          <p:nvSpPr>
            <p:cNvPr id="57" name="TextBox 57"/>
            <p:cNvSpPr txBox="1"/>
            <p:nvPr/>
          </p:nvSpPr>
          <p:spPr>
            <a:xfrm>
              <a:off x="7797165" y="4325302"/>
              <a:ext cx="3699462"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Clears WFE (Wait-For-ENDBRANCH) state on entry</a:t>
              </a:r>
            </a:p>
          </p:txBody>
        </p:sp>
        <p:sp>
          <p:nvSpPr>
            <p:cNvPr id="58" name="Rectangle 58"/>
            <p:cNvSpPr/>
            <p:nvPr/>
          </p:nvSpPr>
          <p:spPr>
            <a:xfrm>
              <a:off x="476250" y="5000625"/>
              <a:ext cx="11239500" cy="762000"/>
            </a:xfrm>
            <a:prstGeom prst="roundRect">
              <a:avLst>
                <a:gd name="adj" fmla="val 10000"/>
              </a:avLst>
            </a:prstGeom>
            <a:solidFill>
              <a:srgbClr val="1E293B"/>
            </a:solidFill>
            <a:ln>
              <a:noFill/>
            </a:ln>
          </p:spPr>
        </p:sp>
        <p:sp>
          <p:nvSpPr>
            <p:cNvPr id="59" name="TextBox 59"/>
            <p:cNvSpPr txBox="1"/>
            <p:nvPr/>
          </p:nvSpPr>
          <p:spPr>
            <a:xfrm>
              <a:off x="843915" y="5173028"/>
              <a:ext cx="1733483" cy="213360"/>
            </a:xfrm>
            <a:prstGeom prst="rect">
              <a:avLst/>
            </a:prstGeom>
            <a:noFill/>
            <a:ln>
              <a:noFill/>
            </a:ln>
          </p:spPr>
          <p:txBody>
            <a:bodyPr wrap="none" lIns="0" tIns="0" rIns="0" bIns="0" anchor="t" anchorCtr="0">
              <a:spAutoFit/>
            </a:bodyPr>
            <a:lstStyle/>
            <a:p>
              <a:pPr algn="l"/>
              <a:r>
                <a:rPr lang="zh-CN" sz="1050" b="1" dirty="0">
                  <a:solidFill>
                    <a:srgbClr val="0AB36E"/>
                  </a:solidFill>
                  <a:latin typeface="Arial"/>
                  <a:ea typeface="Microsoft YaHei"/>
                  <a:cs typeface="Arial"/>
                </a:rPr>
                <a:t>Handler Flow Summary</a:t>
              </a:r>
            </a:p>
          </p:txBody>
        </p:sp>
        <p:sp>
          <p:nvSpPr>
            <p:cNvPr id="60" name="TextBox 60"/>
            <p:cNvSpPr txBox="1"/>
            <p:nvPr/>
          </p:nvSpPr>
          <p:spPr>
            <a:xfrm>
              <a:off x="844868" y="5438299"/>
              <a:ext cx="5542717" cy="198120"/>
            </a:xfrm>
            <a:prstGeom prst="rect">
              <a:avLst/>
            </a:prstGeom>
            <a:noFill/>
            <a:ln>
              <a:noFill/>
            </a:ln>
          </p:spPr>
          <p:txBody>
            <a:bodyPr wrap="none" lIns="0" tIns="0" rIns="0" bIns="0" anchor="t" anchorCtr="0">
              <a:spAutoFit/>
            </a:bodyPr>
            <a:lstStyle/>
            <a:p>
              <a:pPr algn="l"/>
              <a:r>
                <a:rPr lang="zh-CN" sz="975" dirty="0">
                  <a:solidFill>
                    <a:srgbClr val="E0E0E0"/>
                  </a:solidFill>
                  <a:latin typeface="Consolas"/>
                  <a:ea typeface="Microsoft YaHei"/>
                  <a:cs typeface="Consolas"/>
                </a:rPr>
                <a:t>#CP trap → check IBT enabled → user_mode? → SIGSEGV : (ibt_warn? → WARN : BUG)</a:t>
              </a:r>
            </a:p>
          </p:txBody>
        </p:sp>
        <p:sp>
          <p:nvSpPr>
            <p:cNvPr id="61" name="TextBox 61"/>
            <p:cNvSpPr txBox="1"/>
            <p:nvPr/>
          </p:nvSpPr>
          <p:spPr>
            <a:xfrm>
              <a:off x="845820" y="5598795"/>
              <a:ext cx="5339810" cy="182880"/>
            </a:xfrm>
            <a:prstGeom prst="rect">
              <a:avLst/>
            </a:prstGeom>
            <a:noFill/>
            <a:ln>
              <a:noFill/>
            </a:ln>
          </p:spPr>
          <p:txBody>
            <a:bodyPr wrap="none" lIns="0" tIns="0" rIns="0" bIns="0" anchor="t" anchorCtr="0">
              <a:spAutoFit/>
            </a:bodyPr>
            <a:lstStyle/>
            <a:p>
              <a:pPr algn="l"/>
              <a:r>
                <a:rPr lang="zh-CN" sz="900" dirty="0">
                  <a:solidFill>
                    <a:srgbClr val="6A9955"/>
                  </a:solidFill>
                  <a:latin typeface="Arial"/>
                  <a:ea typeface="Microsoft YaHei"/>
                  <a:cs typeface="Arial"/>
                </a:rPr>
                <a:t>FRED (Flexible Return and Event Delivery) automatically manages the tracker state</a:t>
              </a:r>
            </a:p>
          </p:txBody>
        </p:sp>
      </p:grpSp>
      <p:grpSp>
        <p:nvGrpSpPr>
          <p:cNvPr id="65" name="Group 65"/>
          <p:cNvGrpSpPr/>
          <p:nvPr/>
        </p:nvGrpSpPr>
        <p:grpSpPr>
          <a:xfrm>
            <a:off x="10283883" y="5886450"/>
            <a:ext cx="1441392" cy="947738"/>
            <a:chOff x="10283883" y="5886450"/>
            <a:chExt cx="1441392" cy="947738"/>
          </a:xfrm>
        </p:grpSpPr>
        <p:pic>
          <p:nvPicPr>
            <p:cNvPr id="63" name="Image 63"/>
            <p:cNvPicPr>
              <a:picLocks noChangeAspect="1"/>
            </p:cNvPicPr>
            <p:nvPr/>
          </p:nvPicPr>
          <p:blipFill>
            <a:blip r:embed="rId4"/>
            <a:stretch>
              <a:fillRect/>
            </a:stretch>
          </p:blipFill>
          <p:spPr>
            <a:xfrm>
              <a:off x="10283883" y="5886450"/>
              <a:ext cx="1158759" cy="381000"/>
            </a:xfrm>
            <a:prstGeom prst="rect">
              <a:avLst/>
            </a:prstGeom>
          </p:spPr>
        </p:pic>
        <p:sp>
          <p:nvSpPr>
            <p:cNvPr id="64" name="TextBox 64"/>
            <p:cNvSpPr txBox="1"/>
            <p:nvPr/>
          </p:nvSpPr>
          <p:spPr>
            <a:xfrm>
              <a:off x="11585734" y="6681788"/>
              <a:ext cx="139541"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09</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7293064"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Hardware Shadow Stack — The Mechanism</a:t>
            </a:r>
          </a:p>
        </p:txBody>
      </p:sp>
      <p:grpSp>
        <p:nvGrpSpPr>
          <p:cNvPr id="16" name="Group 16"/>
          <p:cNvGrpSpPr/>
          <p:nvPr/>
        </p:nvGrpSpPr>
        <p:grpSpPr>
          <a:xfrm>
            <a:off x="952500" y="1378268"/>
            <a:ext cx="2286000" cy="2098357"/>
            <a:chOff x="952500" y="1378268"/>
            <a:chExt cx="2286000" cy="2098357"/>
          </a:xfrm>
        </p:grpSpPr>
        <p:sp>
          <p:nvSpPr>
            <p:cNvPr id="6" name="TextBox 6"/>
            <p:cNvSpPr txBox="1"/>
            <p:nvPr/>
          </p:nvSpPr>
          <p:spPr>
            <a:xfrm>
              <a:off x="1426223" y="1378268"/>
              <a:ext cx="1338553" cy="274320"/>
            </a:xfrm>
            <a:prstGeom prst="rect">
              <a:avLst/>
            </a:prstGeom>
            <a:noFill/>
            <a:ln>
              <a:noFill/>
            </a:ln>
          </p:spPr>
          <p:txBody>
            <a:bodyPr wrap="none" lIns="0" tIns="0" rIns="0" bIns="0" anchor="t" anchorCtr="0">
              <a:spAutoFit/>
            </a:bodyPr>
            <a:lstStyle/>
            <a:p>
              <a:pPr algn="ctr"/>
              <a:r>
                <a:rPr lang="zh-CN" sz="1350" b="1" dirty="0">
                  <a:solidFill>
                    <a:srgbClr val="000000"/>
                  </a:solidFill>
                  <a:latin typeface="Arial"/>
                  <a:ea typeface="Microsoft YaHei"/>
                  <a:cs typeface="Arial"/>
                </a:rPr>
                <a:t>Normal Stack</a:t>
              </a:r>
            </a:p>
          </p:txBody>
        </p:sp>
        <p:sp>
          <p:nvSpPr>
            <p:cNvPr id="7" name="TextBox 7"/>
            <p:cNvSpPr txBox="1"/>
            <p:nvPr/>
          </p:nvSpPr>
          <p:spPr>
            <a:xfrm>
              <a:off x="1616762" y="1590199"/>
              <a:ext cx="957477"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(read/write)</a:t>
              </a:r>
            </a:p>
          </p:txBody>
        </p:sp>
        <p:sp>
          <p:nvSpPr>
            <p:cNvPr id="8" name="Rectangle 8"/>
            <p:cNvSpPr/>
            <p:nvPr/>
          </p:nvSpPr>
          <p:spPr>
            <a:xfrm>
              <a:off x="952500" y="1809750"/>
              <a:ext cx="2286000" cy="381000"/>
            </a:xfrm>
            <a:prstGeom prst="roundRect">
              <a:avLst>
                <a:gd name="adj" fmla="val 10000"/>
              </a:avLst>
            </a:prstGeom>
            <a:solidFill>
              <a:srgbClr val="E0E0E0"/>
            </a:solidFill>
            <a:ln w="9525">
              <a:solidFill>
                <a:srgbClr val="999999"/>
              </a:solidFill>
            </a:ln>
          </p:spPr>
        </p:sp>
        <p:sp>
          <p:nvSpPr>
            <p:cNvPr id="9" name="TextBox 9"/>
            <p:cNvSpPr txBox="1"/>
            <p:nvPr/>
          </p:nvSpPr>
          <p:spPr>
            <a:xfrm>
              <a:off x="1527762" y="1942624"/>
              <a:ext cx="1135475"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local vars, args</a:t>
              </a:r>
            </a:p>
          </p:txBody>
        </p:sp>
        <p:sp>
          <p:nvSpPr>
            <p:cNvPr id="10" name="Rectangle 10"/>
            <p:cNvSpPr/>
            <p:nvPr/>
          </p:nvSpPr>
          <p:spPr>
            <a:xfrm>
              <a:off x="952500" y="2238375"/>
              <a:ext cx="2286000" cy="381000"/>
            </a:xfrm>
            <a:prstGeom prst="roundRect">
              <a:avLst>
                <a:gd name="adj" fmla="val 10000"/>
              </a:avLst>
            </a:prstGeom>
            <a:solidFill>
              <a:srgbClr val="FFF5F5"/>
            </a:solidFill>
            <a:ln w="14288">
              <a:solidFill>
                <a:srgbClr val="EF4444"/>
              </a:solidFill>
            </a:ln>
          </p:spPr>
        </p:sp>
        <p:sp>
          <p:nvSpPr>
            <p:cNvPr id="11" name="TextBox 11"/>
            <p:cNvSpPr txBox="1"/>
            <p:nvPr/>
          </p:nvSpPr>
          <p:spPr>
            <a:xfrm>
              <a:off x="1649513" y="2371249"/>
              <a:ext cx="891973" cy="198120"/>
            </a:xfrm>
            <a:prstGeom prst="rect">
              <a:avLst/>
            </a:prstGeom>
            <a:noFill/>
            <a:ln>
              <a:noFill/>
            </a:ln>
          </p:spPr>
          <p:txBody>
            <a:bodyPr wrap="none" lIns="0" tIns="0" rIns="0" bIns="0" anchor="t" anchorCtr="0">
              <a:spAutoFit/>
            </a:bodyPr>
            <a:lstStyle/>
            <a:p>
              <a:pPr algn="ctr"/>
              <a:r>
                <a:rPr lang="zh-CN" sz="975" b="1" dirty="0">
                  <a:solidFill>
                    <a:srgbClr val="EF4444"/>
                  </a:solidFill>
                  <a:latin typeface="Consolas"/>
                  <a:ea typeface="Microsoft YaHei"/>
                  <a:cs typeface="Consolas"/>
                </a:rPr>
                <a:t>return addr</a:t>
              </a:r>
            </a:p>
          </p:txBody>
        </p:sp>
        <p:sp>
          <p:nvSpPr>
            <p:cNvPr id="12" name="Rectangle 12"/>
            <p:cNvSpPr/>
            <p:nvPr/>
          </p:nvSpPr>
          <p:spPr>
            <a:xfrm>
              <a:off x="952500" y="2667000"/>
              <a:ext cx="2286000" cy="381000"/>
            </a:xfrm>
            <a:prstGeom prst="roundRect">
              <a:avLst>
                <a:gd name="adj" fmla="val 10000"/>
              </a:avLst>
            </a:prstGeom>
            <a:solidFill>
              <a:srgbClr val="E0E0E0"/>
            </a:solidFill>
            <a:ln w="9525">
              <a:solidFill>
                <a:srgbClr val="999999"/>
              </a:solidFill>
            </a:ln>
          </p:spPr>
        </p:sp>
        <p:sp>
          <p:nvSpPr>
            <p:cNvPr id="13" name="TextBox 13"/>
            <p:cNvSpPr txBox="1"/>
            <p:nvPr/>
          </p:nvSpPr>
          <p:spPr>
            <a:xfrm>
              <a:off x="1748480" y="2799874"/>
              <a:ext cx="694039"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saved RBP</a:t>
              </a:r>
            </a:p>
          </p:txBody>
        </p:sp>
        <p:sp>
          <p:nvSpPr>
            <p:cNvPr id="14" name="Rectangle 14"/>
            <p:cNvSpPr/>
            <p:nvPr/>
          </p:nvSpPr>
          <p:spPr>
            <a:xfrm>
              <a:off x="952500" y="3095625"/>
              <a:ext cx="2286000" cy="381000"/>
            </a:xfrm>
            <a:prstGeom prst="roundRect">
              <a:avLst>
                <a:gd name="adj" fmla="val 10000"/>
              </a:avLst>
            </a:prstGeom>
            <a:solidFill>
              <a:srgbClr val="E0E0E0"/>
            </a:solidFill>
            <a:ln w="9525">
              <a:solidFill>
                <a:srgbClr val="999999"/>
              </a:solidFill>
            </a:ln>
          </p:spPr>
        </p:sp>
        <p:sp>
          <p:nvSpPr>
            <p:cNvPr id="15" name="TextBox 15"/>
            <p:cNvSpPr txBox="1"/>
            <p:nvPr/>
          </p:nvSpPr>
          <p:spPr>
            <a:xfrm>
              <a:off x="1965639" y="3228499"/>
              <a:ext cx="259723"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a:t>
              </a:r>
            </a:p>
          </p:txBody>
        </p:sp>
      </p:grpSp>
      <p:grpSp>
        <p:nvGrpSpPr>
          <p:cNvPr id="25" name="Group 25"/>
          <p:cNvGrpSpPr/>
          <p:nvPr/>
        </p:nvGrpSpPr>
        <p:grpSpPr>
          <a:xfrm>
            <a:off x="6286500" y="1378268"/>
            <a:ext cx="2286000" cy="2098357"/>
            <a:chOff x="6286500" y="1378268"/>
            <a:chExt cx="2286000" cy="2098357"/>
          </a:xfrm>
        </p:grpSpPr>
        <p:sp>
          <p:nvSpPr>
            <p:cNvPr id="17" name="TextBox 17"/>
            <p:cNvSpPr txBox="1"/>
            <p:nvPr/>
          </p:nvSpPr>
          <p:spPr>
            <a:xfrm>
              <a:off x="6734345" y="1378268"/>
              <a:ext cx="1390309" cy="274320"/>
            </a:xfrm>
            <a:prstGeom prst="rect">
              <a:avLst/>
            </a:prstGeom>
            <a:noFill/>
            <a:ln>
              <a:noFill/>
            </a:ln>
          </p:spPr>
          <p:txBody>
            <a:bodyPr wrap="none" lIns="0" tIns="0" rIns="0" bIns="0" anchor="t" anchorCtr="0">
              <a:spAutoFit/>
            </a:bodyPr>
            <a:lstStyle/>
            <a:p>
              <a:pPr algn="ctr"/>
              <a:r>
                <a:rPr lang="zh-CN" sz="1350" b="1" dirty="0">
                  <a:solidFill>
                    <a:srgbClr val="AF00C0"/>
                  </a:solidFill>
                  <a:latin typeface="Arial"/>
                  <a:ea typeface="Microsoft YaHei"/>
                  <a:cs typeface="Arial"/>
                </a:rPr>
                <a:t>Shadow Stack</a:t>
              </a:r>
            </a:p>
          </p:txBody>
        </p:sp>
        <p:sp>
          <p:nvSpPr>
            <p:cNvPr id="18" name="TextBox 18"/>
            <p:cNvSpPr txBox="1"/>
            <p:nvPr/>
          </p:nvSpPr>
          <p:spPr>
            <a:xfrm>
              <a:off x="7004161" y="1590199"/>
              <a:ext cx="850678"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(read-only)</a:t>
              </a:r>
            </a:p>
          </p:txBody>
        </p:sp>
        <p:sp>
          <p:nvSpPr>
            <p:cNvPr id="19" name="Rectangle 19"/>
            <p:cNvSpPr/>
            <p:nvPr/>
          </p:nvSpPr>
          <p:spPr>
            <a:xfrm>
              <a:off x="6286500" y="2238375"/>
              <a:ext cx="2286000" cy="381000"/>
            </a:xfrm>
            <a:prstGeom prst="roundRect">
              <a:avLst>
                <a:gd name="adj" fmla="val 10000"/>
              </a:avLst>
            </a:prstGeom>
            <a:solidFill>
              <a:srgbClr val="F5F0FF"/>
            </a:solidFill>
            <a:ln w="19050">
              <a:solidFill>
                <a:srgbClr val="AF00C0"/>
              </a:solidFill>
            </a:ln>
          </p:spPr>
        </p:sp>
        <p:sp>
          <p:nvSpPr>
            <p:cNvPr id="20" name="TextBox 20"/>
            <p:cNvSpPr txBox="1"/>
            <p:nvPr/>
          </p:nvSpPr>
          <p:spPr>
            <a:xfrm>
              <a:off x="6983513" y="2371249"/>
              <a:ext cx="891973" cy="198120"/>
            </a:xfrm>
            <a:prstGeom prst="rect">
              <a:avLst/>
            </a:prstGeom>
            <a:noFill/>
            <a:ln>
              <a:noFill/>
            </a:ln>
          </p:spPr>
          <p:txBody>
            <a:bodyPr wrap="none" lIns="0" tIns="0" rIns="0" bIns="0" anchor="t" anchorCtr="0">
              <a:spAutoFit/>
            </a:bodyPr>
            <a:lstStyle/>
            <a:p>
              <a:pPr algn="ctr"/>
              <a:r>
                <a:rPr lang="zh-CN" sz="975" b="1" dirty="0">
                  <a:solidFill>
                    <a:srgbClr val="AF00C0"/>
                  </a:solidFill>
                  <a:latin typeface="Consolas"/>
                  <a:ea typeface="Microsoft YaHei"/>
                  <a:cs typeface="Consolas"/>
                </a:rPr>
                <a:t>return addr</a:t>
              </a:r>
            </a:p>
          </p:txBody>
        </p:sp>
        <p:sp>
          <p:nvSpPr>
            <p:cNvPr id="21" name="Rectangle 21"/>
            <p:cNvSpPr/>
            <p:nvPr/>
          </p:nvSpPr>
          <p:spPr>
            <a:xfrm>
              <a:off x="6286500" y="2667000"/>
              <a:ext cx="2286000" cy="381000"/>
            </a:xfrm>
            <a:prstGeom prst="roundRect">
              <a:avLst>
                <a:gd name="adj" fmla="val 10000"/>
              </a:avLst>
            </a:prstGeom>
            <a:solidFill>
              <a:srgbClr val="F5F0FF"/>
            </a:solidFill>
            <a:ln w="9525">
              <a:solidFill>
                <a:srgbClr val="AF00C0"/>
              </a:solidFill>
            </a:ln>
          </p:spPr>
        </p:sp>
        <p:sp>
          <p:nvSpPr>
            <p:cNvPr id="22" name="TextBox 22"/>
            <p:cNvSpPr txBox="1"/>
            <p:nvPr/>
          </p:nvSpPr>
          <p:spPr>
            <a:xfrm>
              <a:off x="6516445" y="2799874"/>
              <a:ext cx="1826109"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return addr (prev frame)</a:t>
              </a:r>
            </a:p>
          </p:txBody>
        </p:sp>
        <p:sp>
          <p:nvSpPr>
            <p:cNvPr id="23" name="Rectangle 23"/>
            <p:cNvSpPr/>
            <p:nvPr/>
          </p:nvSpPr>
          <p:spPr>
            <a:xfrm>
              <a:off x="6286500" y="3095625"/>
              <a:ext cx="2286000" cy="381000"/>
            </a:xfrm>
            <a:prstGeom prst="roundRect">
              <a:avLst>
                <a:gd name="adj" fmla="val 10000"/>
              </a:avLst>
            </a:prstGeom>
            <a:solidFill>
              <a:srgbClr val="F5F0FF"/>
            </a:solidFill>
            <a:ln w="9525">
              <a:solidFill>
                <a:srgbClr val="AF00C0"/>
              </a:solidFill>
            </a:ln>
          </p:spPr>
        </p:sp>
        <p:sp>
          <p:nvSpPr>
            <p:cNvPr id="24" name="TextBox 24"/>
            <p:cNvSpPr txBox="1"/>
            <p:nvPr/>
          </p:nvSpPr>
          <p:spPr>
            <a:xfrm>
              <a:off x="7299639" y="3228499"/>
              <a:ext cx="259723"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a:t>
              </a:r>
            </a:p>
          </p:txBody>
        </p:sp>
      </p:grpSp>
      <p:grpSp>
        <p:nvGrpSpPr>
          <p:cNvPr id="30" name="Group 30"/>
          <p:cNvGrpSpPr/>
          <p:nvPr/>
        </p:nvGrpSpPr>
        <p:grpSpPr>
          <a:xfrm>
            <a:off x="3238500" y="1926431"/>
            <a:ext cx="3048000" cy="454819"/>
            <a:chOff x="3238500" y="1926431"/>
            <a:chExt cx="3048000" cy="454819"/>
          </a:xfrm>
        </p:grpSpPr>
        <p:sp>
          <p:nvSpPr>
            <p:cNvPr id="26" name="TextBox 26"/>
            <p:cNvSpPr txBox="1"/>
            <p:nvPr/>
          </p:nvSpPr>
          <p:spPr>
            <a:xfrm>
              <a:off x="4558439" y="1926431"/>
              <a:ext cx="408122" cy="228600"/>
            </a:xfrm>
            <a:prstGeom prst="rect">
              <a:avLst/>
            </a:prstGeom>
            <a:noFill/>
            <a:ln>
              <a:noFill/>
            </a:ln>
          </p:spPr>
          <p:txBody>
            <a:bodyPr wrap="none" lIns="0" tIns="0" rIns="0" bIns="0" anchor="t" anchorCtr="0">
              <a:spAutoFit/>
            </a:bodyPr>
            <a:lstStyle/>
            <a:p>
              <a:pPr algn="ctr"/>
              <a:r>
                <a:rPr lang="zh-CN" sz="1125" b="1" dirty="0">
                  <a:solidFill>
                    <a:srgbClr val="0AB36E"/>
                  </a:solidFill>
                  <a:latin typeface="Arial"/>
                  <a:ea typeface="Microsoft YaHei"/>
                  <a:cs typeface="Arial"/>
                </a:rPr>
                <a:t>CALL</a:t>
              </a:r>
            </a:p>
          </p:txBody>
        </p:sp>
        <p:sp>
          <p:nvSpPr>
            <p:cNvPr id="27" name="Line 27"/>
            <p:cNvSpPr/>
            <p:nvPr/>
          </p:nvSpPr>
          <p:spPr>
            <a:xfrm flipV="1">
              <a:off x="3238500" y="2190750"/>
              <a:ext cx="762000" cy="190500"/>
            </a:xfrm>
            <a:prstGeom prst="line">
              <a:avLst/>
            </a:prstGeom>
            <a:noFill/>
            <a:ln w="19050">
              <a:solidFill>
                <a:srgbClr val="0AB36E"/>
              </a:solidFill>
              <a:tailEnd type="triangle" w="lg" len="lg"/>
            </a:ln>
          </p:spPr>
        </p:sp>
        <p:sp>
          <p:nvSpPr>
            <p:cNvPr id="28" name="TextBox 28"/>
            <p:cNvSpPr txBox="1"/>
            <p:nvPr/>
          </p:nvSpPr>
          <p:spPr>
            <a:xfrm>
              <a:off x="4264724" y="2169795"/>
              <a:ext cx="995553" cy="182880"/>
            </a:xfrm>
            <a:prstGeom prst="rect">
              <a:avLst/>
            </a:prstGeom>
            <a:noFill/>
            <a:ln>
              <a:noFill/>
            </a:ln>
          </p:spPr>
          <p:txBody>
            <a:bodyPr wrap="none" lIns="0" tIns="0" rIns="0" bIns="0" anchor="t" anchorCtr="0">
              <a:spAutoFit/>
            </a:bodyPr>
            <a:lstStyle/>
            <a:p>
              <a:pPr algn="ctr"/>
              <a:r>
                <a:rPr lang="zh-CN" sz="900" dirty="0">
                  <a:solidFill>
                    <a:srgbClr val="0AB36E"/>
                  </a:solidFill>
                  <a:latin typeface="Arial"/>
                  <a:ea typeface="Microsoft YaHei"/>
                  <a:cs typeface="Arial"/>
                </a:rPr>
                <a:t>pushes to BOTH</a:t>
              </a:r>
            </a:p>
          </p:txBody>
        </p:sp>
        <p:sp>
          <p:nvSpPr>
            <p:cNvPr id="29" name="Line 29"/>
            <p:cNvSpPr/>
            <p:nvPr/>
          </p:nvSpPr>
          <p:spPr>
            <a:xfrm>
              <a:off x="5524500" y="2190750"/>
              <a:ext cx="762000" cy="190500"/>
            </a:xfrm>
            <a:prstGeom prst="line">
              <a:avLst/>
            </a:prstGeom>
            <a:noFill/>
            <a:ln w="19050">
              <a:solidFill>
                <a:srgbClr val="0AB36E"/>
              </a:solidFill>
              <a:tailEnd type="triangle" w="lg" len="lg"/>
            </a:ln>
          </p:spPr>
        </p:sp>
      </p:grpSp>
      <p:grpSp>
        <p:nvGrpSpPr>
          <p:cNvPr id="35" name="Group 35"/>
          <p:cNvGrpSpPr/>
          <p:nvPr/>
        </p:nvGrpSpPr>
        <p:grpSpPr>
          <a:xfrm>
            <a:off x="3238500" y="2524125"/>
            <a:ext cx="3048000" cy="419100"/>
            <a:chOff x="3238500" y="2524125"/>
            <a:chExt cx="3048000" cy="419100"/>
          </a:xfrm>
        </p:grpSpPr>
        <p:sp>
          <p:nvSpPr>
            <p:cNvPr id="31" name="TextBox 31"/>
            <p:cNvSpPr txBox="1"/>
            <p:nvPr/>
          </p:nvSpPr>
          <p:spPr>
            <a:xfrm>
              <a:off x="4605882" y="2545556"/>
              <a:ext cx="313236" cy="228600"/>
            </a:xfrm>
            <a:prstGeom prst="rect">
              <a:avLst/>
            </a:prstGeom>
            <a:noFill/>
            <a:ln>
              <a:noFill/>
            </a:ln>
          </p:spPr>
          <p:txBody>
            <a:bodyPr wrap="none" lIns="0" tIns="0" rIns="0" bIns="0" anchor="t" anchorCtr="0">
              <a:spAutoFit/>
            </a:bodyPr>
            <a:lstStyle/>
            <a:p>
              <a:pPr algn="ctr"/>
              <a:r>
                <a:rPr lang="zh-CN" sz="1125" b="1" dirty="0">
                  <a:solidFill>
                    <a:srgbClr val="AF00C0"/>
                  </a:solidFill>
                  <a:latin typeface="Arial"/>
                  <a:ea typeface="Microsoft YaHei"/>
                  <a:cs typeface="Arial"/>
                </a:rPr>
                <a:t>RET</a:t>
              </a:r>
            </a:p>
          </p:txBody>
        </p:sp>
        <p:sp>
          <p:nvSpPr>
            <p:cNvPr id="32" name="Line 32"/>
            <p:cNvSpPr/>
            <p:nvPr/>
          </p:nvSpPr>
          <p:spPr>
            <a:xfrm>
              <a:off x="3238500" y="2524125"/>
              <a:ext cx="762000" cy="190500"/>
            </a:xfrm>
            <a:prstGeom prst="line">
              <a:avLst/>
            </a:prstGeom>
            <a:noFill/>
            <a:ln w="19050">
              <a:solidFill>
                <a:srgbClr val="AF00C0"/>
              </a:solidFill>
              <a:prstDash val="dash"/>
              <a:tailEnd type="triangle" w="lg" len="lg"/>
            </a:ln>
          </p:spPr>
        </p:sp>
        <p:sp>
          <p:nvSpPr>
            <p:cNvPr id="33" name="TextBox 33"/>
            <p:cNvSpPr txBox="1"/>
            <p:nvPr/>
          </p:nvSpPr>
          <p:spPr>
            <a:xfrm>
              <a:off x="4228576" y="2760345"/>
              <a:ext cx="1067848" cy="182880"/>
            </a:xfrm>
            <a:prstGeom prst="rect">
              <a:avLst/>
            </a:prstGeom>
            <a:noFill/>
            <a:ln>
              <a:noFill/>
            </a:ln>
          </p:spPr>
          <p:txBody>
            <a:bodyPr wrap="none" lIns="0" tIns="0" rIns="0" bIns="0" anchor="t" anchorCtr="0">
              <a:spAutoFit/>
            </a:bodyPr>
            <a:lstStyle/>
            <a:p>
              <a:pPr algn="ctr"/>
              <a:r>
                <a:rPr lang="zh-CN" sz="900" dirty="0">
                  <a:solidFill>
                    <a:srgbClr val="AF00C0"/>
                  </a:solidFill>
                  <a:latin typeface="Arial"/>
                  <a:ea typeface="Microsoft YaHei"/>
                  <a:cs typeface="Arial"/>
                </a:rPr>
                <a:t>pops + compares</a:t>
              </a:r>
            </a:p>
          </p:txBody>
        </p:sp>
        <p:sp>
          <p:nvSpPr>
            <p:cNvPr id="34" name="Line 34"/>
            <p:cNvSpPr/>
            <p:nvPr/>
          </p:nvSpPr>
          <p:spPr>
            <a:xfrm flipV="1">
              <a:off x="5524500" y="2524125"/>
              <a:ext cx="762000" cy="190500"/>
            </a:xfrm>
            <a:prstGeom prst="line">
              <a:avLst/>
            </a:prstGeom>
            <a:noFill/>
            <a:ln w="19050">
              <a:solidFill>
                <a:srgbClr val="AF00C0"/>
              </a:solidFill>
              <a:prstDash val="dash"/>
              <a:tailEnd type="triangle" w="lg" len="lg"/>
            </a:ln>
          </p:spPr>
        </p:sp>
      </p:grpSp>
      <p:grpSp>
        <p:nvGrpSpPr>
          <p:cNvPr id="45" name="Group 45"/>
          <p:cNvGrpSpPr/>
          <p:nvPr/>
        </p:nvGrpSpPr>
        <p:grpSpPr>
          <a:xfrm>
            <a:off x="9144000" y="2143125"/>
            <a:ext cx="2476500" cy="857250"/>
            <a:chOff x="9144000" y="2143125"/>
            <a:chExt cx="2476500" cy="857250"/>
          </a:xfrm>
        </p:grpSpPr>
        <p:sp>
          <p:nvSpPr>
            <p:cNvPr id="36" name="Rectangle 36"/>
            <p:cNvSpPr/>
            <p:nvPr/>
          </p:nvSpPr>
          <p:spPr>
            <a:xfrm>
              <a:off x="9144000" y="2143125"/>
              <a:ext cx="2476500" cy="381000"/>
            </a:xfrm>
            <a:prstGeom prst="roundRect">
              <a:avLst>
                <a:gd name="adj" fmla="val 15000"/>
              </a:avLst>
            </a:prstGeom>
            <a:solidFill>
              <a:srgbClr val="F0FFF4"/>
            </a:solidFill>
            <a:ln w="14288">
              <a:solidFill>
                <a:srgbClr val="0AB36E"/>
              </a:solidFill>
            </a:ln>
          </p:spPr>
        </p:sp>
        <p:sp>
          <p:nvSpPr>
            <p:cNvPr id="37" name="Freeform 37"/>
            <p:cNvSpPr/>
            <p:nvPr/>
          </p:nvSpPr>
          <p:spPr>
            <a:xfrm>
              <a:off x="9334500" y="2286000"/>
              <a:ext cx="142875" cy="95250"/>
            </a:xfrm>
            <a:custGeom>
              <a:avLst/>
              <a:gdLst/>
              <a:ahLst/>
              <a:cxnLst/>
              <a:rect l="l" t="t" r="r" b="b"/>
              <a:pathLst>
                <a:path w="142875" h="95250">
                  <a:moveTo>
                    <a:pt x="0" y="47625"/>
                  </a:moveTo>
                  <a:lnTo>
                    <a:pt x="47625" y="95250"/>
                  </a:lnTo>
                  <a:lnTo>
                    <a:pt x="142875" y="0"/>
                  </a:lnTo>
                </a:path>
              </a:pathLst>
            </a:custGeom>
            <a:noFill/>
            <a:ln w="19050">
              <a:solidFill>
                <a:srgbClr val="0AB36E"/>
              </a:solidFill>
            </a:ln>
          </p:spPr>
        </p:sp>
        <p:sp>
          <p:nvSpPr>
            <p:cNvPr id="38" name="TextBox 38"/>
            <p:cNvSpPr txBox="1"/>
            <p:nvPr/>
          </p:nvSpPr>
          <p:spPr>
            <a:xfrm>
              <a:off x="9558338" y="2259806"/>
              <a:ext cx="1451878"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Match = Continue</a:t>
              </a:r>
            </a:p>
          </p:txBody>
        </p:sp>
        <p:sp>
          <p:nvSpPr>
            <p:cNvPr id="39" name="Rectangle 39"/>
            <p:cNvSpPr/>
            <p:nvPr/>
          </p:nvSpPr>
          <p:spPr>
            <a:xfrm>
              <a:off x="9144000" y="2619375"/>
              <a:ext cx="2476500" cy="381000"/>
            </a:xfrm>
            <a:prstGeom prst="roundRect">
              <a:avLst>
                <a:gd name="adj" fmla="val 15000"/>
              </a:avLst>
            </a:prstGeom>
            <a:solidFill>
              <a:srgbClr val="FFF5F5"/>
            </a:solidFill>
            <a:ln w="14288">
              <a:solidFill>
                <a:srgbClr val="EF4444"/>
              </a:solidFill>
            </a:ln>
          </p:spPr>
        </p:sp>
        <p:grpSp>
          <p:nvGrpSpPr>
            <p:cNvPr id="43" name="Group 43"/>
            <p:cNvGrpSpPr/>
            <p:nvPr/>
          </p:nvGrpSpPr>
          <p:grpSpPr>
            <a:xfrm>
              <a:off x="9305114" y="2720986"/>
              <a:ext cx="192114" cy="165051"/>
              <a:chOff x="9305114" y="2720986"/>
              <a:chExt cx="192114" cy="165051"/>
            </a:xfrm>
          </p:grpSpPr>
          <p:sp>
            <p:nvSpPr>
              <p:cNvPr id="40" name="Freeform 40"/>
              <p:cNvSpPr/>
              <p:nvPr/>
            </p:nvSpPr>
            <p:spPr>
              <a:xfrm>
                <a:off x="9401175" y="2781300"/>
                <a:ext cx="9525" cy="38100"/>
              </a:xfrm>
              <a:custGeom>
                <a:avLst/>
                <a:gdLst/>
                <a:ahLst/>
                <a:cxnLst/>
                <a:rect l="l" t="t" r="r" b="b"/>
                <a:pathLst>
                  <a:path w="9525" h="38100">
                    <a:moveTo>
                      <a:pt x="0" y="0"/>
                    </a:moveTo>
                    <a:lnTo>
                      <a:pt x="0" y="38100"/>
                    </a:lnTo>
                  </a:path>
                </a:pathLst>
              </a:custGeom>
              <a:noFill/>
              <a:ln w="19050">
                <a:solidFill>
                  <a:srgbClr val="EF4444"/>
                </a:solidFill>
              </a:ln>
            </p:spPr>
          </p:sp>
          <p:sp>
            <p:nvSpPr>
              <p:cNvPr id="41" name="Freeform 41"/>
              <p:cNvSpPr/>
              <p:nvPr/>
            </p:nvSpPr>
            <p:spPr>
              <a:xfrm>
                <a:off x="9305114" y="2720986"/>
                <a:ext cx="192114" cy="165051"/>
              </a:xfrm>
              <a:custGeom>
                <a:avLst/>
                <a:gdLst/>
                <a:ahLst/>
                <a:cxnLst/>
                <a:rect l="l" t="t" r="r" b="b"/>
                <a:pathLst>
                  <a:path w="192114" h="165051">
                    <a:moveTo>
                      <a:pt x="80468" y="8794"/>
                    </a:moveTo>
                    <a:lnTo>
                      <a:pt x="3259" y="137705"/>
                    </a:lnTo>
                    <a:cubicBezTo>
                      <a:pt x="20" y="143314"/>
                      <a:pt x="0" y="150220"/>
                      <a:pt x="3207" y="155848"/>
                    </a:cubicBezTo>
                    <a:cubicBezTo>
                      <a:pt x="6413" y="161475"/>
                      <a:pt x="12365" y="164979"/>
                      <a:pt x="18842" y="165051"/>
                    </a:cubicBezTo>
                    <a:lnTo>
                      <a:pt x="173280" y="165051"/>
                    </a:lnTo>
                    <a:cubicBezTo>
                      <a:pt x="179753" y="164977"/>
                      <a:pt x="185702" y="161474"/>
                      <a:pt x="188908" y="155850"/>
                    </a:cubicBezTo>
                    <a:cubicBezTo>
                      <a:pt x="192114" y="150226"/>
                      <a:pt x="192097" y="143323"/>
                      <a:pt x="188863" y="137715"/>
                    </a:cubicBezTo>
                    <a:lnTo>
                      <a:pt x="111653" y="8784"/>
                    </a:lnTo>
                    <a:cubicBezTo>
                      <a:pt x="108349" y="3331"/>
                      <a:pt x="102437" y="0"/>
                      <a:pt x="96061" y="0"/>
                    </a:cubicBezTo>
                    <a:cubicBezTo>
                      <a:pt x="89685" y="0"/>
                      <a:pt x="83772" y="3331"/>
                      <a:pt x="80468" y="8784"/>
                    </a:cubicBezTo>
                  </a:path>
                </a:pathLst>
              </a:custGeom>
              <a:noFill/>
              <a:ln w="19050">
                <a:solidFill>
                  <a:srgbClr val="EF4444"/>
                </a:solidFill>
              </a:ln>
            </p:spPr>
          </p:sp>
          <p:sp>
            <p:nvSpPr>
              <p:cNvPr id="42" name="Freeform 42"/>
              <p:cNvSpPr/>
              <p:nvPr/>
            </p:nvSpPr>
            <p:spPr>
              <a:xfrm>
                <a:off x="9401175" y="2847975"/>
                <a:ext cx="9525" cy="9525"/>
              </a:xfrm>
              <a:custGeom>
                <a:avLst/>
                <a:gdLst/>
                <a:ahLst/>
                <a:cxnLst/>
                <a:rect l="l" t="t" r="r" b="b"/>
                <a:pathLst>
                  <a:path w="9525" h="9525">
                    <a:moveTo>
                      <a:pt x="0" y="0"/>
                    </a:moveTo>
                    <a:lnTo>
                      <a:pt x="95" y="0"/>
                    </a:lnTo>
                  </a:path>
                </a:pathLst>
              </a:custGeom>
              <a:noFill/>
              <a:ln w="19050">
                <a:solidFill>
                  <a:srgbClr val="EF4444"/>
                </a:solidFill>
              </a:ln>
            </p:spPr>
          </p:sp>
        </p:grpSp>
        <p:sp>
          <p:nvSpPr>
            <p:cNvPr id="44" name="TextBox 44"/>
            <p:cNvSpPr txBox="1"/>
            <p:nvPr/>
          </p:nvSpPr>
          <p:spPr>
            <a:xfrm>
              <a:off x="9558338" y="2736056"/>
              <a:ext cx="1296608" cy="228600"/>
            </a:xfrm>
            <a:prstGeom prst="rect">
              <a:avLst/>
            </a:prstGeom>
            <a:noFill/>
            <a:ln>
              <a:noFill/>
            </a:ln>
          </p:spPr>
          <p:txBody>
            <a:bodyPr wrap="none" lIns="0" tIns="0" rIns="0" bIns="0" anchor="t" anchorCtr="0">
              <a:spAutoFit/>
            </a:bodyPr>
            <a:lstStyle/>
            <a:p>
              <a:pPr algn="l"/>
              <a:r>
                <a:rPr lang="zh-CN" sz="1125" b="1" dirty="0">
                  <a:solidFill>
                    <a:srgbClr val="EF4444"/>
                  </a:solidFill>
                  <a:latin typeface="Arial"/>
                  <a:ea typeface="Microsoft YaHei"/>
                  <a:cs typeface="Arial"/>
                </a:rPr>
                <a:t>Mismatch = #CP</a:t>
              </a:r>
            </a:p>
          </p:txBody>
        </p:sp>
      </p:grpSp>
      <p:grpSp>
        <p:nvGrpSpPr>
          <p:cNvPr id="76" name="Group 76"/>
          <p:cNvGrpSpPr/>
          <p:nvPr/>
        </p:nvGrpSpPr>
        <p:grpSpPr>
          <a:xfrm>
            <a:off x="476250" y="3667125"/>
            <a:ext cx="11239500" cy="2095500"/>
            <a:chOff x="476250" y="3667125"/>
            <a:chExt cx="11239500" cy="2095500"/>
          </a:xfrm>
        </p:grpSpPr>
        <p:sp>
          <p:nvSpPr>
            <p:cNvPr id="46" name="Rectangle 46"/>
            <p:cNvSpPr/>
            <p:nvPr/>
          </p:nvSpPr>
          <p:spPr>
            <a:xfrm>
              <a:off x="476250" y="3667125"/>
              <a:ext cx="11239500" cy="2095500"/>
            </a:xfrm>
            <a:prstGeom prst="roundRect">
              <a:avLst>
                <a:gd name="adj" fmla="val 4545"/>
              </a:avLst>
            </a:prstGeom>
            <a:solidFill>
              <a:srgbClr val="1E293B"/>
            </a:solidFill>
            <a:ln>
              <a:noFill/>
            </a:ln>
          </p:spPr>
        </p:sp>
        <p:sp>
          <p:nvSpPr>
            <p:cNvPr id="47" name="TextBox 47"/>
            <p:cNvSpPr txBox="1"/>
            <p:nvPr/>
          </p:nvSpPr>
          <p:spPr>
            <a:xfrm>
              <a:off x="745808" y="3815239"/>
              <a:ext cx="1831210" cy="259080"/>
            </a:xfrm>
            <a:prstGeom prst="rect">
              <a:avLst/>
            </a:prstGeom>
            <a:noFill/>
            <a:ln>
              <a:noFill/>
            </a:ln>
          </p:spPr>
          <p:txBody>
            <a:bodyPr wrap="none" lIns="0" tIns="0" rIns="0" bIns="0" anchor="t" anchorCtr="0">
              <a:spAutoFit/>
            </a:bodyPr>
            <a:lstStyle/>
            <a:p>
              <a:pPr algn="l"/>
              <a:r>
                <a:rPr lang="zh-CN" sz="1275" b="1" dirty="0">
                  <a:solidFill>
                    <a:srgbClr val="0AB36E"/>
                  </a:solidFill>
                  <a:latin typeface="Arial"/>
                  <a:ea typeface="Microsoft YaHei"/>
                  <a:cs typeface="Arial"/>
                </a:rPr>
                <a:t>Critical Properties</a:t>
              </a:r>
            </a:p>
          </p:txBody>
        </p:sp>
        <p:grpSp>
          <p:nvGrpSpPr>
            <p:cNvPr id="51" name="Group 51"/>
            <p:cNvGrpSpPr/>
            <p:nvPr/>
          </p:nvGrpSpPr>
          <p:grpSpPr>
            <a:xfrm>
              <a:off x="782507" y="4138612"/>
              <a:ext cx="149486" cy="142875"/>
              <a:chOff x="782507" y="4138612"/>
              <a:chExt cx="149486" cy="142875"/>
            </a:xfrm>
          </p:grpSpPr>
          <p:sp>
            <p:nvSpPr>
              <p:cNvPr id="48" name="Freeform 48"/>
              <p:cNvSpPr/>
              <p:nvPr/>
            </p:nvSpPr>
            <p:spPr>
              <a:xfrm>
                <a:off x="782507" y="4138612"/>
                <a:ext cx="149486" cy="142875"/>
              </a:xfrm>
              <a:custGeom>
                <a:avLst/>
                <a:gdLst/>
                <a:ahLst/>
                <a:cxnLst/>
                <a:rect l="l" t="t" r="r" b="b"/>
                <a:pathLst>
                  <a:path w="149486" h="142875">
                    <a:moveTo>
                      <a:pt x="74743" y="0"/>
                    </a:moveTo>
                    <a:cubicBezTo>
                      <a:pt x="93284" y="16403"/>
                      <a:pt x="117482" y="24944"/>
                      <a:pt x="142212" y="23812"/>
                    </a:cubicBezTo>
                    <a:cubicBezTo>
                      <a:pt x="149486" y="48558"/>
                      <a:pt x="146414" y="75195"/>
                      <a:pt x="133698" y="97635"/>
                    </a:cubicBezTo>
                    <a:cubicBezTo>
                      <a:pt x="120982" y="120075"/>
                      <a:pt x="99709" y="136399"/>
                      <a:pt x="74743" y="142875"/>
                    </a:cubicBezTo>
                    <a:cubicBezTo>
                      <a:pt x="49777" y="136399"/>
                      <a:pt x="28504" y="120075"/>
                      <a:pt x="15788" y="97635"/>
                    </a:cubicBezTo>
                    <a:cubicBezTo>
                      <a:pt x="3072" y="75195"/>
                      <a:pt x="0" y="48558"/>
                      <a:pt x="7274" y="23812"/>
                    </a:cubicBezTo>
                    <a:cubicBezTo>
                      <a:pt x="32004" y="24944"/>
                      <a:pt x="56202" y="16403"/>
                      <a:pt x="74743" y="0"/>
                    </a:cubicBezTo>
                  </a:path>
                </a:pathLst>
              </a:custGeom>
              <a:noFill/>
              <a:ln w="19050">
                <a:solidFill>
                  <a:srgbClr val="0AB36E"/>
                </a:solidFill>
              </a:ln>
            </p:spPr>
          </p:sp>
          <p:sp>
            <p:nvSpPr>
              <p:cNvPr id="49" name="Freeform 49"/>
              <p:cNvSpPr/>
              <p:nvPr/>
            </p:nvSpPr>
            <p:spPr>
              <a:xfrm>
                <a:off x="849312" y="4194175"/>
                <a:ext cx="15875" cy="15875"/>
              </a:xfrm>
              <a:custGeom>
                <a:avLst/>
                <a:gdLst/>
                <a:ahLst/>
                <a:cxnLst/>
                <a:rect l="l" t="t" r="r" b="b"/>
                <a:pathLst>
                  <a:path w="15875" h="15875">
                    <a:moveTo>
                      <a:pt x="0" y="7938"/>
                    </a:moveTo>
                    <a:cubicBezTo>
                      <a:pt x="0" y="12321"/>
                      <a:pt x="3554" y="15875"/>
                      <a:pt x="7937" y="15875"/>
                    </a:cubicBezTo>
                    <a:cubicBezTo>
                      <a:pt x="12321" y="15875"/>
                      <a:pt x="15875" y="12321"/>
                      <a:pt x="15875" y="7938"/>
                    </a:cubicBezTo>
                    <a:cubicBezTo>
                      <a:pt x="15875" y="3554"/>
                      <a:pt x="12321" y="0"/>
                      <a:pt x="7937" y="0"/>
                    </a:cubicBezTo>
                    <a:cubicBezTo>
                      <a:pt x="3554" y="0"/>
                      <a:pt x="0" y="3554"/>
                      <a:pt x="0" y="7938"/>
                    </a:cubicBezTo>
                  </a:path>
                </a:pathLst>
              </a:custGeom>
              <a:noFill/>
              <a:ln w="19050">
                <a:solidFill>
                  <a:srgbClr val="0AB36E"/>
                </a:solidFill>
              </a:ln>
            </p:spPr>
          </p:sp>
          <p:sp>
            <p:nvSpPr>
              <p:cNvPr id="50" name="Freeform 50"/>
              <p:cNvSpPr/>
              <p:nvPr/>
            </p:nvSpPr>
            <p:spPr>
              <a:xfrm>
                <a:off x="857250" y="4210050"/>
                <a:ext cx="9525" cy="19844"/>
              </a:xfrm>
              <a:custGeom>
                <a:avLst/>
                <a:gdLst/>
                <a:ahLst/>
                <a:cxnLst/>
                <a:rect l="l" t="t" r="r" b="b"/>
                <a:pathLst>
                  <a:path w="9525" h="19844">
                    <a:moveTo>
                      <a:pt x="0" y="0"/>
                    </a:moveTo>
                    <a:lnTo>
                      <a:pt x="0" y="19844"/>
                    </a:lnTo>
                  </a:path>
                </a:pathLst>
              </a:custGeom>
              <a:noFill/>
              <a:ln w="19050">
                <a:solidFill>
                  <a:srgbClr val="0AB36E"/>
                </a:solidFill>
              </a:ln>
            </p:spPr>
          </p:sp>
        </p:grpSp>
        <p:sp>
          <p:nvSpPr>
            <p:cNvPr id="52" name="TextBox 52"/>
            <p:cNvSpPr txBox="1"/>
            <p:nvPr/>
          </p:nvSpPr>
          <p:spPr>
            <a:xfrm>
              <a:off x="1034415" y="4153852"/>
              <a:ext cx="4734592"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Shadow stack is </a:t>
              </a:r>
              <a:r>
                <a:rPr lang="zh-CN" sz="1050" b="1" dirty="0">
                  <a:solidFill>
                    <a:srgbClr val="EF4444"/>
                  </a:solidFill>
                  <a:latin typeface="Arial"/>
                  <a:ea typeface="Microsoft YaHei"/>
                  <a:cs typeface="Arial"/>
                </a:rPr>
                <a:t>NOT</a:t>
              </a:r>
              <a:r>
                <a:rPr lang="zh-CN" sz="1050" dirty="0">
                  <a:solidFill>
                    <a:srgbClr val="FFFFFF"/>
                  </a:solidFill>
                  <a:latin typeface="Arial"/>
                  <a:ea typeface="Microsoft YaHei"/>
                  <a:cs typeface="Arial"/>
                </a:rPr>
                <a:t> writable by normal MOV/PUSH instructions</a:t>
              </a:r>
            </a:p>
          </p:txBody>
        </p:sp>
        <p:grpSp>
          <p:nvGrpSpPr>
            <p:cNvPr id="63" name="Group 63"/>
            <p:cNvGrpSpPr/>
            <p:nvPr/>
          </p:nvGrpSpPr>
          <p:grpSpPr>
            <a:xfrm>
              <a:off x="785812" y="4424362"/>
              <a:ext cx="142875" cy="142875"/>
              <a:chOff x="785812" y="4424362"/>
              <a:chExt cx="142875" cy="142875"/>
            </a:xfrm>
          </p:grpSpPr>
          <p:sp>
            <p:nvSpPr>
              <p:cNvPr id="53" name="Freeform 53"/>
              <p:cNvSpPr/>
              <p:nvPr/>
            </p:nvSpPr>
            <p:spPr>
              <a:xfrm>
                <a:off x="801688" y="4440238"/>
                <a:ext cx="111125" cy="111125"/>
              </a:xfrm>
              <a:custGeom>
                <a:avLst/>
                <a:gdLst/>
                <a:ahLst/>
                <a:cxnLst/>
                <a:rect l="l" t="t" r="r" b="b"/>
                <a:pathLst>
                  <a:path w="111125" h="111125">
                    <a:moveTo>
                      <a:pt x="0" y="7937"/>
                    </a:moveTo>
                    <a:cubicBezTo>
                      <a:pt x="0" y="3554"/>
                      <a:pt x="3554" y="0"/>
                      <a:pt x="7937" y="0"/>
                    </a:cubicBezTo>
                    <a:lnTo>
                      <a:pt x="103187" y="0"/>
                    </a:lnTo>
                    <a:cubicBezTo>
                      <a:pt x="107571" y="0"/>
                      <a:pt x="111125" y="3554"/>
                      <a:pt x="111125" y="7937"/>
                    </a:cubicBezTo>
                    <a:lnTo>
                      <a:pt x="111125" y="103187"/>
                    </a:lnTo>
                    <a:cubicBezTo>
                      <a:pt x="111125" y="107571"/>
                      <a:pt x="107571" y="111125"/>
                      <a:pt x="103187" y="111125"/>
                    </a:cubicBezTo>
                    <a:lnTo>
                      <a:pt x="7937" y="111125"/>
                    </a:lnTo>
                    <a:cubicBezTo>
                      <a:pt x="3554" y="111125"/>
                      <a:pt x="0" y="107571"/>
                      <a:pt x="0" y="103187"/>
                    </a:cubicBezTo>
                    <a:lnTo>
                      <a:pt x="0" y="7937"/>
                    </a:lnTo>
                  </a:path>
                </a:pathLst>
              </a:custGeom>
              <a:noFill/>
              <a:ln w="19050">
                <a:solidFill>
                  <a:srgbClr val="0AB36E"/>
                </a:solidFill>
              </a:ln>
            </p:spPr>
          </p:sp>
          <p:sp>
            <p:nvSpPr>
              <p:cNvPr id="54" name="Freeform 54"/>
              <p:cNvSpPr/>
              <p:nvPr/>
            </p:nvSpPr>
            <p:spPr>
              <a:xfrm>
                <a:off x="833438" y="4471988"/>
                <a:ext cx="47625" cy="47625"/>
              </a:xfrm>
              <a:custGeom>
                <a:avLst/>
                <a:gdLst/>
                <a:ahLst/>
                <a:cxnLst/>
                <a:rect l="l" t="t" r="r" b="b"/>
                <a:pathLst>
                  <a:path w="47625" h="47625">
                    <a:moveTo>
                      <a:pt x="0" y="0"/>
                    </a:moveTo>
                    <a:lnTo>
                      <a:pt x="47625" y="0"/>
                    </a:lnTo>
                    <a:lnTo>
                      <a:pt x="47625" y="47625"/>
                    </a:lnTo>
                    <a:lnTo>
                      <a:pt x="0" y="47625"/>
                    </a:lnTo>
                    <a:lnTo>
                      <a:pt x="0" y="0"/>
                    </a:lnTo>
                  </a:path>
                </a:pathLst>
              </a:custGeom>
              <a:noFill/>
              <a:ln w="19050">
                <a:solidFill>
                  <a:srgbClr val="0AB36E"/>
                </a:solidFill>
              </a:ln>
            </p:spPr>
          </p:sp>
          <p:sp>
            <p:nvSpPr>
              <p:cNvPr id="55" name="Freeform 55"/>
              <p:cNvSpPr/>
              <p:nvPr/>
            </p:nvSpPr>
            <p:spPr>
              <a:xfrm>
                <a:off x="785812" y="4479925"/>
                <a:ext cx="15875" cy="9525"/>
              </a:xfrm>
              <a:custGeom>
                <a:avLst/>
                <a:gdLst/>
                <a:ahLst/>
                <a:cxnLst/>
                <a:rect l="l" t="t" r="r" b="b"/>
                <a:pathLst>
                  <a:path w="15875" h="9525">
                    <a:moveTo>
                      <a:pt x="0" y="0"/>
                    </a:moveTo>
                    <a:lnTo>
                      <a:pt x="15875" y="0"/>
                    </a:lnTo>
                  </a:path>
                </a:pathLst>
              </a:custGeom>
              <a:noFill/>
              <a:ln w="19050">
                <a:solidFill>
                  <a:srgbClr val="0AB36E"/>
                </a:solidFill>
              </a:ln>
            </p:spPr>
          </p:sp>
          <p:sp>
            <p:nvSpPr>
              <p:cNvPr id="56" name="Freeform 56"/>
              <p:cNvSpPr/>
              <p:nvPr/>
            </p:nvSpPr>
            <p:spPr>
              <a:xfrm>
                <a:off x="785812" y="4511675"/>
                <a:ext cx="15875" cy="9525"/>
              </a:xfrm>
              <a:custGeom>
                <a:avLst/>
                <a:gdLst/>
                <a:ahLst/>
                <a:cxnLst/>
                <a:rect l="l" t="t" r="r" b="b"/>
                <a:pathLst>
                  <a:path w="15875" h="9525">
                    <a:moveTo>
                      <a:pt x="0" y="0"/>
                    </a:moveTo>
                    <a:lnTo>
                      <a:pt x="15875" y="0"/>
                    </a:lnTo>
                  </a:path>
                </a:pathLst>
              </a:custGeom>
              <a:noFill/>
              <a:ln w="19050">
                <a:solidFill>
                  <a:srgbClr val="0AB36E"/>
                </a:solidFill>
              </a:ln>
            </p:spPr>
          </p:sp>
          <p:sp>
            <p:nvSpPr>
              <p:cNvPr id="57" name="Freeform 57"/>
              <p:cNvSpPr/>
              <p:nvPr/>
            </p:nvSpPr>
            <p:spPr>
              <a:xfrm>
                <a:off x="841375" y="4424362"/>
                <a:ext cx="9525" cy="15875"/>
              </a:xfrm>
              <a:custGeom>
                <a:avLst/>
                <a:gdLst/>
                <a:ahLst/>
                <a:cxnLst/>
                <a:rect l="l" t="t" r="r" b="b"/>
                <a:pathLst>
                  <a:path w="9525" h="15875">
                    <a:moveTo>
                      <a:pt x="0" y="0"/>
                    </a:moveTo>
                    <a:lnTo>
                      <a:pt x="0" y="15875"/>
                    </a:lnTo>
                  </a:path>
                </a:pathLst>
              </a:custGeom>
              <a:noFill/>
              <a:ln w="19050">
                <a:solidFill>
                  <a:srgbClr val="0AB36E"/>
                </a:solidFill>
              </a:ln>
            </p:spPr>
          </p:sp>
          <p:sp>
            <p:nvSpPr>
              <p:cNvPr id="58" name="Freeform 58"/>
              <p:cNvSpPr/>
              <p:nvPr/>
            </p:nvSpPr>
            <p:spPr>
              <a:xfrm>
                <a:off x="873125" y="4424362"/>
                <a:ext cx="9525" cy="15875"/>
              </a:xfrm>
              <a:custGeom>
                <a:avLst/>
                <a:gdLst/>
                <a:ahLst/>
                <a:cxnLst/>
                <a:rect l="l" t="t" r="r" b="b"/>
                <a:pathLst>
                  <a:path w="9525" h="15875">
                    <a:moveTo>
                      <a:pt x="0" y="0"/>
                    </a:moveTo>
                    <a:lnTo>
                      <a:pt x="0" y="15875"/>
                    </a:lnTo>
                  </a:path>
                </a:pathLst>
              </a:custGeom>
              <a:noFill/>
              <a:ln w="19050">
                <a:solidFill>
                  <a:srgbClr val="0AB36E"/>
                </a:solidFill>
              </a:ln>
            </p:spPr>
          </p:sp>
          <p:sp>
            <p:nvSpPr>
              <p:cNvPr id="59" name="Freeform 59"/>
              <p:cNvSpPr/>
              <p:nvPr/>
            </p:nvSpPr>
            <p:spPr>
              <a:xfrm>
                <a:off x="912812" y="4479925"/>
                <a:ext cx="15875" cy="9525"/>
              </a:xfrm>
              <a:custGeom>
                <a:avLst/>
                <a:gdLst/>
                <a:ahLst/>
                <a:cxnLst/>
                <a:rect l="l" t="t" r="r" b="b"/>
                <a:pathLst>
                  <a:path w="15875" h="9525">
                    <a:moveTo>
                      <a:pt x="15875" y="0"/>
                    </a:moveTo>
                    <a:lnTo>
                      <a:pt x="0" y="0"/>
                    </a:lnTo>
                  </a:path>
                </a:pathLst>
              </a:custGeom>
              <a:noFill/>
              <a:ln w="19050">
                <a:solidFill>
                  <a:srgbClr val="0AB36E"/>
                </a:solidFill>
              </a:ln>
            </p:spPr>
          </p:sp>
          <p:sp>
            <p:nvSpPr>
              <p:cNvPr id="60" name="Freeform 60"/>
              <p:cNvSpPr/>
              <p:nvPr/>
            </p:nvSpPr>
            <p:spPr>
              <a:xfrm>
                <a:off x="912812" y="4511675"/>
                <a:ext cx="15875" cy="9525"/>
              </a:xfrm>
              <a:custGeom>
                <a:avLst/>
                <a:gdLst/>
                <a:ahLst/>
                <a:cxnLst/>
                <a:rect l="l" t="t" r="r" b="b"/>
                <a:pathLst>
                  <a:path w="15875" h="9525">
                    <a:moveTo>
                      <a:pt x="15875" y="0"/>
                    </a:moveTo>
                    <a:lnTo>
                      <a:pt x="0" y="0"/>
                    </a:lnTo>
                  </a:path>
                </a:pathLst>
              </a:custGeom>
              <a:noFill/>
              <a:ln w="19050">
                <a:solidFill>
                  <a:srgbClr val="0AB36E"/>
                </a:solidFill>
              </a:ln>
            </p:spPr>
          </p:sp>
          <p:sp>
            <p:nvSpPr>
              <p:cNvPr id="61" name="Freeform 61"/>
              <p:cNvSpPr/>
              <p:nvPr/>
            </p:nvSpPr>
            <p:spPr>
              <a:xfrm>
                <a:off x="873125" y="4551362"/>
                <a:ext cx="9525" cy="15875"/>
              </a:xfrm>
              <a:custGeom>
                <a:avLst/>
                <a:gdLst/>
                <a:ahLst/>
                <a:cxnLst/>
                <a:rect l="l" t="t" r="r" b="b"/>
                <a:pathLst>
                  <a:path w="9525" h="15875">
                    <a:moveTo>
                      <a:pt x="0" y="15875"/>
                    </a:moveTo>
                    <a:lnTo>
                      <a:pt x="0" y="0"/>
                    </a:lnTo>
                  </a:path>
                </a:pathLst>
              </a:custGeom>
              <a:noFill/>
              <a:ln w="19050">
                <a:solidFill>
                  <a:srgbClr val="0AB36E"/>
                </a:solidFill>
              </a:ln>
            </p:spPr>
          </p:sp>
          <p:sp>
            <p:nvSpPr>
              <p:cNvPr id="62" name="Freeform 62"/>
              <p:cNvSpPr/>
              <p:nvPr/>
            </p:nvSpPr>
            <p:spPr>
              <a:xfrm>
                <a:off x="841375" y="4551362"/>
                <a:ext cx="9525" cy="15875"/>
              </a:xfrm>
              <a:custGeom>
                <a:avLst/>
                <a:gdLst/>
                <a:ahLst/>
                <a:cxnLst/>
                <a:rect l="l" t="t" r="r" b="b"/>
                <a:pathLst>
                  <a:path w="9525" h="15875">
                    <a:moveTo>
                      <a:pt x="0" y="15875"/>
                    </a:moveTo>
                    <a:lnTo>
                      <a:pt x="0" y="0"/>
                    </a:lnTo>
                  </a:path>
                </a:pathLst>
              </a:custGeom>
              <a:noFill/>
              <a:ln w="19050">
                <a:solidFill>
                  <a:srgbClr val="0AB36E"/>
                </a:solidFill>
              </a:ln>
            </p:spPr>
          </p:sp>
        </p:grpSp>
        <p:sp>
          <p:nvSpPr>
            <p:cNvPr id="64" name="TextBox 64"/>
            <p:cNvSpPr txBox="1"/>
            <p:nvPr/>
          </p:nvSpPr>
          <p:spPr>
            <a:xfrm>
              <a:off x="1034415" y="4439602"/>
              <a:ext cx="5248323"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Only </a:t>
              </a:r>
              <a:r>
                <a:rPr lang="zh-CN" sz="1050" b="1" dirty="0">
                  <a:solidFill>
                    <a:srgbClr val="0AB36E"/>
                  </a:solidFill>
                  <a:latin typeface="Arial"/>
                  <a:ea typeface="Microsoft YaHei"/>
                  <a:cs typeface="Arial"/>
                </a:rPr>
                <a:t>CALL</a:t>
              </a:r>
              <a:r>
                <a:rPr lang="zh-CN" sz="1050" dirty="0">
                  <a:solidFill>
                    <a:srgbClr val="FFFFFF"/>
                  </a:solidFill>
                  <a:latin typeface="Arial"/>
                  <a:ea typeface="Microsoft YaHei"/>
                  <a:cs typeface="Arial"/>
                </a:rPr>
                <a:t>, </a:t>
              </a:r>
              <a:r>
                <a:rPr lang="zh-CN" sz="1050" b="1" dirty="0">
                  <a:solidFill>
                    <a:srgbClr val="0AB36E"/>
                  </a:solidFill>
                  <a:latin typeface="Arial"/>
                  <a:ea typeface="Microsoft YaHei"/>
                  <a:cs typeface="Arial"/>
                </a:rPr>
                <a:t>RET</a:t>
              </a:r>
              <a:r>
                <a:rPr lang="zh-CN" sz="1050" dirty="0">
                  <a:solidFill>
                    <a:srgbClr val="FFFFFF"/>
                  </a:solidFill>
                  <a:latin typeface="Arial"/>
                  <a:ea typeface="Microsoft YaHei"/>
                  <a:cs typeface="Arial"/>
                </a:rPr>
                <a:t>, and special CET instructions (WRSS, INCSSP) modify it</a:t>
              </a:r>
            </a:p>
          </p:txBody>
        </p:sp>
        <p:grpSp>
          <p:nvGrpSpPr>
            <p:cNvPr id="67" name="Group 67"/>
            <p:cNvGrpSpPr/>
            <p:nvPr/>
          </p:nvGrpSpPr>
          <p:grpSpPr>
            <a:xfrm>
              <a:off x="785812" y="4710114"/>
              <a:ext cx="142873" cy="142873"/>
              <a:chOff x="785812" y="4710114"/>
              <a:chExt cx="142873" cy="142873"/>
            </a:xfrm>
          </p:grpSpPr>
          <p:sp>
            <p:nvSpPr>
              <p:cNvPr id="65" name="Freeform 65"/>
              <p:cNvSpPr/>
              <p:nvPr/>
            </p:nvSpPr>
            <p:spPr>
              <a:xfrm>
                <a:off x="785812" y="4710114"/>
                <a:ext cx="142873" cy="142873"/>
              </a:xfrm>
              <a:custGeom>
                <a:avLst/>
                <a:gdLst/>
                <a:ahLst/>
                <a:cxnLst/>
                <a:rect l="l" t="t" r="r" b="b"/>
                <a:pathLst>
                  <a:path w="142873" h="142873">
                    <a:moveTo>
                      <a:pt x="107593" y="6690"/>
                    </a:moveTo>
                    <a:lnTo>
                      <a:pt x="136184" y="35281"/>
                    </a:lnTo>
                    <a:cubicBezTo>
                      <a:pt x="140467" y="39563"/>
                      <a:pt x="142873" y="45372"/>
                      <a:pt x="142873" y="51430"/>
                    </a:cubicBezTo>
                    <a:cubicBezTo>
                      <a:pt x="142873" y="57487"/>
                      <a:pt x="140467" y="63296"/>
                      <a:pt x="136184" y="67578"/>
                    </a:cubicBezTo>
                    <a:lnTo>
                      <a:pt x="115205" y="88557"/>
                    </a:lnTo>
                    <a:cubicBezTo>
                      <a:pt x="110922" y="92841"/>
                      <a:pt x="105113" y="95247"/>
                      <a:pt x="99056" y="95247"/>
                    </a:cubicBezTo>
                    <a:cubicBezTo>
                      <a:pt x="92999" y="95247"/>
                      <a:pt x="87190" y="92841"/>
                      <a:pt x="82907" y="88557"/>
                    </a:cubicBezTo>
                    <a:lnTo>
                      <a:pt x="80518" y="86168"/>
                    </a:lnTo>
                    <a:lnTo>
                      <a:pt x="28464" y="138222"/>
                    </a:lnTo>
                    <a:cubicBezTo>
                      <a:pt x="25826" y="140859"/>
                      <a:pt x="22345" y="142483"/>
                      <a:pt x="18629" y="142810"/>
                    </a:cubicBezTo>
                    <a:lnTo>
                      <a:pt x="17240" y="142873"/>
                    </a:lnTo>
                    <a:lnTo>
                      <a:pt x="7937" y="142873"/>
                    </a:lnTo>
                    <a:cubicBezTo>
                      <a:pt x="3913" y="142873"/>
                      <a:pt x="526" y="139861"/>
                      <a:pt x="56" y="135865"/>
                    </a:cubicBezTo>
                    <a:lnTo>
                      <a:pt x="0" y="134936"/>
                    </a:lnTo>
                    <a:lnTo>
                      <a:pt x="0" y="125633"/>
                    </a:lnTo>
                    <a:cubicBezTo>
                      <a:pt x="1" y="121906"/>
                      <a:pt x="1313" y="118298"/>
                      <a:pt x="3707" y="115441"/>
                    </a:cubicBezTo>
                    <a:lnTo>
                      <a:pt x="4651" y="114410"/>
                    </a:lnTo>
                    <a:lnTo>
                      <a:pt x="7937" y="111123"/>
                    </a:lnTo>
                    <a:lnTo>
                      <a:pt x="23812" y="111123"/>
                    </a:lnTo>
                    <a:lnTo>
                      <a:pt x="23812" y="95248"/>
                    </a:lnTo>
                    <a:lnTo>
                      <a:pt x="39688" y="95248"/>
                    </a:lnTo>
                    <a:lnTo>
                      <a:pt x="39688" y="79373"/>
                    </a:lnTo>
                    <a:lnTo>
                      <a:pt x="56706" y="62355"/>
                    </a:lnTo>
                    <a:lnTo>
                      <a:pt x="54316" y="59966"/>
                    </a:lnTo>
                    <a:cubicBezTo>
                      <a:pt x="50033" y="55684"/>
                      <a:pt x="47627" y="49875"/>
                      <a:pt x="47627" y="43817"/>
                    </a:cubicBezTo>
                    <a:cubicBezTo>
                      <a:pt x="47627" y="37760"/>
                      <a:pt x="50033" y="31951"/>
                      <a:pt x="54316" y="27669"/>
                    </a:cubicBezTo>
                    <a:lnTo>
                      <a:pt x="75295" y="6690"/>
                    </a:lnTo>
                    <a:cubicBezTo>
                      <a:pt x="79578" y="2406"/>
                      <a:pt x="85387" y="0"/>
                      <a:pt x="91444" y="0"/>
                    </a:cubicBezTo>
                    <a:cubicBezTo>
                      <a:pt x="97501" y="0"/>
                      <a:pt x="103310" y="2406"/>
                      <a:pt x="107593" y="6690"/>
                    </a:cubicBezTo>
                  </a:path>
                </a:pathLst>
              </a:custGeom>
              <a:noFill/>
              <a:ln w="19050">
                <a:solidFill>
                  <a:srgbClr val="0AB36E"/>
                </a:solidFill>
              </a:ln>
            </p:spPr>
          </p:sp>
          <p:sp>
            <p:nvSpPr>
              <p:cNvPr id="66" name="Freeform 66"/>
              <p:cNvSpPr/>
              <p:nvPr/>
            </p:nvSpPr>
            <p:spPr>
              <a:xfrm>
                <a:off x="881062" y="4757738"/>
                <a:ext cx="9525" cy="9525"/>
              </a:xfrm>
              <a:custGeom>
                <a:avLst/>
                <a:gdLst/>
                <a:ahLst/>
                <a:cxnLst/>
                <a:rect l="l" t="t" r="r" b="b"/>
                <a:pathLst>
                  <a:path w="9525" h="9525">
                    <a:moveTo>
                      <a:pt x="0" y="0"/>
                    </a:moveTo>
                    <a:lnTo>
                      <a:pt x="79" y="0"/>
                    </a:lnTo>
                  </a:path>
                </a:pathLst>
              </a:custGeom>
              <a:noFill/>
              <a:ln w="19050">
                <a:solidFill>
                  <a:srgbClr val="0AB36E"/>
                </a:solidFill>
              </a:ln>
            </p:spPr>
          </p:sp>
        </p:grpSp>
        <p:sp>
          <p:nvSpPr>
            <p:cNvPr id="68" name="TextBox 68"/>
            <p:cNvSpPr txBox="1"/>
            <p:nvPr/>
          </p:nvSpPr>
          <p:spPr>
            <a:xfrm>
              <a:off x="1034415" y="4725352"/>
              <a:ext cx="4765262" cy="213360"/>
            </a:xfrm>
            <a:prstGeom prst="rect">
              <a:avLst/>
            </a:prstGeom>
            <a:noFill/>
            <a:ln>
              <a:noFill/>
            </a:ln>
          </p:spPr>
          <p:txBody>
            <a:bodyPr wrap="none" lIns="0" tIns="0" rIns="0" bIns="0" anchor="t" anchorCtr="0">
              <a:spAutoFit/>
            </a:bodyPr>
            <a:lstStyle/>
            <a:p>
              <a:pPr algn="l"/>
              <a:r>
                <a:rPr lang="zh-CN" sz="1050" dirty="0">
                  <a:solidFill>
                    <a:srgbClr val="F79646"/>
                  </a:solidFill>
                  <a:latin typeface="Consolas"/>
                  <a:ea typeface="Microsoft YaHei"/>
                  <a:cs typeface="Consolas"/>
                </a:rPr>
                <a:t>MSR_IA32_PL3_SSP</a:t>
              </a:r>
              <a:r>
                <a:rPr lang="zh-CN" sz="1050" dirty="0">
                  <a:solidFill>
                    <a:srgbClr val="FFFFFF"/>
                  </a:solidFill>
                  <a:latin typeface="Arial"/>
                  <a:ea typeface="Microsoft YaHei"/>
                  <a:cs typeface="Arial"/>
                </a:rPr>
                <a:t> holds the current user Shadow Stack Pointer</a:t>
              </a:r>
            </a:p>
          </p:txBody>
        </p:sp>
        <p:grpSp>
          <p:nvGrpSpPr>
            <p:cNvPr id="72" name="Group 72"/>
            <p:cNvGrpSpPr/>
            <p:nvPr/>
          </p:nvGrpSpPr>
          <p:grpSpPr>
            <a:xfrm>
              <a:off x="785812" y="4995862"/>
              <a:ext cx="142875" cy="142875"/>
              <a:chOff x="785812" y="4995862"/>
              <a:chExt cx="142875" cy="142875"/>
            </a:xfrm>
          </p:grpSpPr>
          <p:sp>
            <p:nvSpPr>
              <p:cNvPr id="69" name="Freeform 69"/>
              <p:cNvSpPr/>
              <p:nvPr/>
            </p:nvSpPr>
            <p:spPr>
              <a:xfrm>
                <a:off x="785812" y="499586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EF4444"/>
                </a:solidFill>
              </a:ln>
            </p:spPr>
          </p:sp>
          <p:sp>
            <p:nvSpPr>
              <p:cNvPr id="70" name="Freeform 70"/>
              <p:cNvSpPr/>
              <p:nvPr/>
            </p:nvSpPr>
            <p:spPr>
              <a:xfrm>
                <a:off x="857250" y="5035550"/>
                <a:ext cx="9525" cy="31750"/>
              </a:xfrm>
              <a:custGeom>
                <a:avLst/>
                <a:gdLst/>
                <a:ahLst/>
                <a:cxnLst/>
                <a:rect l="l" t="t" r="r" b="b"/>
                <a:pathLst>
                  <a:path w="9525" h="31750">
                    <a:moveTo>
                      <a:pt x="0" y="0"/>
                    </a:moveTo>
                    <a:lnTo>
                      <a:pt x="0" y="31750"/>
                    </a:lnTo>
                  </a:path>
                </a:pathLst>
              </a:custGeom>
              <a:noFill/>
              <a:ln w="19050">
                <a:solidFill>
                  <a:srgbClr val="EF4444"/>
                </a:solidFill>
              </a:ln>
            </p:spPr>
          </p:sp>
          <p:sp>
            <p:nvSpPr>
              <p:cNvPr id="71" name="Freeform 71"/>
              <p:cNvSpPr/>
              <p:nvPr/>
            </p:nvSpPr>
            <p:spPr>
              <a:xfrm>
                <a:off x="857250" y="5099050"/>
                <a:ext cx="9525" cy="9525"/>
              </a:xfrm>
              <a:custGeom>
                <a:avLst/>
                <a:gdLst/>
                <a:ahLst/>
                <a:cxnLst/>
                <a:rect l="l" t="t" r="r" b="b"/>
                <a:pathLst>
                  <a:path w="9525" h="9525">
                    <a:moveTo>
                      <a:pt x="0" y="0"/>
                    </a:moveTo>
                    <a:lnTo>
                      <a:pt x="79" y="0"/>
                    </a:lnTo>
                  </a:path>
                </a:pathLst>
              </a:custGeom>
              <a:noFill/>
              <a:ln w="19050">
                <a:solidFill>
                  <a:srgbClr val="EF4444"/>
                </a:solidFill>
              </a:ln>
            </p:spPr>
          </p:sp>
        </p:grpSp>
        <p:sp>
          <p:nvSpPr>
            <p:cNvPr id="73" name="TextBox 73"/>
            <p:cNvSpPr txBox="1"/>
            <p:nvPr/>
          </p:nvSpPr>
          <p:spPr>
            <a:xfrm>
              <a:off x="1034415" y="5011102"/>
              <a:ext cx="4220861" cy="213360"/>
            </a:xfrm>
            <a:prstGeom prst="rect">
              <a:avLst/>
            </a:prstGeom>
            <a:noFill/>
            <a:ln>
              <a:noFill/>
            </a:ln>
          </p:spPr>
          <p:txBody>
            <a:bodyPr wrap="none" lIns="0" tIns="0" rIns="0" bIns="0" anchor="t" anchorCtr="0">
              <a:spAutoFit/>
            </a:bodyPr>
            <a:lstStyle/>
            <a:p>
              <a:pPr algn="l"/>
              <a:r>
                <a:rPr lang="zh-CN" sz="1050" dirty="0">
                  <a:solidFill>
                    <a:srgbClr val="FFFFFF"/>
                  </a:solidFill>
                  <a:latin typeface="Arial"/>
                  <a:ea typeface="Microsoft YaHei"/>
                  <a:cs typeface="Arial"/>
                </a:rPr>
                <a:t>Mismatch on RET triggers #CP with error code </a:t>
              </a:r>
              <a:r>
                <a:rPr lang="zh-CN" sz="1050" dirty="0">
                  <a:solidFill>
                    <a:srgbClr val="0AB36E"/>
                  </a:solidFill>
                  <a:latin typeface="Consolas"/>
                  <a:ea typeface="Microsoft YaHei"/>
                  <a:cs typeface="Consolas"/>
                </a:rPr>
                <a:t>CP_RET = 1</a:t>
              </a:r>
            </a:p>
          </p:txBody>
        </p:sp>
        <p:sp>
          <p:nvSpPr>
            <p:cNvPr id="74" name="Rectangle 74"/>
            <p:cNvSpPr/>
            <p:nvPr/>
          </p:nvSpPr>
          <p:spPr>
            <a:xfrm>
              <a:off x="762000" y="5314950"/>
              <a:ext cx="10668000" cy="9525"/>
            </a:xfrm>
            <a:prstGeom prst="rect">
              <a:avLst/>
            </a:prstGeom>
            <a:solidFill>
              <a:srgbClr val="FFFFFF">
                <a:alpha val="10000"/>
              </a:srgbClr>
            </a:solidFill>
            <a:ln>
              <a:noFill/>
            </a:ln>
          </p:spPr>
        </p:sp>
        <p:sp>
          <p:nvSpPr>
            <p:cNvPr id="75" name="TextBox 75"/>
            <p:cNvSpPr txBox="1"/>
            <p:nvPr/>
          </p:nvSpPr>
          <p:spPr>
            <a:xfrm>
              <a:off x="749618" y="5466874"/>
              <a:ext cx="4296727" cy="198120"/>
            </a:xfrm>
            <a:prstGeom prst="rect">
              <a:avLst/>
            </a:prstGeom>
            <a:noFill/>
            <a:ln>
              <a:noFill/>
            </a:ln>
          </p:spPr>
          <p:txBody>
            <a:bodyPr wrap="none" lIns="0" tIns="0" rIns="0" bIns="0" anchor="t" anchorCtr="0">
              <a:spAutoFit/>
            </a:bodyPr>
            <a:lstStyle/>
            <a:p>
              <a:pPr algn="l"/>
              <a:r>
                <a:rPr lang="zh-CN" sz="975" dirty="0">
                  <a:solidFill>
                    <a:srgbClr val="FFFFFF">
                      <a:alpha val="50000"/>
                    </a:srgbClr>
                  </a:solidFill>
                  <a:latin typeface="Consolas"/>
                  <a:ea typeface="Microsoft YaHei"/>
                  <a:cs typeface="Consolas"/>
                </a:rPr>
                <a:t>MSR_IA32_PL3_SSP = 0x000006A4 MSR_IA32_U_CET = 0x000006A0</a:t>
              </a:r>
            </a:p>
          </p:txBody>
        </p:sp>
      </p:grpSp>
      <p:grpSp>
        <p:nvGrpSpPr>
          <p:cNvPr id="79" name="Group 79"/>
          <p:cNvGrpSpPr/>
          <p:nvPr/>
        </p:nvGrpSpPr>
        <p:grpSpPr>
          <a:xfrm>
            <a:off x="10283883" y="5886450"/>
            <a:ext cx="1441392" cy="947738"/>
            <a:chOff x="10283883" y="5886450"/>
            <a:chExt cx="1441392" cy="947738"/>
          </a:xfrm>
        </p:grpSpPr>
        <p:pic>
          <p:nvPicPr>
            <p:cNvPr id="77" name="Image 77"/>
            <p:cNvPicPr>
              <a:picLocks noChangeAspect="1"/>
            </p:cNvPicPr>
            <p:nvPr/>
          </p:nvPicPr>
          <p:blipFill>
            <a:blip r:embed="rId4"/>
            <a:stretch>
              <a:fillRect/>
            </a:stretch>
          </p:blipFill>
          <p:spPr>
            <a:xfrm>
              <a:off x="10283883" y="5886450"/>
              <a:ext cx="1158759" cy="381000"/>
            </a:xfrm>
            <a:prstGeom prst="rect">
              <a:avLst/>
            </a:prstGeom>
          </p:spPr>
        </p:pic>
        <p:sp>
          <p:nvSpPr>
            <p:cNvPr id="78" name="TextBox 78"/>
            <p:cNvSpPr txBox="1"/>
            <p:nvPr/>
          </p:nvSpPr>
          <p:spPr>
            <a:xfrm>
              <a:off x="11613118" y="6681788"/>
              <a:ext cx="112157"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400"/>
                                        <p:tgtEl>
                                          <p:spTgt spid="25"/>
                                        </p:tgtEl>
                                      </p:cBhvr>
                                    </p:animEffect>
                                  </p:childTnLst>
                                </p:cTn>
                              </p:par>
                            </p:childTnLst>
                          </p:cTn>
                        </p:par>
                        <p:par>
                          <p:cTn id="12" fill="hold">
                            <p:stCondLst>
                              <p:cond delay="1800"/>
                            </p:stCondLst>
                            <p:childTnLst>
                              <p:par>
                                <p:cTn id="13" presetID="5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stretch(across)">
                                      <p:cBhvr>
                                        <p:cTn id="15" dur="400"/>
                                        <p:tgtEl>
                                          <p:spTgt spid="30"/>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childTnLst>
                          </p:cTn>
                        </p:par>
                        <p:par>
                          <p:cTn id="20" fill="hold">
                            <p:stCondLst>
                              <p:cond delay="3600"/>
                            </p:stCondLst>
                            <p:childTnLst>
                              <p:par>
                                <p:cTn id="21" presetID="19" presetClass="entr" presetSubtype="0"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heel(1)">
                                      <p:cBhvr>
                                        <p:cTn id="23" dur="400"/>
                                        <p:tgtEl>
                                          <p:spTgt spid="45"/>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image">
                                      <p:cBhvr>
                                        <p:cTn id="27" dur="4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30" grpId="0"/>
      <p:bldP spid="35" grpId="0"/>
      <p:bldP spid="45" grpId="0"/>
      <p:bldP spid="7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7274662"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Enabling Shadow Stacks — shstk_setup()</a:t>
            </a:r>
          </a:p>
        </p:txBody>
      </p:sp>
      <p:grpSp>
        <p:nvGrpSpPr>
          <p:cNvPr id="26" name="Group 26"/>
          <p:cNvGrpSpPr/>
          <p:nvPr/>
        </p:nvGrpSpPr>
        <p:grpSpPr>
          <a:xfrm>
            <a:off x="476250" y="1285874"/>
            <a:ext cx="6667500" cy="4101941"/>
            <a:chOff x="476250" y="1285874"/>
            <a:chExt cx="6667500" cy="4101941"/>
          </a:xfrm>
        </p:grpSpPr>
        <p:sp>
          <p:nvSpPr>
            <p:cNvPr id="6" name="Rectangle 6"/>
            <p:cNvSpPr/>
            <p:nvPr/>
          </p:nvSpPr>
          <p:spPr>
            <a:xfrm>
              <a:off x="476250" y="1285874"/>
              <a:ext cx="6667500" cy="4101941"/>
            </a:xfrm>
            <a:prstGeom prst="roundRect">
              <a:avLst>
                <a:gd name="adj" fmla="val 2000"/>
              </a:avLst>
            </a:prstGeom>
            <a:solidFill>
              <a:srgbClr val="1E293B"/>
            </a:solidFill>
            <a:ln>
              <a:noFill/>
            </a:ln>
          </p:spPr>
        </p:sp>
        <p:sp>
          <p:nvSpPr>
            <p:cNvPr id="7" name="TextBox 7"/>
            <p:cNvSpPr txBox="1"/>
            <p:nvPr/>
          </p:nvSpPr>
          <p:spPr>
            <a:xfrm>
              <a:off x="608648" y="1415891"/>
              <a:ext cx="2497050" cy="167640"/>
            </a:xfrm>
            <a:prstGeom prst="rect">
              <a:avLst/>
            </a:prstGeom>
            <a:noFill/>
            <a:ln>
              <a:noFill/>
            </a:ln>
          </p:spPr>
          <p:txBody>
            <a:bodyPr wrap="none" lIns="0" tIns="0" rIns="0" bIns="0" anchor="t" anchorCtr="0">
              <a:spAutoFit/>
            </a:bodyPr>
            <a:lstStyle/>
            <a:p>
              <a:pPr algn="l"/>
              <a:r>
                <a:rPr lang="zh-CN" sz="825" dirty="0">
                  <a:solidFill>
                    <a:srgbClr val="6A9955"/>
                  </a:solidFill>
                  <a:latin typeface="Consolas"/>
                  <a:ea typeface="Microsoft YaHei"/>
                  <a:cs typeface="Consolas"/>
                </a:rPr>
                <a:t>// arch/x86/kernel/shstk.c, lines 149-177</a:t>
              </a:r>
            </a:p>
          </p:txBody>
        </p:sp>
        <p:sp>
          <p:nvSpPr>
            <p:cNvPr id="8" name="TextBox 8"/>
            <p:cNvSpPr txBox="1"/>
            <p:nvPr/>
          </p:nvSpPr>
          <p:spPr>
            <a:xfrm>
              <a:off x="605790" y="1677352"/>
              <a:ext cx="2280952"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static</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int</a:t>
              </a:r>
              <a:r>
                <a:rPr lang="zh-CN" sz="1050" dirty="0">
                  <a:solidFill>
                    <a:srgbClr val="E0E0E0"/>
                  </a:solidFill>
                  <a:latin typeface="Consolas"/>
                  <a:ea typeface="Microsoft YaHei"/>
                  <a:cs typeface="Consolas"/>
                </a:rPr>
                <a:t> shstk_setup(</a:t>
              </a:r>
              <a:r>
                <a:rPr lang="zh-CN" sz="1050" dirty="0">
                  <a:solidFill>
                    <a:srgbClr val="0AB36E"/>
                  </a:solidFill>
                  <a:latin typeface="Consolas"/>
                  <a:ea typeface="Microsoft YaHei"/>
                  <a:cs typeface="Consolas"/>
                </a:rPr>
                <a:t>void</a:t>
              </a:r>
              <a:r>
                <a:rPr lang="zh-CN" sz="1050" dirty="0">
                  <a:solidFill>
                    <a:srgbClr val="E0E0E0"/>
                  </a:solidFill>
                  <a:latin typeface="Consolas"/>
                  <a:ea typeface="Microsoft YaHei"/>
                  <a:cs typeface="Consolas"/>
                </a:rPr>
                <a:t>)
</a:t>
              </a:r>
            </a:p>
          </p:txBody>
        </p:sp>
        <p:sp>
          <p:nvSpPr>
            <p:cNvPr id="9" name="TextBox 9"/>
            <p:cNvSpPr txBox="1"/>
            <p:nvPr/>
          </p:nvSpPr>
          <p:spPr>
            <a:xfrm>
              <a:off x="605790" y="18678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0" name="TextBox 10"/>
            <p:cNvSpPr txBox="1"/>
            <p:nvPr/>
          </p:nvSpPr>
          <p:spPr>
            <a:xfrm>
              <a:off x="605790" y="2058352"/>
              <a:ext cx="2541651"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struct</a:t>
              </a:r>
              <a:r>
                <a:rPr lang="zh-CN" sz="1050" dirty="0">
                  <a:solidFill>
                    <a:srgbClr val="E0E0E0"/>
                  </a:solidFill>
                  <a:latin typeface="Consolas"/>
                  <a:ea typeface="Microsoft YaHei"/>
                  <a:cs typeface="Consolas"/>
                </a:rPr>
                <a:t> thread_shstk *shstk =
</a:t>
              </a:r>
            </a:p>
          </p:txBody>
        </p:sp>
        <p:sp>
          <p:nvSpPr>
            <p:cNvPr id="11" name="TextBox 11"/>
            <p:cNvSpPr txBox="1"/>
            <p:nvPr/>
          </p:nvSpPr>
          <p:spPr>
            <a:xfrm>
              <a:off x="605790" y="2248852"/>
              <a:ext cx="233462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&amp;current-&gt;thread.shstk;</a:t>
              </a:r>
            </a:p>
          </p:txBody>
        </p:sp>
        <p:sp>
          <p:nvSpPr>
            <p:cNvPr id="12" name="TextBox 12"/>
            <p:cNvSpPr txBox="1"/>
            <p:nvPr/>
          </p:nvSpPr>
          <p:spPr>
            <a:xfrm>
              <a:off x="605790" y="2439352"/>
              <a:ext cx="217360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unsigned</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long</a:t>
              </a:r>
              <a:r>
                <a:rPr lang="zh-CN" sz="1050" dirty="0">
                  <a:solidFill>
                    <a:srgbClr val="E0E0E0"/>
                  </a:solidFill>
                  <a:latin typeface="Consolas"/>
                  <a:ea typeface="Microsoft YaHei"/>
                  <a:cs typeface="Consolas"/>
                </a:rPr>
                <a:t> addr, size;
</a:t>
              </a:r>
            </a:p>
          </p:txBody>
        </p:sp>
        <p:sp>
          <p:nvSpPr>
            <p:cNvPr id="13" name="TextBox 13"/>
            <p:cNvSpPr txBox="1"/>
            <p:nvPr/>
          </p:nvSpPr>
          <p:spPr>
            <a:xfrm>
              <a:off x="605790" y="2687002"/>
              <a:ext cx="346943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if</a:t>
              </a:r>
              <a:r>
                <a:rPr lang="zh-CN" sz="1050" dirty="0">
                  <a:solidFill>
                    <a:srgbClr val="E0E0E0"/>
                  </a:solidFill>
                  <a:latin typeface="Consolas"/>
                  <a:ea typeface="Microsoft YaHei"/>
                  <a:cs typeface="Consolas"/>
                </a:rPr>
                <a:t> (features_enabled(</a:t>
              </a:r>
              <a:r>
                <a:rPr lang="zh-CN" sz="1050" dirty="0">
                  <a:solidFill>
                    <a:srgbClr val="AF00C0"/>
                  </a:solidFill>
                  <a:latin typeface="Consolas"/>
                  <a:ea typeface="Microsoft YaHei"/>
                  <a:cs typeface="Consolas"/>
                </a:rPr>
                <a:t>ARCH_SHSTK_SHSTK</a:t>
              </a:r>
              <a:r>
                <a:rPr lang="zh-CN" sz="1050" dirty="0">
                  <a:solidFill>
                    <a:srgbClr val="E0E0E0"/>
                  </a:solidFill>
                  <a:latin typeface="Consolas"/>
                  <a:ea typeface="Microsoft YaHei"/>
                  <a:cs typeface="Consolas"/>
                </a:rPr>
                <a:t>))
</a:t>
              </a:r>
            </a:p>
          </p:txBody>
        </p:sp>
        <p:sp>
          <p:nvSpPr>
            <p:cNvPr id="14" name="TextBox 14"/>
            <p:cNvSpPr txBox="1"/>
            <p:nvPr/>
          </p:nvSpPr>
          <p:spPr>
            <a:xfrm>
              <a:off x="605790" y="2877502"/>
              <a:ext cx="2871359"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r>
                <a:rPr lang="zh-CN" sz="1050" dirty="0">
                  <a:solidFill>
                    <a:srgbClr val="6A9955"/>
                  </a:solidFill>
                  <a:latin typeface="Consolas"/>
                  <a:ea typeface="Microsoft YaHei"/>
                  <a:cs typeface="Consolas"/>
                </a:rPr>
                <a:t>/* already enabled */</a:t>
              </a:r>
              <a:r>
                <a:rPr lang="zh-CN" sz="1050" dirty="0">
                  <a:solidFill>
                    <a:srgbClr val="E0E0E0"/>
                  </a:solidFill>
                  <a:latin typeface="Consolas"/>
                  <a:ea typeface="Microsoft YaHei"/>
                  <a:cs typeface="Consolas"/>
                </a:rPr>
                <a:t>
</a:t>
              </a:r>
            </a:p>
          </p:txBody>
        </p:sp>
        <p:sp>
          <p:nvSpPr>
            <p:cNvPr id="15" name="TextBox 15"/>
            <p:cNvSpPr txBox="1"/>
            <p:nvPr/>
          </p:nvSpPr>
          <p:spPr>
            <a:xfrm>
              <a:off x="605790" y="3125152"/>
              <a:ext cx="246497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size = adjust_shstk_size(</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16" name="TextBox 16"/>
            <p:cNvSpPr txBox="1"/>
            <p:nvPr/>
          </p:nvSpPr>
          <p:spPr>
            <a:xfrm>
              <a:off x="605790" y="3315652"/>
              <a:ext cx="3155061"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addr = alloc_shstk(</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size,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false</a:t>
              </a:r>
              <a:r>
                <a:rPr lang="zh-CN" sz="1050" dirty="0">
                  <a:solidFill>
                    <a:srgbClr val="E0E0E0"/>
                  </a:solidFill>
                  <a:latin typeface="Consolas"/>
                  <a:ea typeface="Microsoft YaHei"/>
                  <a:cs typeface="Consolas"/>
                </a:rPr>
                <a:t>);
</a:t>
              </a:r>
            </a:p>
          </p:txBody>
        </p:sp>
        <p:sp>
          <p:nvSpPr>
            <p:cNvPr id="17" name="TextBox 17"/>
            <p:cNvSpPr txBox="1"/>
            <p:nvPr/>
          </p:nvSpPr>
          <p:spPr>
            <a:xfrm>
              <a:off x="605790" y="3563302"/>
              <a:ext cx="207392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fpregs_lock_and_load();</a:t>
              </a:r>
            </a:p>
          </p:txBody>
        </p:sp>
        <p:sp>
          <p:nvSpPr>
            <p:cNvPr id="18" name="TextBox 18"/>
            <p:cNvSpPr txBox="1"/>
            <p:nvPr/>
          </p:nvSpPr>
          <p:spPr>
            <a:xfrm>
              <a:off x="605790" y="3753802"/>
              <a:ext cx="340042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wrmsrq(</a:t>
              </a:r>
              <a:r>
                <a:rPr lang="zh-CN" sz="1050" dirty="0">
                  <a:solidFill>
                    <a:srgbClr val="AF00C0"/>
                  </a:solidFill>
                  <a:latin typeface="Consolas"/>
                  <a:ea typeface="Microsoft YaHei"/>
                  <a:cs typeface="Consolas"/>
                </a:rPr>
                <a:t>MSR_IA32_PL3_SSP</a:t>
              </a:r>
              <a:r>
                <a:rPr lang="zh-CN" sz="1050" dirty="0">
                  <a:solidFill>
                    <a:srgbClr val="E0E0E0"/>
                  </a:solidFill>
                  <a:latin typeface="Consolas"/>
                  <a:ea typeface="Microsoft YaHei"/>
                  <a:cs typeface="Consolas"/>
                </a:rPr>
                <a:t>, addr + size);
</a:t>
              </a:r>
            </a:p>
          </p:txBody>
        </p:sp>
        <p:sp>
          <p:nvSpPr>
            <p:cNvPr id="19" name="TextBox 19"/>
            <p:cNvSpPr txBox="1"/>
            <p:nvPr/>
          </p:nvSpPr>
          <p:spPr>
            <a:xfrm>
              <a:off x="605790" y="3944302"/>
              <a:ext cx="343109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wrmsrq(</a:t>
              </a:r>
              <a:r>
                <a:rPr lang="zh-CN" sz="1050" dirty="0">
                  <a:solidFill>
                    <a:srgbClr val="AF00C0"/>
                  </a:solidFill>
                  <a:latin typeface="Consolas"/>
                  <a:ea typeface="Microsoft YaHei"/>
                  <a:cs typeface="Consolas"/>
                </a:rPr>
                <a:t>MSR_IA32_U_CET</a:t>
              </a:r>
              <a:r>
                <a:rPr lang="zh-CN" sz="1050" dirty="0">
                  <a:solidFill>
                    <a:srgbClr val="E0E0E0"/>
                  </a:solidFill>
                  <a:latin typeface="Consolas"/>
                  <a:ea typeface="Microsoft YaHei"/>
                  <a:cs typeface="Consolas"/>
                </a:rPr>
                <a:t>, </a:t>
              </a:r>
              <a:r>
                <a:rPr lang="zh-CN" sz="1050" dirty="0">
                  <a:solidFill>
                    <a:srgbClr val="AF00C0"/>
                  </a:solidFill>
                  <a:latin typeface="Consolas"/>
                  <a:ea typeface="Microsoft YaHei"/>
                  <a:cs typeface="Consolas"/>
                </a:rPr>
                <a:t>CET_SHSTK_EN</a:t>
              </a:r>
              <a:r>
                <a:rPr lang="zh-CN" sz="1050" dirty="0">
                  <a:solidFill>
                    <a:srgbClr val="E0E0E0"/>
                  </a:solidFill>
                  <a:latin typeface="Consolas"/>
                  <a:ea typeface="Microsoft YaHei"/>
                  <a:cs typeface="Consolas"/>
                </a:rPr>
                <a:t>);
</a:t>
              </a:r>
            </a:p>
          </p:txBody>
        </p:sp>
        <p:sp>
          <p:nvSpPr>
            <p:cNvPr id="20" name="TextBox 20"/>
            <p:cNvSpPr txBox="1"/>
            <p:nvPr/>
          </p:nvSpPr>
          <p:spPr>
            <a:xfrm>
              <a:off x="605790" y="4134802"/>
              <a:ext cx="152185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fpregs_unlock();</a:t>
              </a:r>
            </a:p>
          </p:txBody>
        </p:sp>
        <p:sp>
          <p:nvSpPr>
            <p:cNvPr id="21" name="TextBox 21"/>
            <p:cNvSpPr txBox="1"/>
            <p:nvPr/>
          </p:nvSpPr>
          <p:spPr>
            <a:xfrm>
              <a:off x="605790" y="4382452"/>
              <a:ext cx="1736550"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shstk-&gt;base = addr;</a:t>
              </a:r>
            </a:p>
          </p:txBody>
        </p:sp>
        <p:sp>
          <p:nvSpPr>
            <p:cNvPr id="22" name="TextBox 22"/>
            <p:cNvSpPr txBox="1"/>
            <p:nvPr/>
          </p:nvSpPr>
          <p:spPr>
            <a:xfrm>
              <a:off x="605790" y="4572952"/>
              <a:ext cx="165987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shstk-&gt;size = size;</a:t>
              </a:r>
            </a:p>
          </p:txBody>
        </p:sp>
        <p:sp>
          <p:nvSpPr>
            <p:cNvPr id="23" name="TextBox 23"/>
            <p:cNvSpPr txBox="1"/>
            <p:nvPr/>
          </p:nvSpPr>
          <p:spPr>
            <a:xfrm>
              <a:off x="605790" y="4763452"/>
              <a:ext cx="290969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features_set(</a:t>
              </a:r>
              <a:r>
                <a:rPr lang="zh-CN" sz="1050" dirty="0">
                  <a:solidFill>
                    <a:srgbClr val="AF00C0"/>
                  </a:solidFill>
                  <a:latin typeface="Consolas"/>
                  <a:ea typeface="Microsoft YaHei"/>
                  <a:cs typeface="Consolas"/>
                </a:rPr>
                <a:t>ARCH_SHSTK_SHSTK</a:t>
              </a:r>
              <a:r>
                <a:rPr lang="zh-CN" sz="1050" dirty="0">
                  <a:solidFill>
                    <a:srgbClr val="E0E0E0"/>
                  </a:solidFill>
                  <a:latin typeface="Consolas"/>
                  <a:ea typeface="Microsoft YaHei"/>
                  <a:cs typeface="Consolas"/>
                </a:rPr>
                <a:t>);
</a:t>
              </a:r>
            </a:p>
          </p:txBody>
        </p:sp>
        <p:sp>
          <p:nvSpPr>
            <p:cNvPr id="24" name="TextBox 24"/>
            <p:cNvSpPr txBox="1"/>
            <p:nvPr/>
          </p:nvSpPr>
          <p:spPr>
            <a:xfrm>
              <a:off x="605790" y="4953952"/>
              <a:ext cx="101579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25" name="TextBox 25"/>
            <p:cNvSpPr txBox="1"/>
            <p:nvPr/>
          </p:nvSpPr>
          <p:spPr>
            <a:xfrm>
              <a:off x="605790" y="51444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grpSp>
      <p:grpSp>
        <p:nvGrpSpPr>
          <p:cNvPr id="30" name="Group 30"/>
          <p:cNvGrpSpPr/>
          <p:nvPr/>
        </p:nvGrpSpPr>
        <p:grpSpPr>
          <a:xfrm>
            <a:off x="7429500" y="1285875"/>
            <a:ext cx="4286250" cy="619125"/>
            <a:chOff x="7429500" y="1285875"/>
            <a:chExt cx="4286250" cy="619125"/>
          </a:xfrm>
        </p:grpSpPr>
        <p:sp>
          <p:nvSpPr>
            <p:cNvPr id="27" name="Rectangle 27"/>
            <p:cNvSpPr/>
            <p:nvPr/>
          </p:nvSpPr>
          <p:spPr>
            <a:xfrm>
              <a:off x="7429500" y="1285875"/>
              <a:ext cx="4286250" cy="619125"/>
            </a:xfrm>
            <a:prstGeom prst="roundRect">
              <a:avLst>
                <a:gd name="adj" fmla="val 12308"/>
              </a:avLst>
            </a:prstGeom>
            <a:solidFill>
              <a:srgbClr val="F0FFF4"/>
            </a:solidFill>
            <a:ln w="14288">
              <a:solidFill>
                <a:srgbClr val="0AB36E"/>
              </a:solidFill>
            </a:ln>
          </p:spPr>
        </p:sp>
        <p:sp>
          <p:nvSpPr>
            <p:cNvPr id="28" name="TextBox 28"/>
            <p:cNvSpPr txBox="1"/>
            <p:nvPr/>
          </p:nvSpPr>
          <p:spPr>
            <a:xfrm>
              <a:off x="7605712" y="1402556"/>
              <a:ext cx="1236226"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Size allocation</a:t>
              </a:r>
            </a:p>
          </p:txBody>
        </p:sp>
        <p:sp>
          <p:nvSpPr>
            <p:cNvPr id="29" name="TextBox 29"/>
            <p:cNvSpPr txBox="1"/>
            <p:nvPr/>
          </p:nvSpPr>
          <p:spPr>
            <a:xfrm>
              <a:off x="7607618" y="1637824"/>
              <a:ext cx="2652022"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min(RLIMIT_STACK, 4GB), page-aligned</a:t>
              </a:r>
            </a:p>
          </p:txBody>
        </p:sp>
      </p:grpSp>
      <p:grpSp>
        <p:nvGrpSpPr>
          <p:cNvPr id="34" name="Group 34"/>
          <p:cNvGrpSpPr/>
          <p:nvPr/>
        </p:nvGrpSpPr>
        <p:grpSpPr>
          <a:xfrm>
            <a:off x="7429500" y="2028825"/>
            <a:ext cx="4286250" cy="619125"/>
            <a:chOff x="7429500" y="2028825"/>
            <a:chExt cx="4286250" cy="619125"/>
          </a:xfrm>
        </p:grpSpPr>
        <p:sp>
          <p:nvSpPr>
            <p:cNvPr id="31" name="Rectangle 31"/>
            <p:cNvSpPr/>
            <p:nvPr/>
          </p:nvSpPr>
          <p:spPr>
            <a:xfrm>
              <a:off x="7429500" y="2028825"/>
              <a:ext cx="4286250" cy="619125"/>
            </a:xfrm>
            <a:prstGeom prst="roundRect">
              <a:avLst>
                <a:gd name="adj" fmla="val 12308"/>
              </a:avLst>
            </a:prstGeom>
            <a:solidFill>
              <a:srgbClr val="F5F0FF"/>
            </a:solidFill>
            <a:ln w="14288">
              <a:solidFill>
                <a:srgbClr val="AF00C0"/>
              </a:solidFill>
            </a:ln>
          </p:spPr>
        </p:sp>
        <p:sp>
          <p:nvSpPr>
            <p:cNvPr id="32" name="TextBox 32"/>
            <p:cNvSpPr txBox="1"/>
            <p:nvPr/>
          </p:nvSpPr>
          <p:spPr>
            <a:xfrm>
              <a:off x="7605712" y="2145506"/>
              <a:ext cx="1141339" cy="228600"/>
            </a:xfrm>
            <a:prstGeom prst="rect">
              <a:avLst/>
            </a:prstGeom>
            <a:noFill/>
            <a:ln>
              <a:noFill/>
            </a:ln>
          </p:spPr>
          <p:txBody>
            <a:bodyPr wrap="none" lIns="0" tIns="0" rIns="0" bIns="0" anchor="t" anchorCtr="0">
              <a:spAutoFit/>
            </a:bodyPr>
            <a:lstStyle/>
            <a:p>
              <a:pPr algn="l"/>
              <a:r>
                <a:rPr lang="zh-CN" sz="1125" b="1" dirty="0">
                  <a:solidFill>
                    <a:srgbClr val="AF00C0"/>
                  </a:solidFill>
                  <a:latin typeface="Arial"/>
                  <a:ea typeface="Microsoft YaHei"/>
                  <a:cs typeface="Arial"/>
                </a:rPr>
                <a:t>MAP_ABOVE4G</a:t>
              </a:r>
            </a:p>
          </p:txBody>
        </p:sp>
        <p:sp>
          <p:nvSpPr>
            <p:cNvPr id="33" name="TextBox 33"/>
            <p:cNvSpPr txBox="1"/>
            <p:nvPr/>
          </p:nvSpPr>
          <p:spPr>
            <a:xfrm>
              <a:off x="7607618" y="2380774"/>
              <a:ext cx="2872740"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Prevents 32-bit address aliasing attacks</a:t>
              </a:r>
            </a:p>
          </p:txBody>
        </p:sp>
      </p:grpSp>
      <p:grpSp>
        <p:nvGrpSpPr>
          <p:cNvPr id="38" name="Group 38"/>
          <p:cNvGrpSpPr/>
          <p:nvPr/>
        </p:nvGrpSpPr>
        <p:grpSpPr>
          <a:xfrm>
            <a:off x="7429500" y="2771775"/>
            <a:ext cx="4286250" cy="619125"/>
            <a:chOff x="7429500" y="2771775"/>
            <a:chExt cx="4286250" cy="619125"/>
          </a:xfrm>
        </p:grpSpPr>
        <p:sp>
          <p:nvSpPr>
            <p:cNvPr id="35" name="Rectangle 35"/>
            <p:cNvSpPr/>
            <p:nvPr/>
          </p:nvSpPr>
          <p:spPr>
            <a:xfrm>
              <a:off x="7429500" y="2771775"/>
              <a:ext cx="4286250" cy="619125"/>
            </a:xfrm>
            <a:prstGeom prst="roundRect">
              <a:avLst>
                <a:gd name="adj" fmla="val 12308"/>
              </a:avLst>
            </a:prstGeom>
            <a:solidFill>
              <a:srgbClr val="F0FFF4"/>
            </a:solidFill>
            <a:ln w="14288">
              <a:solidFill>
                <a:srgbClr val="0AB36E"/>
              </a:solidFill>
            </a:ln>
          </p:spPr>
        </p:sp>
        <p:sp>
          <p:nvSpPr>
            <p:cNvPr id="36" name="TextBox 36"/>
            <p:cNvSpPr txBox="1"/>
            <p:nvPr/>
          </p:nvSpPr>
          <p:spPr>
            <a:xfrm>
              <a:off x="7605712" y="2888456"/>
              <a:ext cx="891183"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SSP at top</a:t>
              </a:r>
            </a:p>
          </p:txBody>
        </p:sp>
        <p:sp>
          <p:nvSpPr>
            <p:cNvPr id="37" name="TextBox 37"/>
            <p:cNvSpPr txBox="1"/>
            <p:nvPr/>
          </p:nvSpPr>
          <p:spPr>
            <a:xfrm>
              <a:off x="7607618" y="3123724"/>
              <a:ext cx="2559463"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addr + size (stacks grow downward)</a:t>
              </a:r>
            </a:p>
          </p:txBody>
        </p:sp>
      </p:grpSp>
      <p:grpSp>
        <p:nvGrpSpPr>
          <p:cNvPr id="43" name="Group 43"/>
          <p:cNvGrpSpPr/>
          <p:nvPr/>
        </p:nvGrpSpPr>
        <p:grpSpPr>
          <a:xfrm>
            <a:off x="7429500" y="3514725"/>
            <a:ext cx="4286250" cy="762000"/>
            <a:chOff x="7429500" y="3514725"/>
            <a:chExt cx="4286250" cy="762000"/>
          </a:xfrm>
        </p:grpSpPr>
        <p:sp>
          <p:nvSpPr>
            <p:cNvPr id="39" name="Rectangle 39"/>
            <p:cNvSpPr/>
            <p:nvPr/>
          </p:nvSpPr>
          <p:spPr>
            <a:xfrm>
              <a:off x="7429500" y="3514725"/>
              <a:ext cx="4286250" cy="762000"/>
            </a:xfrm>
            <a:prstGeom prst="roundRect">
              <a:avLst>
                <a:gd name="adj" fmla="val 10000"/>
              </a:avLst>
            </a:prstGeom>
            <a:solidFill>
              <a:srgbClr val="FFF5F5"/>
            </a:solidFill>
            <a:ln w="14288">
              <a:solidFill>
                <a:srgbClr val="EF4444"/>
              </a:solidFill>
            </a:ln>
          </p:spPr>
        </p:sp>
        <p:sp>
          <p:nvSpPr>
            <p:cNvPr id="40" name="TextBox 40"/>
            <p:cNvSpPr txBox="1"/>
            <p:nvPr/>
          </p:nvSpPr>
          <p:spPr>
            <a:xfrm>
              <a:off x="7605712" y="3631406"/>
              <a:ext cx="1891808" cy="228600"/>
            </a:xfrm>
            <a:prstGeom prst="rect">
              <a:avLst/>
            </a:prstGeom>
            <a:noFill/>
            <a:ln>
              <a:noFill/>
            </a:ln>
          </p:spPr>
          <p:txBody>
            <a:bodyPr wrap="none" lIns="0" tIns="0" rIns="0" bIns="0" anchor="t" anchorCtr="0">
              <a:spAutoFit/>
            </a:bodyPr>
            <a:lstStyle/>
            <a:p>
              <a:pPr algn="l"/>
              <a:r>
                <a:rPr lang="zh-CN" sz="1125" b="1" dirty="0">
                  <a:solidFill>
                    <a:srgbClr val="EF4444"/>
                  </a:solidFill>
                  <a:latin typeface="Arial"/>
                  <a:ea typeface="Microsoft YaHei"/>
                  <a:cs typeface="Arial"/>
                </a:rPr>
                <a:t>Guard page protection</a:t>
              </a:r>
            </a:p>
          </p:txBody>
        </p:sp>
        <p:sp>
          <p:nvSpPr>
            <p:cNvPr id="41" name="TextBox 41"/>
            <p:cNvSpPr txBox="1"/>
            <p:nvPr/>
          </p:nvSpPr>
          <p:spPr>
            <a:xfrm>
              <a:off x="7607618" y="3866674"/>
              <a:ext cx="2110907"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INCSSP max reach = </a:t>
              </a:r>
              <a:r>
                <a:rPr lang="zh-CN" sz="975" b="1" dirty="0">
                  <a:solidFill>
                    <a:srgbClr val="0AB36E"/>
                  </a:solidFill>
                  <a:latin typeface="Arial"/>
                  <a:ea typeface="Microsoft YaHei"/>
                  <a:cs typeface="Arial"/>
                </a:rPr>
                <a:t>2040 bytes</a:t>
              </a:r>
            </a:p>
          </p:txBody>
        </p:sp>
        <p:sp>
          <p:nvSpPr>
            <p:cNvPr id="42" name="TextBox 42"/>
            <p:cNvSpPr txBox="1"/>
            <p:nvPr/>
          </p:nvSpPr>
          <p:spPr>
            <a:xfrm>
              <a:off x="7607618" y="4057174"/>
              <a:ext cx="2545223"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Guard page = 4096 bytes &gt; max reach</a:t>
              </a:r>
            </a:p>
          </p:txBody>
        </p:sp>
      </p:grpSp>
      <p:grpSp>
        <p:nvGrpSpPr>
          <p:cNvPr id="51" name="Group 51"/>
          <p:cNvGrpSpPr/>
          <p:nvPr/>
        </p:nvGrpSpPr>
        <p:grpSpPr>
          <a:xfrm>
            <a:off x="7429500" y="4429125"/>
            <a:ext cx="4286250" cy="1333500"/>
            <a:chOff x="7429500" y="4429125"/>
            <a:chExt cx="4286250" cy="1333500"/>
          </a:xfrm>
        </p:grpSpPr>
        <p:sp>
          <p:nvSpPr>
            <p:cNvPr id="44" name="Rectangle 44"/>
            <p:cNvSpPr/>
            <p:nvPr/>
          </p:nvSpPr>
          <p:spPr>
            <a:xfrm>
              <a:off x="7429500" y="4429125"/>
              <a:ext cx="4286250" cy="1333500"/>
            </a:xfrm>
            <a:prstGeom prst="roundRect">
              <a:avLst>
                <a:gd name="adj" fmla="val 5714"/>
              </a:avLst>
            </a:prstGeom>
            <a:solidFill>
              <a:srgbClr val="1E293B"/>
            </a:solidFill>
            <a:ln>
              <a:noFill/>
            </a:ln>
          </p:spPr>
        </p:sp>
        <p:sp>
          <p:nvSpPr>
            <p:cNvPr id="45" name="TextBox 45"/>
            <p:cNvSpPr txBox="1"/>
            <p:nvPr/>
          </p:nvSpPr>
          <p:spPr>
            <a:xfrm>
              <a:off x="8971567" y="4553902"/>
              <a:ext cx="1202117" cy="213360"/>
            </a:xfrm>
            <a:prstGeom prst="rect">
              <a:avLst/>
            </a:prstGeom>
            <a:noFill/>
            <a:ln>
              <a:noFill/>
            </a:ln>
          </p:spPr>
          <p:txBody>
            <a:bodyPr wrap="none" lIns="0" tIns="0" rIns="0" bIns="0" anchor="t" anchorCtr="0">
              <a:spAutoFit/>
            </a:bodyPr>
            <a:lstStyle/>
            <a:p>
              <a:pPr algn="ctr"/>
              <a:r>
                <a:rPr lang="zh-CN" sz="1050" b="1" dirty="0">
                  <a:solidFill>
                    <a:srgbClr val="0AB36E"/>
                  </a:solidFill>
                  <a:latin typeface="Arial"/>
                  <a:ea typeface="Microsoft YaHei"/>
                  <a:cs typeface="Arial"/>
                </a:rPr>
                <a:t>Memory Layout</a:t>
              </a:r>
            </a:p>
          </p:txBody>
        </p:sp>
        <p:sp>
          <p:nvSpPr>
            <p:cNvPr id="46" name="Rectangle 46"/>
            <p:cNvSpPr/>
            <p:nvPr/>
          </p:nvSpPr>
          <p:spPr>
            <a:xfrm>
              <a:off x="7905750" y="4810125"/>
              <a:ext cx="3333750" cy="238125"/>
            </a:xfrm>
            <a:prstGeom prst="roundRect">
              <a:avLst>
                <a:gd name="adj" fmla="val 12000"/>
              </a:avLst>
            </a:prstGeom>
            <a:solidFill>
              <a:srgbClr val="EF4444">
                <a:alpha val="20000"/>
              </a:srgbClr>
            </a:solidFill>
            <a:ln w="9525">
              <a:solidFill>
                <a:srgbClr val="EF4444"/>
              </a:solidFill>
            </a:ln>
          </p:spPr>
        </p:sp>
        <p:sp>
          <p:nvSpPr>
            <p:cNvPr id="47" name="TextBox 47"/>
            <p:cNvSpPr txBox="1"/>
            <p:nvPr/>
          </p:nvSpPr>
          <p:spPr>
            <a:xfrm>
              <a:off x="8943404" y="4884420"/>
              <a:ext cx="1258443" cy="182880"/>
            </a:xfrm>
            <a:prstGeom prst="rect">
              <a:avLst/>
            </a:prstGeom>
            <a:noFill/>
            <a:ln>
              <a:noFill/>
            </a:ln>
          </p:spPr>
          <p:txBody>
            <a:bodyPr wrap="none" lIns="0" tIns="0" rIns="0" bIns="0" anchor="t" anchorCtr="0">
              <a:spAutoFit/>
            </a:bodyPr>
            <a:lstStyle/>
            <a:p>
              <a:pPr algn="ctr"/>
              <a:r>
                <a:rPr lang="zh-CN" sz="900" dirty="0">
                  <a:solidFill>
                    <a:srgbClr val="EF4444"/>
                  </a:solidFill>
                  <a:latin typeface="Consolas"/>
                  <a:ea typeface="Microsoft YaHei"/>
                  <a:cs typeface="Consolas"/>
                </a:rPr>
                <a:t>guard page (4096B)</a:t>
              </a:r>
            </a:p>
          </p:txBody>
        </p:sp>
        <p:sp>
          <p:nvSpPr>
            <p:cNvPr id="48" name="Rectangle 48"/>
            <p:cNvSpPr/>
            <p:nvPr/>
          </p:nvSpPr>
          <p:spPr>
            <a:xfrm>
              <a:off x="7905750" y="5095875"/>
              <a:ext cx="3333750" cy="476250"/>
            </a:xfrm>
            <a:prstGeom prst="roundRect">
              <a:avLst>
                <a:gd name="adj" fmla="val 6000"/>
              </a:avLst>
            </a:prstGeom>
            <a:solidFill>
              <a:srgbClr val="AF00C0">
                <a:alpha val="15000"/>
              </a:srgbClr>
            </a:solidFill>
            <a:ln w="9525">
              <a:solidFill>
                <a:srgbClr val="AF00C0"/>
              </a:solidFill>
            </a:ln>
          </p:spPr>
        </p:sp>
        <p:sp>
          <p:nvSpPr>
            <p:cNvPr id="49" name="TextBox 49"/>
            <p:cNvSpPr txBox="1"/>
            <p:nvPr/>
          </p:nvSpPr>
          <p:spPr>
            <a:xfrm>
              <a:off x="8667369" y="5217795"/>
              <a:ext cx="1810512" cy="182880"/>
            </a:xfrm>
            <a:prstGeom prst="rect">
              <a:avLst/>
            </a:prstGeom>
            <a:noFill/>
            <a:ln>
              <a:noFill/>
            </a:ln>
          </p:spPr>
          <p:txBody>
            <a:bodyPr wrap="none" lIns="0" tIns="0" rIns="0" bIns="0" anchor="t" anchorCtr="0">
              <a:spAutoFit/>
            </a:bodyPr>
            <a:lstStyle/>
            <a:p>
              <a:pPr algn="ctr"/>
              <a:r>
                <a:rPr lang="zh-CN" sz="900" dirty="0">
                  <a:solidFill>
                    <a:srgbClr val="AF00C0"/>
                  </a:solidFill>
                  <a:latin typeface="Consolas"/>
                  <a:ea typeface="Microsoft YaHei"/>
                  <a:cs typeface="Consolas"/>
                </a:rPr>
                <a:t>shadow stack (grows down)</a:t>
              </a:r>
            </a:p>
          </p:txBody>
        </p:sp>
        <p:sp>
          <p:nvSpPr>
            <p:cNvPr id="50" name="TextBox 50"/>
            <p:cNvSpPr txBox="1"/>
            <p:nvPr/>
          </p:nvSpPr>
          <p:spPr>
            <a:xfrm>
              <a:off x="8911495" y="5387816"/>
              <a:ext cx="1322260" cy="167640"/>
            </a:xfrm>
            <a:prstGeom prst="rect">
              <a:avLst/>
            </a:prstGeom>
            <a:noFill/>
            <a:ln>
              <a:noFill/>
            </a:ln>
          </p:spPr>
          <p:txBody>
            <a:bodyPr wrap="none" lIns="0" tIns="0" rIns="0" bIns="0" anchor="t" anchorCtr="0">
              <a:spAutoFit/>
            </a:bodyPr>
            <a:lstStyle/>
            <a:p>
              <a:pPr algn="ctr"/>
              <a:r>
                <a:rPr lang="zh-CN" sz="825" dirty="0">
                  <a:solidFill>
                    <a:srgbClr val="FFFFFF">
                      <a:alpha val="50000"/>
                    </a:srgbClr>
                  </a:solidFill>
                  <a:latin typeface="Consolas"/>
                  <a:ea typeface="Microsoft YaHei"/>
                  <a:cs typeface="Consolas"/>
                </a:rPr>
                <a:t>SSP starts here (top)</a:t>
              </a:r>
            </a:p>
          </p:txBody>
        </p:sp>
      </p:grpSp>
      <p:grpSp>
        <p:nvGrpSpPr>
          <p:cNvPr id="54" name="Group 54"/>
          <p:cNvGrpSpPr/>
          <p:nvPr/>
        </p:nvGrpSpPr>
        <p:grpSpPr>
          <a:xfrm>
            <a:off x="10283883" y="5886450"/>
            <a:ext cx="1441391" cy="947738"/>
            <a:chOff x="10283883" y="5886450"/>
            <a:chExt cx="1441391" cy="947738"/>
          </a:xfrm>
        </p:grpSpPr>
        <p:pic>
          <p:nvPicPr>
            <p:cNvPr id="52" name="Image 52"/>
            <p:cNvPicPr>
              <a:picLocks noChangeAspect="1"/>
            </p:cNvPicPr>
            <p:nvPr/>
          </p:nvPicPr>
          <p:blipFill>
            <a:blip r:embed="rId4"/>
            <a:stretch>
              <a:fillRect/>
            </a:stretch>
          </p:blipFill>
          <p:spPr>
            <a:xfrm>
              <a:off x="10283883" y="5886450"/>
              <a:ext cx="1158759" cy="381000"/>
            </a:xfrm>
            <a:prstGeom prst="rect">
              <a:avLst/>
            </a:prstGeom>
          </p:spPr>
        </p:pic>
        <p:sp>
          <p:nvSpPr>
            <p:cNvPr id="53" name="TextBox 53"/>
            <p:cNvSpPr txBox="1"/>
            <p:nvPr/>
          </p:nvSpPr>
          <p:spPr>
            <a:xfrm>
              <a:off x="11640502" y="6681788"/>
              <a:ext cx="84772"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11</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blinds(horizontal)">
                                      <p:cBhvr>
                                        <p:cTn id="11" dur="400"/>
                                        <p:tgtEl>
                                          <p:spTgt spid="30"/>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checkerboard(across)">
                                      <p:cBhvr>
                                        <p:cTn id="15" dur="400"/>
                                        <p:tgtEl>
                                          <p:spTgt spid="34"/>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dissolve">
                                      <p:cBhvr>
                                        <p:cTn id="19" dur="400"/>
                                        <p:tgtEl>
                                          <p:spTgt spid="38"/>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slide(fromBottom)">
                                      <p:cBhvr>
                                        <p:cTn id="23" dur="400"/>
                                        <p:tgtEl>
                                          <p:spTgt spid="43"/>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slide(fromLeft)">
                                      <p:cBhvr>
                                        <p:cTn id="27"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0"/>
      <p:bldP spid="34" grpId="0"/>
      <p:bldP spid="38" grpId="0"/>
      <p:bldP spid="43" grpId="0"/>
      <p:bldP spid="5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4735144"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Signals vs. Shadow Stacks</a:t>
            </a:r>
          </a:p>
        </p:txBody>
      </p:sp>
      <p:grpSp>
        <p:nvGrpSpPr>
          <p:cNvPr id="14" name="Group 14"/>
          <p:cNvGrpSpPr/>
          <p:nvPr/>
        </p:nvGrpSpPr>
        <p:grpSpPr>
          <a:xfrm>
            <a:off x="476250" y="1285875"/>
            <a:ext cx="11239500" cy="1381125"/>
            <a:chOff x="476250" y="1285875"/>
            <a:chExt cx="11239500" cy="1381125"/>
          </a:xfrm>
        </p:grpSpPr>
        <p:sp>
          <p:nvSpPr>
            <p:cNvPr id="6" name="Rectangle 6"/>
            <p:cNvSpPr/>
            <p:nvPr/>
          </p:nvSpPr>
          <p:spPr>
            <a:xfrm>
              <a:off x="476250" y="1285875"/>
              <a:ext cx="11239500" cy="1381125"/>
            </a:xfrm>
            <a:prstGeom prst="roundRect">
              <a:avLst>
                <a:gd name="adj" fmla="val 6897"/>
              </a:avLst>
            </a:prstGeom>
            <a:solidFill>
              <a:srgbClr val="FFF5F5"/>
            </a:solidFill>
            <a:ln w="14288">
              <a:solidFill>
                <a:srgbClr val="EF4444"/>
              </a:solidFill>
            </a:ln>
          </p:spPr>
        </p:sp>
        <p:sp>
          <p:nvSpPr>
            <p:cNvPr id="7" name="Rectangle 7"/>
            <p:cNvSpPr/>
            <p:nvPr/>
          </p:nvSpPr>
          <p:spPr>
            <a:xfrm>
              <a:off x="476250" y="1285875"/>
              <a:ext cx="11239500" cy="342900"/>
            </a:xfrm>
            <a:prstGeom prst="roundRect">
              <a:avLst>
                <a:gd name="adj" fmla="val 27778"/>
              </a:avLst>
            </a:prstGeom>
            <a:solidFill>
              <a:srgbClr val="EF4444"/>
            </a:solidFill>
            <a:ln>
              <a:noFill/>
            </a:ln>
          </p:spPr>
        </p:sp>
        <p:sp>
          <p:nvSpPr>
            <p:cNvPr id="8" name="Rectangle 8"/>
            <p:cNvSpPr/>
            <p:nvPr/>
          </p:nvSpPr>
          <p:spPr>
            <a:xfrm>
              <a:off x="476250" y="1476375"/>
              <a:ext cx="11239500" cy="152400"/>
            </a:xfrm>
            <a:prstGeom prst="rect">
              <a:avLst/>
            </a:prstGeom>
            <a:solidFill>
              <a:srgbClr val="EF4444"/>
            </a:solidFill>
            <a:ln>
              <a:noFill/>
            </a:ln>
          </p:spPr>
        </p:sp>
        <p:sp>
          <p:nvSpPr>
            <p:cNvPr id="9" name="TextBox 9"/>
            <p:cNvSpPr txBox="1"/>
            <p:nvPr/>
          </p:nvSpPr>
          <p:spPr>
            <a:xfrm>
              <a:off x="745808" y="1386364"/>
              <a:ext cx="1156651"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The Problem</a:t>
              </a:r>
            </a:p>
          </p:txBody>
        </p:sp>
        <p:sp>
          <p:nvSpPr>
            <p:cNvPr id="10" name="TextBox 10"/>
            <p:cNvSpPr txBox="1"/>
            <p:nvPr/>
          </p:nvSpPr>
          <p:spPr>
            <a:xfrm>
              <a:off x="748665" y="1772602"/>
              <a:ext cx="3661124" cy="213360"/>
            </a:xfrm>
            <a:prstGeom prst="rect">
              <a:avLst/>
            </a:prstGeom>
            <a:noFill/>
            <a:ln>
              <a:noFill/>
            </a:ln>
          </p:spPr>
          <p:txBody>
            <a:bodyPr wrap="none" lIns="0" tIns="0" rIns="0" bIns="0" anchor="t" anchorCtr="0">
              <a:spAutoFit/>
            </a:bodyPr>
            <a:lstStyle/>
            <a:p>
              <a:pPr algn="l"/>
              <a:r>
                <a:rPr lang="zh-CN" sz="1050" b="1" dirty="0">
                  <a:solidFill>
                    <a:srgbClr val="EF4444"/>
                  </a:solidFill>
                  <a:latin typeface="Arial"/>
                  <a:ea typeface="Microsoft YaHei"/>
                  <a:cs typeface="Arial"/>
                </a:rPr>
                <a:t>1.</a:t>
              </a:r>
              <a:r>
                <a:rPr lang="zh-CN" sz="1050" dirty="0">
                  <a:solidFill>
                    <a:srgbClr val="000000"/>
                  </a:solidFill>
                  <a:latin typeface="Arial"/>
                  <a:ea typeface="Microsoft YaHei"/>
                  <a:cs typeface="Arial"/>
                </a:rPr>
                <a:t> Signal delivery diverts control flow to handler</a:t>
              </a:r>
            </a:p>
          </p:txBody>
        </p:sp>
        <p:sp>
          <p:nvSpPr>
            <p:cNvPr id="11" name="TextBox 11"/>
            <p:cNvSpPr txBox="1"/>
            <p:nvPr/>
          </p:nvSpPr>
          <p:spPr>
            <a:xfrm>
              <a:off x="748665" y="1991678"/>
              <a:ext cx="3975497" cy="213360"/>
            </a:xfrm>
            <a:prstGeom prst="rect">
              <a:avLst/>
            </a:prstGeom>
            <a:noFill/>
            <a:ln>
              <a:noFill/>
            </a:ln>
          </p:spPr>
          <p:txBody>
            <a:bodyPr wrap="none" lIns="0" tIns="0" rIns="0" bIns="0" anchor="t" anchorCtr="0">
              <a:spAutoFit/>
            </a:bodyPr>
            <a:lstStyle/>
            <a:p>
              <a:pPr algn="l"/>
              <a:r>
                <a:rPr lang="zh-CN" sz="1050" b="1" dirty="0">
                  <a:solidFill>
                    <a:srgbClr val="EF4444"/>
                  </a:solidFill>
                  <a:latin typeface="Arial"/>
                  <a:ea typeface="Microsoft YaHei"/>
                  <a:cs typeface="Arial"/>
                </a:rPr>
                <a:t>2.</a:t>
              </a:r>
              <a:r>
                <a:rPr lang="zh-CN" sz="1050" dirty="0">
                  <a:solidFill>
                    <a:srgbClr val="000000"/>
                  </a:solidFill>
                  <a:latin typeface="Arial"/>
                  <a:ea typeface="Microsoft YaHei"/>
                  <a:cs typeface="Arial"/>
                </a:rPr>
                <a:t> Handler returns via </a:t>
              </a:r>
              <a:r>
                <a:rPr lang="zh-CN" sz="1050" dirty="0">
                  <a:solidFill>
                    <a:srgbClr val="AF00C0"/>
                  </a:solidFill>
                  <a:latin typeface="Consolas"/>
                  <a:ea typeface="Microsoft YaHei"/>
                  <a:cs typeface="Consolas"/>
                </a:rPr>
                <a:t>sa_restorer</a:t>
              </a:r>
              <a:r>
                <a:rPr lang="zh-CN" sz="1050" dirty="0">
                  <a:solidFill>
                    <a:srgbClr val="000000"/>
                  </a:solidFill>
                  <a:latin typeface="Arial"/>
                  <a:ea typeface="Microsoft YaHei"/>
                  <a:cs typeface="Arial"/>
                </a:rPr>
                <a:t> trampoline (RET)</a:t>
              </a:r>
            </a:p>
          </p:txBody>
        </p:sp>
        <p:sp>
          <p:nvSpPr>
            <p:cNvPr id="12" name="TextBox 12"/>
            <p:cNvSpPr txBox="1"/>
            <p:nvPr/>
          </p:nvSpPr>
          <p:spPr>
            <a:xfrm>
              <a:off x="748665" y="2210752"/>
              <a:ext cx="4619577" cy="213360"/>
            </a:xfrm>
            <a:prstGeom prst="rect">
              <a:avLst/>
            </a:prstGeom>
            <a:noFill/>
            <a:ln>
              <a:noFill/>
            </a:ln>
          </p:spPr>
          <p:txBody>
            <a:bodyPr wrap="none" lIns="0" tIns="0" rIns="0" bIns="0" anchor="t" anchorCtr="0">
              <a:spAutoFit/>
            </a:bodyPr>
            <a:lstStyle/>
            <a:p>
              <a:pPr algn="l"/>
              <a:r>
                <a:rPr lang="zh-CN" sz="1050" b="1" dirty="0">
                  <a:solidFill>
                    <a:srgbClr val="EF4444"/>
                  </a:solidFill>
                  <a:latin typeface="Arial"/>
                  <a:ea typeface="Microsoft YaHei"/>
                  <a:cs typeface="Arial"/>
                </a:rPr>
                <a:t>3.</a:t>
              </a:r>
              <a:r>
                <a:rPr lang="zh-CN" sz="1050" dirty="0">
                  <a:solidFill>
                    <a:srgbClr val="000000"/>
                  </a:solidFill>
                  <a:latin typeface="Arial"/>
                  <a:ea typeface="Microsoft YaHei"/>
                  <a:cs typeface="Arial"/>
                </a:rPr>
                <a:t> Shadow stack expects the </a:t>
              </a:r>
              <a:r>
                <a:rPr lang="zh-CN" sz="1050" b="1" dirty="0">
                  <a:solidFill>
                    <a:srgbClr val="000000"/>
                  </a:solidFill>
                  <a:latin typeface="Arial"/>
                  <a:ea typeface="Microsoft YaHei"/>
                  <a:cs typeface="Arial"/>
                </a:rPr>
                <a:t>original caller's</a:t>
              </a:r>
              <a:r>
                <a:rPr lang="zh-CN" sz="1050" dirty="0">
                  <a:solidFill>
                    <a:srgbClr val="000000"/>
                  </a:solidFill>
                  <a:latin typeface="Arial"/>
                  <a:ea typeface="Microsoft YaHei"/>
                  <a:cs typeface="Arial"/>
                </a:rPr>
                <a:t> return address</a:t>
              </a:r>
            </a:p>
          </p:txBody>
        </p:sp>
        <p:sp>
          <p:nvSpPr>
            <p:cNvPr id="13" name="TextBox 13"/>
            <p:cNvSpPr txBox="1"/>
            <p:nvPr/>
          </p:nvSpPr>
          <p:spPr>
            <a:xfrm>
              <a:off x="748665" y="2429828"/>
              <a:ext cx="3776139" cy="213360"/>
            </a:xfrm>
            <a:prstGeom prst="rect">
              <a:avLst/>
            </a:prstGeom>
            <a:noFill/>
            <a:ln>
              <a:noFill/>
            </a:ln>
          </p:spPr>
          <p:txBody>
            <a:bodyPr wrap="none" lIns="0" tIns="0" rIns="0" bIns="0" anchor="t" anchorCtr="0">
              <a:spAutoFit/>
            </a:bodyPr>
            <a:lstStyle/>
            <a:p>
              <a:pPr algn="l"/>
              <a:r>
                <a:rPr lang="zh-CN" sz="1050" b="1" dirty="0">
                  <a:solidFill>
                    <a:srgbClr val="EF4444"/>
                  </a:solidFill>
                  <a:latin typeface="Arial"/>
                  <a:ea typeface="Microsoft YaHei"/>
                  <a:cs typeface="Arial"/>
                </a:rPr>
                <a:t>4.</a:t>
              </a:r>
              <a:r>
                <a:rPr lang="zh-CN" sz="1050" dirty="0">
                  <a:solidFill>
                    <a:srgbClr val="000000"/>
                  </a:solidFill>
                  <a:latin typeface="Arial"/>
                  <a:ea typeface="Microsoft YaHei"/>
                  <a:cs typeface="Arial"/>
                </a:rPr>
                <a:t> Without fixup: </a:t>
              </a:r>
              <a:r>
                <a:rPr lang="zh-CN" sz="1050" b="1" dirty="0">
                  <a:solidFill>
                    <a:srgbClr val="EF4444"/>
                  </a:solidFill>
                  <a:latin typeface="Arial"/>
                  <a:ea typeface="Microsoft YaHei"/>
                  <a:cs typeface="Arial"/>
                </a:rPr>
                <a:t>#CP fault on every signal return</a:t>
              </a:r>
            </a:p>
          </p:txBody>
        </p:sp>
      </p:grpSp>
      <p:grpSp>
        <p:nvGrpSpPr>
          <p:cNvPr id="45" name="Group 45"/>
          <p:cNvGrpSpPr/>
          <p:nvPr/>
        </p:nvGrpSpPr>
        <p:grpSpPr>
          <a:xfrm>
            <a:off x="476250" y="2838450"/>
            <a:ext cx="11239500" cy="2095500"/>
            <a:chOff x="476250" y="2838450"/>
            <a:chExt cx="11239500" cy="2095500"/>
          </a:xfrm>
        </p:grpSpPr>
        <p:sp>
          <p:nvSpPr>
            <p:cNvPr id="15" name="Rectangle 15"/>
            <p:cNvSpPr/>
            <p:nvPr/>
          </p:nvSpPr>
          <p:spPr>
            <a:xfrm>
              <a:off x="476250" y="2838450"/>
              <a:ext cx="11239500" cy="2095500"/>
            </a:xfrm>
            <a:prstGeom prst="roundRect">
              <a:avLst>
                <a:gd name="adj" fmla="val 4545"/>
              </a:avLst>
            </a:prstGeom>
            <a:solidFill>
              <a:srgbClr val="F0FFF4"/>
            </a:solidFill>
            <a:ln w="14288">
              <a:solidFill>
                <a:srgbClr val="0AB36E"/>
              </a:solidFill>
            </a:ln>
          </p:spPr>
        </p:sp>
        <p:sp>
          <p:nvSpPr>
            <p:cNvPr id="16" name="Rectangle 16"/>
            <p:cNvSpPr/>
            <p:nvPr/>
          </p:nvSpPr>
          <p:spPr>
            <a:xfrm>
              <a:off x="476250" y="2838450"/>
              <a:ext cx="11239500" cy="342900"/>
            </a:xfrm>
            <a:prstGeom prst="roundRect">
              <a:avLst>
                <a:gd name="adj" fmla="val 27778"/>
              </a:avLst>
            </a:prstGeom>
            <a:solidFill>
              <a:srgbClr val="0AB36E"/>
            </a:solidFill>
            <a:ln>
              <a:noFill/>
            </a:ln>
          </p:spPr>
        </p:sp>
        <p:sp>
          <p:nvSpPr>
            <p:cNvPr id="17" name="Rectangle 17"/>
            <p:cNvSpPr/>
            <p:nvPr/>
          </p:nvSpPr>
          <p:spPr>
            <a:xfrm>
              <a:off x="476250" y="3028950"/>
              <a:ext cx="11239500" cy="152400"/>
            </a:xfrm>
            <a:prstGeom prst="rect">
              <a:avLst/>
            </a:prstGeom>
            <a:solidFill>
              <a:srgbClr val="0AB36E"/>
            </a:solidFill>
            <a:ln>
              <a:noFill/>
            </a:ln>
          </p:spPr>
        </p:sp>
        <p:sp>
          <p:nvSpPr>
            <p:cNvPr id="18" name="TextBox 18"/>
            <p:cNvSpPr txBox="1"/>
            <p:nvPr/>
          </p:nvSpPr>
          <p:spPr>
            <a:xfrm>
              <a:off x="745808" y="2938939"/>
              <a:ext cx="3307419"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Signal Delivery Protocol (Solution)</a:t>
              </a:r>
            </a:p>
          </p:txBody>
        </p:sp>
        <p:sp>
          <p:nvSpPr>
            <p:cNvPr id="19" name="Rectangle 19"/>
            <p:cNvSpPr/>
            <p:nvPr/>
          </p:nvSpPr>
          <p:spPr>
            <a:xfrm>
              <a:off x="666750" y="3333750"/>
              <a:ext cx="1762125" cy="685800"/>
            </a:xfrm>
            <a:prstGeom prst="roundRect">
              <a:avLst>
                <a:gd name="adj" fmla="val 8333"/>
              </a:avLst>
            </a:prstGeom>
            <a:solidFill>
              <a:srgbClr val="FFFFFF"/>
            </a:solidFill>
            <a:ln w="14288">
              <a:solidFill>
                <a:srgbClr val="0AB36E"/>
              </a:solidFill>
            </a:ln>
          </p:spPr>
        </p:sp>
        <p:sp>
          <p:nvSpPr>
            <p:cNvPr id="20" name="TextBox 20"/>
            <p:cNvSpPr txBox="1"/>
            <p:nvPr/>
          </p:nvSpPr>
          <p:spPr>
            <a:xfrm>
              <a:off x="1347921" y="3427095"/>
              <a:ext cx="409308" cy="182880"/>
            </a:xfrm>
            <a:prstGeom prst="rect">
              <a:avLst/>
            </a:prstGeom>
            <a:noFill/>
            <a:ln>
              <a:noFill/>
            </a:ln>
          </p:spPr>
          <p:txBody>
            <a:bodyPr wrap="none" lIns="0" tIns="0" rIns="0" bIns="0" anchor="t" anchorCtr="0">
              <a:spAutoFit/>
            </a:bodyPr>
            <a:lstStyle/>
            <a:p>
              <a:pPr algn="ctr"/>
              <a:r>
                <a:rPr lang="zh-CN" sz="900" b="1" dirty="0">
                  <a:solidFill>
                    <a:srgbClr val="0AB36E"/>
                  </a:solidFill>
                  <a:latin typeface="Arial"/>
                  <a:ea typeface="Microsoft YaHei"/>
                  <a:cs typeface="Arial"/>
                </a:rPr>
                <a:t>Step 1</a:t>
              </a:r>
            </a:p>
          </p:txBody>
        </p:sp>
        <p:sp>
          <p:nvSpPr>
            <p:cNvPr id="21" name="TextBox 21"/>
            <p:cNvSpPr txBox="1"/>
            <p:nvPr/>
          </p:nvSpPr>
          <p:spPr>
            <a:xfrm>
              <a:off x="945666" y="3606641"/>
              <a:ext cx="1213818" cy="167640"/>
            </a:xfrm>
            <a:prstGeom prst="rect">
              <a:avLst/>
            </a:prstGeom>
            <a:noFill/>
            <a:ln>
              <a:noFill/>
            </a:ln>
          </p:spPr>
          <p:txBody>
            <a:bodyPr wrap="none" lIns="0" tIns="0" rIns="0" bIns="0" anchor="t" anchorCtr="0">
              <a:spAutoFit/>
            </a:bodyPr>
            <a:lstStyle/>
            <a:p>
              <a:pPr algn="ctr"/>
              <a:r>
                <a:rPr lang="zh-CN" sz="825" dirty="0">
                  <a:solidFill>
                    <a:srgbClr val="000000"/>
                  </a:solidFill>
                  <a:latin typeface="Arial"/>
                  <a:ea typeface="Microsoft YaHei"/>
                  <a:cs typeface="Arial"/>
                </a:rPr>
                <a:t>Push sigframe token</a:t>
              </a:r>
            </a:p>
          </p:txBody>
        </p:sp>
        <p:sp>
          <p:nvSpPr>
            <p:cNvPr id="22" name="TextBox 22"/>
            <p:cNvSpPr txBox="1"/>
            <p:nvPr/>
          </p:nvSpPr>
          <p:spPr>
            <a:xfrm>
              <a:off x="1099423" y="3786188"/>
              <a:ext cx="906304" cy="152400"/>
            </a:xfrm>
            <a:prstGeom prst="rect">
              <a:avLst/>
            </a:prstGeom>
            <a:noFill/>
            <a:ln>
              <a:noFill/>
            </a:ln>
          </p:spPr>
          <p:txBody>
            <a:bodyPr wrap="none" lIns="0" tIns="0" rIns="0" bIns="0" anchor="t" anchorCtr="0">
              <a:spAutoFit/>
            </a:bodyPr>
            <a:lstStyle/>
            <a:p>
              <a:pPr algn="ctr"/>
              <a:r>
                <a:rPr lang="zh-CN" sz="750" dirty="0">
                  <a:solidFill>
                    <a:srgbClr val="AF00C0"/>
                  </a:solidFill>
                  <a:latin typeface="Consolas"/>
                  <a:ea typeface="Microsoft YaHei"/>
                  <a:cs typeface="Consolas"/>
                </a:rPr>
                <a:t>old_ssp | BIT(63)</a:t>
              </a:r>
            </a:p>
          </p:txBody>
        </p:sp>
        <p:sp>
          <p:nvSpPr>
            <p:cNvPr id="23" name="Line 23"/>
            <p:cNvSpPr/>
            <p:nvPr/>
          </p:nvSpPr>
          <p:spPr>
            <a:xfrm>
              <a:off x="2428875" y="3676650"/>
              <a:ext cx="219075" cy="1"/>
            </a:xfrm>
            <a:prstGeom prst="line">
              <a:avLst/>
            </a:prstGeom>
            <a:noFill/>
            <a:ln w="19050">
              <a:solidFill>
                <a:srgbClr val="0AB36E"/>
              </a:solidFill>
              <a:tailEnd type="triangle" w="lg" len="lg"/>
            </a:ln>
          </p:spPr>
        </p:sp>
        <p:sp>
          <p:nvSpPr>
            <p:cNvPr id="24" name="Rectangle 24"/>
            <p:cNvSpPr/>
            <p:nvPr/>
          </p:nvSpPr>
          <p:spPr>
            <a:xfrm>
              <a:off x="2695575" y="3333750"/>
              <a:ext cx="1762125" cy="685800"/>
            </a:xfrm>
            <a:prstGeom prst="roundRect">
              <a:avLst>
                <a:gd name="adj" fmla="val 8333"/>
              </a:avLst>
            </a:prstGeom>
            <a:solidFill>
              <a:srgbClr val="FFFFFF"/>
            </a:solidFill>
            <a:ln w="14288">
              <a:solidFill>
                <a:srgbClr val="0AB36E"/>
              </a:solidFill>
            </a:ln>
          </p:spPr>
        </p:sp>
        <p:sp>
          <p:nvSpPr>
            <p:cNvPr id="25" name="TextBox 25"/>
            <p:cNvSpPr txBox="1"/>
            <p:nvPr/>
          </p:nvSpPr>
          <p:spPr>
            <a:xfrm>
              <a:off x="3359494" y="3427095"/>
              <a:ext cx="443813" cy="182880"/>
            </a:xfrm>
            <a:prstGeom prst="rect">
              <a:avLst/>
            </a:prstGeom>
            <a:noFill/>
            <a:ln>
              <a:noFill/>
            </a:ln>
          </p:spPr>
          <p:txBody>
            <a:bodyPr wrap="none" lIns="0" tIns="0" rIns="0" bIns="0" anchor="t" anchorCtr="0">
              <a:spAutoFit/>
            </a:bodyPr>
            <a:lstStyle/>
            <a:p>
              <a:pPr algn="ctr"/>
              <a:r>
                <a:rPr lang="zh-CN" sz="900" b="1" dirty="0">
                  <a:solidFill>
                    <a:srgbClr val="0AB36E"/>
                  </a:solidFill>
                  <a:latin typeface="Arial"/>
                  <a:ea typeface="Microsoft YaHei"/>
                  <a:cs typeface="Arial"/>
                </a:rPr>
                <a:t>Step 2</a:t>
              </a:r>
            </a:p>
          </p:txBody>
        </p:sp>
        <p:sp>
          <p:nvSpPr>
            <p:cNvPr id="26" name="TextBox 26"/>
            <p:cNvSpPr txBox="1"/>
            <p:nvPr/>
          </p:nvSpPr>
          <p:spPr>
            <a:xfrm>
              <a:off x="3055822" y="3606641"/>
              <a:ext cx="1051155" cy="167640"/>
            </a:xfrm>
            <a:prstGeom prst="rect">
              <a:avLst/>
            </a:prstGeom>
            <a:noFill/>
            <a:ln>
              <a:noFill/>
            </a:ln>
          </p:spPr>
          <p:txBody>
            <a:bodyPr wrap="none" lIns="0" tIns="0" rIns="0" bIns="0" anchor="t" anchorCtr="0">
              <a:spAutoFit/>
            </a:bodyPr>
            <a:lstStyle/>
            <a:p>
              <a:pPr algn="ctr"/>
              <a:r>
                <a:rPr lang="zh-CN" sz="825" dirty="0">
                  <a:solidFill>
                    <a:srgbClr val="000000"/>
                  </a:solidFill>
                  <a:latin typeface="Arial"/>
                  <a:ea typeface="Microsoft YaHei"/>
                  <a:cs typeface="Arial"/>
                </a:rPr>
                <a:t>Push sa_restorer</a:t>
              </a:r>
            </a:p>
          </p:txBody>
        </p:sp>
        <p:sp>
          <p:nvSpPr>
            <p:cNvPr id="27" name="TextBox 27"/>
            <p:cNvSpPr txBox="1"/>
            <p:nvPr/>
          </p:nvSpPr>
          <p:spPr>
            <a:xfrm>
              <a:off x="3076218" y="3786188"/>
              <a:ext cx="1010364" cy="152400"/>
            </a:xfrm>
            <a:prstGeom prst="rect">
              <a:avLst/>
            </a:prstGeom>
            <a:noFill/>
            <a:ln>
              <a:noFill/>
            </a:ln>
          </p:spPr>
          <p:txBody>
            <a:bodyPr wrap="none" lIns="0" tIns="0" rIns="0" bIns="0" anchor="t" anchorCtr="0">
              <a:spAutoFit/>
            </a:bodyPr>
            <a:lstStyle/>
            <a:p>
              <a:pPr algn="ctr"/>
              <a:r>
                <a:rPr lang="zh-CN" sz="750" dirty="0">
                  <a:solidFill>
                    <a:srgbClr val="333333"/>
                  </a:solidFill>
                  <a:latin typeface="Arial"/>
                  <a:ea typeface="Microsoft YaHei"/>
                  <a:cs typeface="Arial"/>
                </a:rPr>
                <a:t>onto shadow stack</a:t>
              </a:r>
            </a:p>
          </p:txBody>
        </p:sp>
        <p:sp>
          <p:nvSpPr>
            <p:cNvPr id="28" name="Line 28"/>
            <p:cNvSpPr/>
            <p:nvPr/>
          </p:nvSpPr>
          <p:spPr>
            <a:xfrm>
              <a:off x="4457700" y="3676650"/>
              <a:ext cx="219075" cy="1"/>
            </a:xfrm>
            <a:prstGeom prst="line">
              <a:avLst/>
            </a:prstGeom>
            <a:noFill/>
            <a:ln w="19050">
              <a:solidFill>
                <a:srgbClr val="0AB36E"/>
              </a:solidFill>
              <a:tailEnd type="triangle" w="lg" len="lg"/>
            </a:ln>
          </p:spPr>
        </p:sp>
        <p:sp>
          <p:nvSpPr>
            <p:cNvPr id="29" name="Rectangle 29"/>
            <p:cNvSpPr/>
            <p:nvPr/>
          </p:nvSpPr>
          <p:spPr>
            <a:xfrm>
              <a:off x="4724400" y="3333750"/>
              <a:ext cx="1762125" cy="685800"/>
            </a:xfrm>
            <a:prstGeom prst="roundRect">
              <a:avLst>
                <a:gd name="adj" fmla="val 8333"/>
              </a:avLst>
            </a:prstGeom>
            <a:solidFill>
              <a:srgbClr val="FFFFFF"/>
            </a:solidFill>
            <a:ln w="14288">
              <a:solidFill>
                <a:srgbClr val="0AB36E"/>
              </a:solidFill>
            </a:ln>
          </p:spPr>
        </p:sp>
        <p:sp>
          <p:nvSpPr>
            <p:cNvPr id="30" name="TextBox 30"/>
            <p:cNvSpPr txBox="1"/>
            <p:nvPr/>
          </p:nvSpPr>
          <p:spPr>
            <a:xfrm>
              <a:off x="5388319" y="3427095"/>
              <a:ext cx="443813" cy="182880"/>
            </a:xfrm>
            <a:prstGeom prst="rect">
              <a:avLst/>
            </a:prstGeom>
            <a:noFill/>
            <a:ln>
              <a:noFill/>
            </a:ln>
          </p:spPr>
          <p:txBody>
            <a:bodyPr wrap="none" lIns="0" tIns="0" rIns="0" bIns="0" anchor="t" anchorCtr="0">
              <a:spAutoFit/>
            </a:bodyPr>
            <a:lstStyle/>
            <a:p>
              <a:pPr algn="ctr"/>
              <a:r>
                <a:rPr lang="zh-CN" sz="900" b="1" dirty="0">
                  <a:solidFill>
                    <a:srgbClr val="0AB36E"/>
                  </a:solidFill>
                  <a:latin typeface="Arial"/>
                  <a:ea typeface="Microsoft YaHei"/>
                  <a:cs typeface="Arial"/>
                </a:rPr>
                <a:t>Step 3</a:t>
              </a:r>
            </a:p>
          </p:txBody>
        </p:sp>
        <p:sp>
          <p:nvSpPr>
            <p:cNvPr id="31" name="TextBox 31"/>
            <p:cNvSpPr txBox="1"/>
            <p:nvPr/>
          </p:nvSpPr>
          <p:spPr>
            <a:xfrm>
              <a:off x="5283458" y="3606641"/>
              <a:ext cx="653534" cy="167640"/>
            </a:xfrm>
            <a:prstGeom prst="rect">
              <a:avLst/>
            </a:prstGeom>
            <a:noFill/>
            <a:ln>
              <a:noFill/>
            </a:ln>
          </p:spPr>
          <p:txBody>
            <a:bodyPr wrap="none" lIns="0" tIns="0" rIns="0" bIns="0" anchor="t" anchorCtr="0">
              <a:spAutoFit/>
            </a:bodyPr>
            <a:lstStyle/>
            <a:p>
              <a:pPr algn="ctr"/>
              <a:r>
                <a:rPr lang="zh-CN" sz="825" dirty="0">
                  <a:solidFill>
                    <a:srgbClr val="000000"/>
                  </a:solidFill>
                  <a:latin typeface="Arial"/>
                  <a:ea typeface="Microsoft YaHei"/>
                  <a:cs typeface="Arial"/>
                </a:rPr>
                <a:t>Update SSP</a:t>
              </a:r>
            </a:p>
          </p:txBody>
        </p:sp>
        <p:sp>
          <p:nvSpPr>
            <p:cNvPr id="32" name="TextBox 32"/>
            <p:cNvSpPr txBox="1"/>
            <p:nvPr/>
          </p:nvSpPr>
          <p:spPr>
            <a:xfrm>
              <a:off x="5121473" y="3786188"/>
              <a:ext cx="977503" cy="152400"/>
            </a:xfrm>
            <a:prstGeom prst="rect">
              <a:avLst/>
            </a:prstGeom>
            <a:noFill/>
            <a:ln>
              <a:noFill/>
            </a:ln>
          </p:spPr>
          <p:txBody>
            <a:bodyPr wrap="none" lIns="0" tIns="0" rIns="0" bIns="0" anchor="t" anchorCtr="0">
              <a:spAutoFit/>
            </a:bodyPr>
            <a:lstStyle/>
            <a:p>
              <a:pPr algn="ctr"/>
              <a:r>
                <a:rPr lang="zh-CN" sz="750" dirty="0">
                  <a:solidFill>
                    <a:srgbClr val="AF00C0"/>
                  </a:solidFill>
                  <a:latin typeface="Consolas"/>
                  <a:ea typeface="Microsoft YaHei"/>
                  <a:cs typeface="Consolas"/>
                </a:rPr>
                <a:t>MSR_IA32_PL3_SSP</a:t>
              </a:r>
            </a:p>
          </p:txBody>
        </p:sp>
        <p:sp>
          <p:nvSpPr>
            <p:cNvPr id="33" name="Line 33"/>
            <p:cNvSpPr/>
            <p:nvPr/>
          </p:nvSpPr>
          <p:spPr>
            <a:xfrm>
              <a:off x="6486525" y="3676650"/>
              <a:ext cx="219075" cy="1"/>
            </a:xfrm>
            <a:prstGeom prst="line">
              <a:avLst/>
            </a:prstGeom>
            <a:noFill/>
            <a:ln w="19050">
              <a:solidFill>
                <a:srgbClr val="0AB36E"/>
              </a:solidFill>
              <a:tailEnd type="triangle" w="lg" len="lg"/>
            </a:ln>
          </p:spPr>
        </p:sp>
        <p:sp>
          <p:nvSpPr>
            <p:cNvPr id="34" name="Rectangle 34"/>
            <p:cNvSpPr/>
            <p:nvPr/>
          </p:nvSpPr>
          <p:spPr>
            <a:xfrm>
              <a:off x="6753225" y="3333750"/>
              <a:ext cx="1762125" cy="685800"/>
            </a:xfrm>
            <a:prstGeom prst="roundRect">
              <a:avLst>
                <a:gd name="adj" fmla="val 8333"/>
              </a:avLst>
            </a:prstGeom>
            <a:solidFill>
              <a:srgbClr val="FFFFFF"/>
            </a:solidFill>
            <a:ln w="14288">
              <a:solidFill>
                <a:srgbClr val="0AB36E"/>
              </a:solidFill>
            </a:ln>
          </p:spPr>
        </p:sp>
        <p:sp>
          <p:nvSpPr>
            <p:cNvPr id="35" name="TextBox 35"/>
            <p:cNvSpPr txBox="1"/>
            <p:nvPr/>
          </p:nvSpPr>
          <p:spPr>
            <a:xfrm>
              <a:off x="7417144" y="3427095"/>
              <a:ext cx="443813" cy="182880"/>
            </a:xfrm>
            <a:prstGeom prst="rect">
              <a:avLst/>
            </a:prstGeom>
            <a:noFill/>
            <a:ln>
              <a:noFill/>
            </a:ln>
          </p:spPr>
          <p:txBody>
            <a:bodyPr wrap="none" lIns="0" tIns="0" rIns="0" bIns="0" anchor="t" anchorCtr="0">
              <a:spAutoFit/>
            </a:bodyPr>
            <a:lstStyle/>
            <a:p>
              <a:pPr algn="ctr"/>
              <a:r>
                <a:rPr lang="zh-CN" sz="900" b="1" dirty="0">
                  <a:solidFill>
                    <a:srgbClr val="0AB36E"/>
                  </a:solidFill>
                  <a:latin typeface="Arial"/>
                  <a:ea typeface="Microsoft YaHei"/>
                  <a:cs typeface="Arial"/>
                </a:rPr>
                <a:t>Step 4</a:t>
              </a:r>
            </a:p>
          </p:txBody>
        </p:sp>
        <p:sp>
          <p:nvSpPr>
            <p:cNvPr id="36" name="TextBox 36"/>
            <p:cNvSpPr txBox="1"/>
            <p:nvPr/>
          </p:nvSpPr>
          <p:spPr>
            <a:xfrm>
              <a:off x="7227939" y="3606641"/>
              <a:ext cx="822222" cy="167640"/>
            </a:xfrm>
            <a:prstGeom prst="rect">
              <a:avLst/>
            </a:prstGeom>
            <a:noFill/>
            <a:ln>
              <a:noFill/>
            </a:ln>
          </p:spPr>
          <p:txBody>
            <a:bodyPr wrap="none" lIns="0" tIns="0" rIns="0" bIns="0" anchor="t" anchorCtr="0">
              <a:spAutoFit/>
            </a:bodyPr>
            <a:lstStyle/>
            <a:p>
              <a:pPr algn="ctr"/>
              <a:r>
                <a:rPr lang="zh-CN" sz="825" dirty="0">
                  <a:solidFill>
                    <a:srgbClr val="000000"/>
                  </a:solidFill>
                  <a:latin typeface="Arial"/>
                  <a:ea typeface="Microsoft YaHei"/>
                  <a:cs typeface="Arial"/>
                </a:rPr>
                <a:t>Handler's RET</a:t>
              </a:r>
            </a:p>
          </p:txBody>
        </p:sp>
        <p:sp>
          <p:nvSpPr>
            <p:cNvPr id="37" name="TextBox 37"/>
            <p:cNvSpPr txBox="1"/>
            <p:nvPr/>
          </p:nvSpPr>
          <p:spPr>
            <a:xfrm>
              <a:off x="7059930" y="3786188"/>
              <a:ext cx="1158240" cy="152400"/>
            </a:xfrm>
            <a:prstGeom prst="rect">
              <a:avLst/>
            </a:prstGeom>
            <a:noFill/>
            <a:ln>
              <a:noFill/>
            </a:ln>
          </p:spPr>
          <p:txBody>
            <a:bodyPr wrap="none" lIns="0" tIns="0" rIns="0" bIns="0" anchor="t" anchorCtr="0">
              <a:spAutoFit/>
            </a:bodyPr>
            <a:lstStyle/>
            <a:p>
              <a:pPr algn="ctr"/>
              <a:r>
                <a:rPr lang="zh-CN" sz="750" dirty="0">
                  <a:solidFill>
                    <a:srgbClr val="0AB36E"/>
                  </a:solidFill>
                  <a:latin typeface="Arial"/>
                  <a:ea typeface="Microsoft YaHei"/>
                  <a:cs typeface="Arial"/>
                </a:rPr>
                <a:t>matches sa_restorer</a:t>
              </a:r>
            </a:p>
          </p:txBody>
        </p:sp>
        <p:sp>
          <p:nvSpPr>
            <p:cNvPr id="38" name="Line 38"/>
            <p:cNvSpPr/>
            <p:nvPr/>
          </p:nvSpPr>
          <p:spPr>
            <a:xfrm>
              <a:off x="8515350" y="3676650"/>
              <a:ext cx="219075" cy="1"/>
            </a:xfrm>
            <a:prstGeom prst="line">
              <a:avLst/>
            </a:prstGeom>
            <a:noFill/>
            <a:ln w="19050">
              <a:solidFill>
                <a:srgbClr val="0AB36E"/>
              </a:solidFill>
              <a:tailEnd type="triangle" w="lg" len="lg"/>
            </a:ln>
          </p:spPr>
        </p:sp>
        <p:sp>
          <p:nvSpPr>
            <p:cNvPr id="39" name="Rectangle 39"/>
            <p:cNvSpPr/>
            <p:nvPr/>
          </p:nvSpPr>
          <p:spPr>
            <a:xfrm>
              <a:off x="8782050" y="3333750"/>
              <a:ext cx="2714625" cy="685800"/>
            </a:xfrm>
            <a:prstGeom prst="roundRect">
              <a:avLst>
                <a:gd name="adj" fmla="val 8333"/>
              </a:avLst>
            </a:prstGeom>
            <a:solidFill>
              <a:srgbClr val="FFFFFF"/>
            </a:solidFill>
            <a:ln w="14288">
              <a:solidFill>
                <a:srgbClr val="0AB36E"/>
              </a:solidFill>
            </a:ln>
          </p:spPr>
        </p:sp>
        <p:sp>
          <p:nvSpPr>
            <p:cNvPr id="40" name="TextBox 40"/>
            <p:cNvSpPr txBox="1"/>
            <p:nvPr/>
          </p:nvSpPr>
          <p:spPr>
            <a:xfrm>
              <a:off x="9922219" y="3427095"/>
              <a:ext cx="443813" cy="182880"/>
            </a:xfrm>
            <a:prstGeom prst="rect">
              <a:avLst/>
            </a:prstGeom>
            <a:noFill/>
            <a:ln>
              <a:noFill/>
            </a:ln>
          </p:spPr>
          <p:txBody>
            <a:bodyPr wrap="none" lIns="0" tIns="0" rIns="0" bIns="0" anchor="t" anchorCtr="0">
              <a:spAutoFit/>
            </a:bodyPr>
            <a:lstStyle/>
            <a:p>
              <a:pPr algn="ctr"/>
              <a:r>
                <a:rPr lang="zh-CN" sz="900" b="1" dirty="0">
                  <a:solidFill>
                    <a:srgbClr val="0AB36E"/>
                  </a:solidFill>
                  <a:latin typeface="Arial"/>
                  <a:ea typeface="Microsoft YaHei"/>
                  <a:cs typeface="Arial"/>
                </a:rPr>
                <a:t>Step 5</a:t>
              </a:r>
            </a:p>
          </p:txBody>
        </p:sp>
        <p:sp>
          <p:nvSpPr>
            <p:cNvPr id="41" name="TextBox 41"/>
            <p:cNvSpPr txBox="1"/>
            <p:nvPr/>
          </p:nvSpPr>
          <p:spPr>
            <a:xfrm>
              <a:off x="9281172" y="3606641"/>
              <a:ext cx="1725906" cy="167640"/>
            </a:xfrm>
            <a:prstGeom prst="rect">
              <a:avLst/>
            </a:prstGeom>
            <a:noFill/>
            <a:ln>
              <a:noFill/>
            </a:ln>
          </p:spPr>
          <p:txBody>
            <a:bodyPr wrap="none" lIns="0" tIns="0" rIns="0" bIns="0" anchor="t" anchorCtr="0">
              <a:spAutoFit/>
            </a:bodyPr>
            <a:lstStyle/>
            <a:p>
              <a:pPr algn="ctr"/>
              <a:r>
                <a:rPr lang="zh-CN" sz="825" dirty="0">
                  <a:solidFill>
                    <a:srgbClr val="000000"/>
                  </a:solidFill>
                  <a:latin typeface="Arial"/>
                  <a:ea typeface="Microsoft YaHei"/>
                  <a:cs typeface="Arial"/>
                </a:rPr>
                <a:t>rt_sigreturn validates token</a:t>
              </a:r>
            </a:p>
          </p:txBody>
        </p:sp>
        <p:sp>
          <p:nvSpPr>
            <p:cNvPr id="42" name="TextBox 42"/>
            <p:cNvSpPr txBox="1"/>
            <p:nvPr/>
          </p:nvSpPr>
          <p:spPr>
            <a:xfrm>
              <a:off x="9570482" y="3786188"/>
              <a:ext cx="1147286" cy="152400"/>
            </a:xfrm>
            <a:prstGeom prst="rect">
              <a:avLst/>
            </a:prstGeom>
            <a:noFill/>
            <a:ln>
              <a:noFill/>
            </a:ln>
          </p:spPr>
          <p:txBody>
            <a:bodyPr wrap="none" lIns="0" tIns="0" rIns="0" bIns="0" anchor="t" anchorCtr="0">
              <a:spAutoFit/>
            </a:bodyPr>
            <a:lstStyle/>
            <a:p>
              <a:pPr algn="ctr"/>
              <a:r>
                <a:rPr lang="zh-CN" sz="750" dirty="0">
                  <a:solidFill>
                    <a:srgbClr val="333333"/>
                  </a:solidFill>
                  <a:latin typeface="Arial"/>
                  <a:ea typeface="Microsoft YaHei"/>
                  <a:cs typeface="Arial"/>
                </a:rPr>
                <a:t>restores original SSP</a:t>
              </a:r>
            </a:p>
          </p:txBody>
        </p:sp>
        <p:sp>
          <p:nvSpPr>
            <p:cNvPr id="43" name="Rectangle 43"/>
            <p:cNvSpPr/>
            <p:nvPr/>
          </p:nvSpPr>
          <p:spPr>
            <a:xfrm>
              <a:off x="666750" y="4191000"/>
              <a:ext cx="10858500" cy="323850"/>
            </a:xfrm>
            <a:prstGeom prst="roundRect">
              <a:avLst>
                <a:gd name="adj" fmla="val 17647"/>
              </a:avLst>
            </a:prstGeom>
            <a:solidFill>
              <a:srgbClr val="0AB36E">
                <a:alpha val="8000"/>
              </a:srgbClr>
            </a:solidFill>
            <a:ln>
              <a:noFill/>
            </a:ln>
          </p:spPr>
        </p:sp>
        <p:sp>
          <p:nvSpPr>
            <p:cNvPr id="44" name="TextBox 44"/>
            <p:cNvSpPr txBox="1"/>
            <p:nvPr/>
          </p:nvSpPr>
          <p:spPr>
            <a:xfrm>
              <a:off x="1672816" y="4295299"/>
              <a:ext cx="8846368" cy="198120"/>
            </a:xfrm>
            <a:prstGeom prst="rect">
              <a:avLst/>
            </a:prstGeom>
            <a:noFill/>
            <a:ln>
              <a:noFill/>
            </a:ln>
          </p:spPr>
          <p:txBody>
            <a:bodyPr wrap="none" lIns="0" tIns="0" rIns="0" bIns="0" anchor="t" anchorCtr="0">
              <a:spAutoFit/>
            </a:bodyPr>
            <a:lstStyle/>
            <a:p>
              <a:pPr algn="ctr"/>
              <a:r>
                <a:rPr lang="zh-CN" sz="975" b="1" dirty="0">
                  <a:solidFill>
                    <a:srgbClr val="0AB36E"/>
                  </a:solidFill>
                  <a:latin typeface="Arial"/>
                  <a:ea typeface="Microsoft YaHei"/>
                  <a:cs typeface="Arial"/>
                </a:rPr>
                <a:t>Security:</a:t>
              </a:r>
              <a:r>
                <a:rPr lang="zh-CN" sz="975" dirty="0">
                  <a:solidFill>
                    <a:srgbClr val="000000"/>
                  </a:solidFill>
                  <a:latin typeface="Arial"/>
                  <a:ea typeface="Microsoft YaHei"/>
                  <a:cs typeface="Arial"/>
                </a:rPr>
                <a:t> BIT(63) ensures token can never match a RET address — attacker cannot forge tokens without WRSS or kernel access</a:t>
              </a:r>
            </a:p>
          </p:txBody>
        </p:sp>
      </p:grpSp>
      <p:grpSp>
        <p:nvGrpSpPr>
          <p:cNvPr id="49" name="Group 49"/>
          <p:cNvGrpSpPr/>
          <p:nvPr/>
        </p:nvGrpSpPr>
        <p:grpSpPr>
          <a:xfrm>
            <a:off x="476250" y="5143500"/>
            <a:ext cx="11239500" cy="619125"/>
            <a:chOff x="476250" y="5143500"/>
            <a:chExt cx="11239500" cy="619125"/>
          </a:xfrm>
        </p:grpSpPr>
        <p:sp>
          <p:nvSpPr>
            <p:cNvPr id="46" name="Rectangle 46"/>
            <p:cNvSpPr/>
            <p:nvPr/>
          </p:nvSpPr>
          <p:spPr>
            <a:xfrm>
              <a:off x="476250" y="5143500"/>
              <a:ext cx="11239500" cy="619125"/>
            </a:xfrm>
            <a:prstGeom prst="roundRect">
              <a:avLst>
                <a:gd name="adj" fmla="val 12308"/>
              </a:avLst>
            </a:prstGeom>
            <a:solidFill>
              <a:srgbClr val="1E293B"/>
            </a:solidFill>
            <a:ln>
              <a:noFill/>
            </a:ln>
          </p:spPr>
        </p:sp>
        <p:sp>
          <p:nvSpPr>
            <p:cNvPr id="48" name="TextBox 48"/>
            <p:cNvSpPr txBox="1"/>
            <p:nvPr/>
          </p:nvSpPr>
          <p:spPr>
            <a:xfrm>
              <a:off x="3484840" y="5349239"/>
              <a:ext cx="5222319" cy="198120"/>
            </a:xfrm>
            <a:prstGeom prst="rect">
              <a:avLst/>
            </a:prstGeom>
            <a:noFill/>
            <a:ln>
              <a:noFill/>
            </a:ln>
          </p:spPr>
          <p:txBody>
            <a:bodyPr wrap="none" lIns="0" tIns="0" rIns="0" bIns="0" anchor="t" anchorCtr="0">
              <a:spAutoFit/>
            </a:bodyPr>
            <a:lstStyle/>
            <a:p>
              <a:pPr algn="ctr"/>
              <a:r>
                <a:rPr lang="zh-CN" sz="975" dirty="0">
                  <a:solidFill>
                    <a:srgbClr val="FFFFFF">
                      <a:alpha val="50000"/>
                    </a:srgbClr>
                  </a:solidFill>
                  <a:latin typeface="Arial"/>
                  <a:ea typeface="Microsoft YaHei"/>
                  <a:cs typeface="Arial"/>
                </a:rPr>
                <a:t>restore_signal_shadow_stack() reverses the entire protocol on sigreturn</a:t>
              </a:r>
            </a:p>
          </p:txBody>
        </p:sp>
      </p:grpSp>
      <p:grpSp>
        <p:nvGrpSpPr>
          <p:cNvPr id="52" name="Group 52"/>
          <p:cNvGrpSpPr/>
          <p:nvPr/>
        </p:nvGrpSpPr>
        <p:grpSpPr>
          <a:xfrm>
            <a:off x="10283883" y="5886450"/>
            <a:ext cx="1441392" cy="947738"/>
            <a:chOff x="10283883" y="5886450"/>
            <a:chExt cx="1441392" cy="947738"/>
          </a:xfrm>
        </p:grpSpPr>
        <p:pic>
          <p:nvPicPr>
            <p:cNvPr id="50" name="Image 50"/>
            <p:cNvPicPr>
              <a:picLocks noChangeAspect="1"/>
            </p:cNvPicPr>
            <p:nvPr/>
          </p:nvPicPr>
          <p:blipFill>
            <a:blip r:embed="rId4"/>
            <a:stretch>
              <a:fillRect/>
            </a:stretch>
          </p:blipFill>
          <p:spPr>
            <a:xfrm>
              <a:off x="10283883" y="5886450"/>
              <a:ext cx="1158759" cy="381000"/>
            </a:xfrm>
            <a:prstGeom prst="rect">
              <a:avLst/>
            </a:prstGeom>
          </p:spPr>
        </p:pic>
        <p:sp>
          <p:nvSpPr>
            <p:cNvPr id="51" name="TextBox 51"/>
            <p:cNvSpPr txBox="1"/>
            <p:nvPr/>
          </p:nvSpPr>
          <p:spPr>
            <a:xfrm>
              <a:off x="11613118" y="6681788"/>
              <a:ext cx="112157"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12</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randombar(horizontal)">
                                      <p:cBhvr>
                                        <p:cTn id="11" dur="400"/>
                                        <p:tgtEl>
                                          <p:spTgt spid="45"/>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box(in)">
                                      <p:cBhvr>
                                        <p:cTn id="15"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5" grpId="0"/>
      <p:bldP spid="4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5416029"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setup_signal_shadow_stack()</a:t>
            </a:r>
          </a:p>
        </p:txBody>
      </p:sp>
      <p:grpSp>
        <p:nvGrpSpPr>
          <p:cNvPr id="29" name="Group 29"/>
          <p:cNvGrpSpPr/>
          <p:nvPr/>
        </p:nvGrpSpPr>
        <p:grpSpPr>
          <a:xfrm>
            <a:off x="476250" y="1285874"/>
            <a:ext cx="6667500" cy="4700588"/>
            <a:chOff x="476250" y="1285874"/>
            <a:chExt cx="6667500" cy="4700588"/>
          </a:xfrm>
        </p:grpSpPr>
        <p:sp>
          <p:nvSpPr>
            <p:cNvPr id="6" name="Rectangle 6"/>
            <p:cNvSpPr/>
            <p:nvPr/>
          </p:nvSpPr>
          <p:spPr>
            <a:xfrm>
              <a:off x="476250" y="1285874"/>
              <a:ext cx="6667500" cy="4700587"/>
            </a:xfrm>
            <a:prstGeom prst="roundRect">
              <a:avLst>
                <a:gd name="adj" fmla="val 1951"/>
              </a:avLst>
            </a:prstGeom>
            <a:solidFill>
              <a:srgbClr val="1E293B"/>
            </a:solidFill>
            <a:ln>
              <a:noFill/>
            </a:ln>
          </p:spPr>
        </p:sp>
        <p:sp>
          <p:nvSpPr>
            <p:cNvPr id="7" name="TextBox 7"/>
            <p:cNvSpPr txBox="1"/>
            <p:nvPr/>
          </p:nvSpPr>
          <p:spPr>
            <a:xfrm>
              <a:off x="608648" y="1415891"/>
              <a:ext cx="2527173" cy="167640"/>
            </a:xfrm>
            <a:prstGeom prst="rect">
              <a:avLst/>
            </a:prstGeom>
            <a:noFill/>
            <a:ln>
              <a:noFill/>
            </a:ln>
          </p:spPr>
          <p:txBody>
            <a:bodyPr wrap="none" lIns="0" tIns="0" rIns="0" bIns="0" anchor="t" anchorCtr="0">
              <a:spAutoFit/>
            </a:bodyPr>
            <a:lstStyle/>
            <a:p>
              <a:pPr algn="l"/>
              <a:r>
                <a:rPr lang="zh-CN" sz="825" dirty="0">
                  <a:solidFill>
                    <a:srgbClr val="6A9955"/>
                  </a:solidFill>
                  <a:latin typeface="Consolas"/>
                  <a:ea typeface="Microsoft YaHei"/>
                  <a:cs typeface="Consolas"/>
                </a:rPr>
                <a:t>// arch/x86/kernel/shstk.c, lines 384-416</a:t>
              </a:r>
            </a:p>
          </p:txBody>
        </p:sp>
        <p:sp>
          <p:nvSpPr>
            <p:cNvPr id="8" name="TextBox 8"/>
            <p:cNvSpPr txBox="1"/>
            <p:nvPr/>
          </p:nvSpPr>
          <p:spPr>
            <a:xfrm>
              <a:off x="605790" y="1677352"/>
              <a:ext cx="2518648"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int</a:t>
              </a:r>
              <a:r>
                <a:rPr lang="zh-CN" sz="1050" dirty="0">
                  <a:solidFill>
                    <a:srgbClr val="E0E0E0"/>
                  </a:solidFill>
                  <a:latin typeface="Consolas"/>
                  <a:ea typeface="Microsoft YaHei"/>
                  <a:cs typeface="Consolas"/>
                </a:rPr>
                <a:t> setup_signal_shadow_stack(
</a:t>
              </a:r>
            </a:p>
          </p:txBody>
        </p:sp>
        <p:sp>
          <p:nvSpPr>
            <p:cNvPr id="9" name="TextBox 9"/>
            <p:cNvSpPr txBox="1"/>
            <p:nvPr/>
          </p:nvSpPr>
          <p:spPr>
            <a:xfrm>
              <a:off x="605790" y="1867852"/>
              <a:ext cx="187456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struct</a:t>
              </a:r>
              <a:r>
                <a:rPr lang="zh-CN" sz="1050" dirty="0">
                  <a:solidFill>
                    <a:srgbClr val="E0E0E0"/>
                  </a:solidFill>
                  <a:latin typeface="Consolas"/>
                  <a:ea typeface="Microsoft YaHei"/>
                  <a:cs typeface="Consolas"/>
                </a:rPr>
                <a:t> ksignal *ksig)
</a:t>
              </a:r>
            </a:p>
          </p:txBody>
        </p:sp>
        <p:sp>
          <p:nvSpPr>
            <p:cNvPr id="10" name="TextBox 10"/>
            <p:cNvSpPr txBox="1"/>
            <p:nvPr/>
          </p:nvSpPr>
          <p:spPr>
            <a:xfrm>
              <a:off x="605790" y="20583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1" name="TextBox 11"/>
            <p:cNvSpPr txBox="1"/>
            <p:nvPr/>
          </p:nvSpPr>
          <p:spPr>
            <a:xfrm>
              <a:off x="605790" y="2248852"/>
              <a:ext cx="208159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void</a:t>
              </a:r>
              <a:r>
                <a:rPr lang="zh-CN" sz="1050" dirty="0">
                  <a:solidFill>
                    <a:srgbClr val="E0E0E0"/>
                  </a:solidFill>
                  <a:latin typeface="Consolas"/>
                  <a:ea typeface="Microsoft YaHei"/>
                  <a:cs typeface="Consolas"/>
                </a:rPr>
                <a:t> __user *restorer =
</a:t>
              </a:r>
            </a:p>
          </p:txBody>
        </p:sp>
        <p:sp>
          <p:nvSpPr>
            <p:cNvPr id="12" name="TextBox 12"/>
            <p:cNvSpPr txBox="1"/>
            <p:nvPr/>
          </p:nvSpPr>
          <p:spPr>
            <a:xfrm>
              <a:off x="605790" y="2439352"/>
              <a:ext cx="2380631"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ksig-&gt;ka.sa.sa_restorer;</a:t>
              </a:r>
            </a:p>
          </p:txBody>
        </p:sp>
        <p:sp>
          <p:nvSpPr>
            <p:cNvPr id="13" name="TextBox 13"/>
            <p:cNvSpPr txBox="1"/>
            <p:nvPr/>
          </p:nvSpPr>
          <p:spPr>
            <a:xfrm>
              <a:off x="605790" y="2629852"/>
              <a:ext cx="165987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unsigned</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long</a:t>
              </a:r>
              <a:r>
                <a:rPr lang="zh-CN" sz="1050" dirty="0">
                  <a:solidFill>
                    <a:srgbClr val="E0E0E0"/>
                  </a:solidFill>
                  <a:latin typeface="Consolas"/>
                  <a:ea typeface="Microsoft YaHei"/>
                  <a:cs typeface="Consolas"/>
                </a:rPr>
                <a:t> ssp;
</a:t>
              </a:r>
            </a:p>
          </p:txBody>
        </p:sp>
        <p:sp>
          <p:nvSpPr>
            <p:cNvPr id="14" name="TextBox 14"/>
            <p:cNvSpPr txBox="1"/>
            <p:nvPr/>
          </p:nvSpPr>
          <p:spPr>
            <a:xfrm>
              <a:off x="605790" y="2877502"/>
              <a:ext cx="249564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ssp = get_user_shstk_addr();</a:t>
              </a:r>
            </a:p>
          </p:txBody>
        </p:sp>
        <p:sp>
          <p:nvSpPr>
            <p:cNvPr id="15" name="TextBox 15"/>
            <p:cNvSpPr txBox="1"/>
            <p:nvPr/>
          </p:nvSpPr>
          <p:spPr>
            <a:xfrm>
              <a:off x="605790" y="3125152"/>
              <a:ext cx="211226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6A9955"/>
                  </a:solidFill>
                  <a:latin typeface="Consolas"/>
                  <a:ea typeface="Microsoft YaHei"/>
                  <a:cs typeface="Consolas"/>
                </a:rPr>
                <a:t>/* Push sigframe token:</a:t>
              </a:r>
              <a:r>
                <a:rPr lang="zh-CN" sz="1050" dirty="0">
                  <a:solidFill>
                    <a:srgbClr val="E0E0E0"/>
                  </a:solidFill>
                  <a:latin typeface="Consolas"/>
                  <a:ea typeface="Microsoft YaHei"/>
                  <a:cs typeface="Consolas"/>
                </a:rPr>
                <a:t>
</a:t>
              </a:r>
            </a:p>
          </p:txBody>
        </p:sp>
        <p:sp>
          <p:nvSpPr>
            <p:cNvPr id="16" name="TextBox 16"/>
            <p:cNvSpPr txBox="1"/>
            <p:nvPr/>
          </p:nvSpPr>
          <p:spPr>
            <a:xfrm>
              <a:off x="605790" y="3315652"/>
              <a:ext cx="1928241"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 old_ssp | BIT(63) */</a:t>
              </a:r>
              <a:r>
                <a:rPr lang="zh-CN" sz="1050" dirty="0">
                  <a:solidFill>
                    <a:srgbClr val="E0E0E0"/>
                  </a:solidFill>
                  <a:latin typeface="Consolas"/>
                  <a:ea typeface="Microsoft YaHei"/>
                  <a:cs typeface="Consolas"/>
                </a:rPr>
                <a:t>
</a:t>
              </a:r>
            </a:p>
          </p:txBody>
        </p:sp>
        <p:sp>
          <p:nvSpPr>
            <p:cNvPr id="17" name="TextBox 17"/>
            <p:cNvSpPr txBox="1"/>
            <p:nvPr/>
          </p:nvSpPr>
          <p:spPr>
            <a:xfrm>
              <a:off x="605790" y="3506152"/>
              <a:ext cx="239596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shstk_push_sigframe(&amp;ssp);</a:t>
              </a:r>
            </a:p>
          </p:txBody>
        </p:sp>
        <p:sp>
          <p:nvSpPr>
            <p:cNvPr id="18" name="TextBox 18"/>
            <p:cNvSpPr txBox="1"/>
            <p:nvPr/>
          </p:nvSpPr>
          <p:spPr>
            <a:xfrm>
              <a:off x="605790" y="3753802"/>
              <a:ext cx="2549319"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6A9955"/>
                  </a:solidFill>
                  <a:latin typeface="Consolas"/>
                  <a:ea typeface="Microsoft YaHei"/>
                  <a:cs typeface="Consolas"/>
                </a:rPr>
                <a:t>/* Push restorer so handler's</a:t>
              </a:r>
              <a:r>
                <a:rPr lang="zh-CN" sz="1050" dirty="0">
                  <a:solidFill>
                    <a:srgbClr val="E0E0E0"/>
                  </a:solidFill>
                  <a:latin typeface="Consolas"/>
                  <a:ea typeface="Microsoft YaHei"/>
                  <a:cs typeface="Consolas"/>
                </a:rPr>
                <a:t>
</a:t>
              </a:r>
            </a:p>
          </p:txBody>
        </p:sp>
        <p:sp>
          <p:nvSpPr>
            <p:cNvPr id="19" name="TextBox 19"/>
            <p:cNvSpPr txBox="1"/>
            <p:nvPr/>
          </p:nvSpPr>
          <p:spPr>
            <a:xfrm>
              <a:off x="605790" y="3944302"/>
              <a:ext cx="1606201"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 RET matches */</a:t>
              </a:r>
              <a:r>
                <a:rPr lang="zh-CN" sz="1050" dirty="0">
                  <a:solidFill>
                    <a:srgbClr val="E0E0E0"/>
                  </a:solidFill>
                  <a:latin typeface="Consolas"/>
                  <a:ea typeface="Microsoft YaHei"/>
                  <a:cs typeface="Consolas"/>
                </a:rPr>
                <a:t>
</a:t>
              </a:r>
            </a:p>
          </p:txBody>
        </p:sp>
        <p:sp>
          <p:nvSpPr>
            <p:cNvPr id="20" name="TextBox 20"/>
            <p:cNvSpPr txBox="1"/>
            <p:nvPr/>
          </p:nvSpPr>
          <p:spPr>
            <a:xfrm>
              <a:off x="605790" y="4134802"/>
              <a:ext cx="19819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ssp -= </a:t>
              </a:r>
              <a:r>
                <a:rPr lang="zh-CN" sz="1050" dirty="0">
                  <a:solidFill>
                    <a:srgbClr val="AF00C0"/>
                  </a:solidFill>
                  <a:latin typeface="Consolas"/>
                  <a:ea typeface="Microsoft YaHei"/>
                  <a:cs typeface="Consolas"/>
                </a:rPr>
                <a:t>SS_FRAME_SIZE</a:t>
              </a:r>
              <a:r>
                <a:rPr lang="zh-CN" sz="1050" dirty="0">
                  <a:solidFill>
                    <a:srgbClr val="E0E0E0"/>
                  </a:solidFill>
                  <a:latin typeface="Consolas"/>
                  <a:ea typeface="Microsoft YaHei"/>
                  <a:cs typeface="Consolas"/>
                </a:rPr>
                <a:t>;
</a:t>
              </a:r>
            </a:p>
          </p:txBody>
        </p:sp>
        <p:sp>
          <p:nvSpPr>
            <p:cNvPr id="21" name="TextBox 21"/>
            <p:cNvSpPr txBox="1"/>
            <p:nvPr/>
          </p:nvSpPr>
          <p:spPr>
            <a:xfrm>
              <a:off x="605790" y="4325302"/>
              <a:ext cx="188990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write_user_shstk_64(</a:t>
              </a:r>
            </a:p>
          </p:txBody>
        </p:sp>
        <p:sp>
          <p:nvSpPr>
            <p:cNvPr id="22" name="TextBox 22"/>
            <p:cNvSpPr txBox="1"/>
            <p:nvPr/>
          </p:nvSpPr>
          <p:spPr>
            <a:xfrm>
              <a:off x="605790" y="4515802"/>
              <a:ext cx="192057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(u64 __user *)ssp,
</a:t>
              </a:r>
            </a:p>
          </p:txBody>
        </p:sp>
        <p:sp>
          <p:nvSpPr>
            <p:cNvPr id="23" name="TextBox 23"/>
            <p:cNvSpPr txBox="1"/>
            <p:nvPr/>
          </p:nvSpPr>
          <p:spPr>
            <a:xfrm>
              <a:off x="605790" y="4706302"/>
              <a:ext cx="174421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(u64)restorer);
</a:t>
              </a:r>
            </a:p>
          </p:txBody>
        </p:sp>
        <p:sp>
          <p:nvSpPr>
            <p:cNvPr id="24" name="TextBox 24"/>
            <p:cNvSpPr txBox="1"/>
            <p:nvPr/>
          </p:nvSpPr>
          <p:spPr>
            <a:xfrm>
              <a:off x="605790" y="4953952"/>
              <a:ext cx="207392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fpregs_lock_and_load();</a:t>
              </a:r>
            </a:p>
          </p:txBody>
        </p:sp>
        <p:sp>
          <p:nvSpPr>
            <p:cNvPr id="25" name="TextBox 25"/>
            <p:cNvSpPr txBox="1"/>
            <p:nvPr/>
          </p:nvSpPr>
          <p:spPr>
            <a:xfrm>
              <a:off x="605790" y="5144452"/>
              <a:ext cx="284068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wrmsrq(</a:t>
              </a:r>
              <a:r>
                <a:rPr lang="zh-CN" sz="1050" dirty="0">
                  <a:solidFill>
                    <a:srgbClr val="AF00C0"/>
                  </a:solidFill>
                  <a:latin typeface="Consolas"/>
                  <a:ea typeface="Microsoft YaHei"/>
                  <a:cs typeface="Consolas"/>
                </a:rPr>
                <a:t>MSR_IA32_PL3_SSP</a:t>
              </a:r>
              <a:r>
                <a:rPr lang="zh-CN" sz="1050" dirty="0">
                  <a:solidFill>
                    <a:srgbClr val="E0E0E0"/>
                  </a:solidFill>
                  <a:latin typeface="Consolas"/>
                  <a:ea typeface="Microsoft YaHei"/>
                  <a:cs typeface="Consolas"/>
                </a:rPr>
                <a:t>, ssp);
</a:t>
              </a:r>
            </a:p>
          </p:txBody>
        </p:sp>
        <p:sp>
          <p:nvSpPr>
            <p:cNvPr id="26" name="TextBox 26"/>
            <p:cNvSpPr txBox="1"/>
            <p:nvPr/>
          </p:nvSpPr>
          <p:spPr>
            <a:xfrm>
              <a:off x="605790" y="5334952"/>
              <a:ext cx="152185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fpregs_unlock();</a:t>
              </a:r>
            </a:p>
          </p:txBody>
        </p:sp>
        <p:sp>
          <p:nvSpPr>
            <p:cNvPr id="27" name="TextBox 27"/>
            <p:cNvSpPr txBox="1"/>
            <p:nvPr/>
          </p:nvSpPr>
          <p:spPr>
            <a:xfrm>
              <a:off x="605790" y="5582602"/>
              <a:ext cx="101579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28" name="TextBox 28"/>
            <p:cNvSpPr txBox="1"/>
            <p:nvPr/>
          </p:nvSpPr>
          <p:spPr>
            <a:xfrm>
              <a:off x="605790" y="577310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grpSp>
      <p:grpSp>
        <p:nvGrpSpPr>
          <p:cNvPr id="34" name="Group 34"/>
          <p:cNvGrpSpPr/>
          <p:nvPr/>
        </p:nvGrpSpPr>
        <p:grpSpPr>
          <a:xfrm>
            <a:off x="7429500" y="1285875"/>
            <a:ext cx="4286250" cy="762000"/>
            <a:chOff x="7429500" y="1285875"/>
            <a:chExt cx="4286250" cy="762000"/>
          </a:xfrm>
        </p:grpSpPr>
        <p:sp>
          <p:nvSpPr>
            <p:cNvPr id="30" name="Rectangle 30"/>
            <p:cNvSpPr/>
            <p:nvPr/>
          </p:nvSpPr>
          <p:spPr>
            <a:xfrm>
              <a:off x="7429500" y="1285875"/>
              <a:ext cx="4286250" cy="762000"/>
            </a:xfrm>
            <a:prstGeom prst="roundRect">
              <a:avLst>
                <a:gd name="adj" fmla="val 10000"/>
              </a:avLst>
            </a:prstGeom>
            <a:solidFill>
              <a:srgbClr val="F5F0FF"/>
            </a:solidFill>
            <a:ln w="14288">
              <a:solidFill>
                <a:srgbClr val="AF00C0"/>
              </a:solidFill>
            </a:ln>
          </p:spPr>
        </p:sp>
        <p:sp>
          <p:nvSpPr>
            <p:cNvPr id="31" name="TextBox 31"/>
            <p:cNvSpPr txBox="1"/>
            <p:nvPr/>
          </p:nvSpPr>
          <p:spPr>
            <a:xfrm>
              <a:off x="7605712" y="1402556"/>
              <a:ext cx="2038451" cy="228600"/>
            </a:xfrm>
            <a:prstGeom prst="rect">
              <a:avLst/>
            </a:prstGeom>
            <a:noFill/>
            <a:ln>
              <a:noFill/>
            </a:ln>
          </p:spPr>
          <p:txBody>
            <a:bodyPr wrap="none" lIns="0" tIns="0" rIns="0" bIns="0" anchor="t" anchorCtr="0">
              <a:spAutoFit/>
            </a:bodyPr>
            <a:lstStyle/>
            <a:p>
              <a:pPr algn="l"/>
              <a:r>
                <a:rPr lang="zh-CN" sz="1125" b="1" dirty="0">
                  <a:solidFill>
                    <a:srgbClr val="AF00C0"/>
                  </a:solidFill>
                  <a:latin typeface="Arial"/>
                  <a:ea typeface="Microsoft YaHei"/>
                  <a:cs typeface="Arial"/>
                </a:rPr>
                <a:t>SHSTK_DATA_BIT (bit 63)</a:t>
              </a:r>
            </a:p>
          </p:txBody>
        </p:sp>
        <p:sp>
          <p:nvSpPr>
            <p:cNvPr id="32" name="TextBox 32"/>
            <p:cNvSpPr txBox="1"/>
            <p:nvPr/>
          </p:nvSpPr>
          <p:spPr>
            <a:xfrm>
              <a:off x="7607618" y="1637824"/>
              <a:ext cx="2182106"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Ensures token can never match</a:t>
              </a:r>
            </a:p>
          </p:txBody>
        </p:sp>
        <p:sp>
          <p:nvSpPr>
            <p:cNvPr id="33" name="TextBox 33"/>
            <p:cNvSpPr txBox="1"/>
            <p:nvPr/>
          </p:nvSpPr>
          <p:spPr>
            <a:xfrm>
              <a:off x="7607618" y="1809274"/>
              <a:ext cx="1719310"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a legitimate RET address</a:t>
              </a:r>
            </a:p>
          </p:txBody>
        </p:sp>
      </p:grpSp>
      <p:grpSp>
        <p:nvGrpSpPr>
          <p:cNvPr id="39" name="Group 39"/>
          <p:cNvGrpSpPr/>
          <p:nvPr/>
        </p:nvGrpSpPr>
        <p:grpSpPr>
          <a:xfrm>
            <a:off x="7429500" y="2171700"/>
            <a:ext cx="4286250" cy="762000"/>
            <a:chOff x="7429500" y="2171700"/>
            <a:chExt cx="4286250" cy="762000"/>
          </a:xfrm>
        </p:grpSpPr>
        <p:sp>
          <p:nvSpPr>
            <p:cNvPr id="35" name="Rectangle 35"/>
            <p:cNvSpPr/>
            <p:nvPr/>
          </p:nvSpPr>
          <p:spPr>
            <a:xfrm>
              <a:off x="7429500" y="2171700"/>
              <a:ext cx="4286250" cy="762000"/>
            </a:xfrm>
            <a:prstGeom prst="roundRect">
              <a:avLst>
                <a:gd name="adj" fmla="val 10000"/>
              </a:avLst>
            </a:prstGeom>
            <a:solidFill>
              <a:srgbClr val="F0FFF4"/>
            </a:solidFill>
            <a:ln w="14288">
              <a:solidFill>
                <a:srgbClr val="0AB36E"/>
              </a:solidFill>
            </a:ln>
          </p:spPr>
        </p:sp>
        <p:sp>
          <p:nvSpPr>
            <p:cNvPr id="36" name="TextBox 36"/>
            <p:cNvSpPr txBox="1"/>
            <p:nvPr/>
          </p:nvSpPr>
          <p:spPr>
            <a:xfrm>
              <a:off x="7605712" y="2288381"/>
              <a:ext cx="1072330"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sa_restorer</a:t>
              </a:r>
            </a:p>
          </p:txBody>
        </p:sp>
        <p:sp>
          <p:nvSpPr>
            <p:cNvPr id="37" name="TextBox 37"/>
            <p:cNvSpPr txBox="1"/>
            <p:nvPr/>
          </p:nvSpPr>
          <p:spPr>
            <a:xfrm>
              <a:off x="7607618" y="2523649"/>
              <a:ext cx="965008" cy="150041"/>
            </a:xfrm>
            <a:prstGeom prst="rect">
              <a:avLst/>
            </a:prstGeom>
            <a:noFill/>
            <a:ln>
              <a:noFill/>
            </a:ln>
          </p:spPr>
          <p:txBody>
            <a:bodyPr wrap="none" lIns="0" tIns="0" rIns="0" bIns="0" anchor="t" anchorCtr="0">
              <a:spAutoFit/>
            </a:bodyPr>
            <a:lstStyle/>
            <a:p>
              <a:pPr algn="l"/>
              <a:r>
                <a:rPr lang="zh-CN" sz="975" dirty="0">
                  <a:solidFill>
                    <a:srgbClr val="333333"/>
                  </a:solidFill>
                  <a:latin typeface="Consolas"/>
                  <a:ea typeface="Microsoft YaHei"/>
                  <a:cs typeface="Consolas"/>
                </a:rPr>
                <a:t>= __restore_rt</a:t>
              </a:r>
            </a:p>
          </p:txBody>
        </p:sp>
        <p:sp>
          <p:nvSpPr>
            <p:cNvPr id="38" name="TextBox 38"/>
            <p:cNvSpPr txBox="1"/>
            <p:nvPr/>
          </p:nvSpPr>
          <p:spPr>
            <a:xfrm>
              <a:off x="7607618" y="2714149"/>
              <a:ext cx="1811869"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Calls rt_sigreturn syscall</a:t>
              </a:r>
            </a:p>
          </p:txBody>
        </p:sp>
      </p:grpSp>
      <p:grpSp>
        <p:nvGrpSpPr>
          <p:cNvPr id="44" name="Group 44"/>
          <p:cNvGrpSpPr/>
          <p:nvPr/>
        </p:nvGrpSpPr>
        <p:grpSpPr>
          <a:xfrm>
            <a:off x="7429500" y="3057525"/>
            <a:ext cx="4286250" cy="762000"/>
            <a:chOff x="7429500" y="3057525"/>
            <a:chExt cx="4286250" cy="762000"/>
          </a:xfrm>
        </p:grpSpPr>
        <p:sp>
          <p:nvSpPr>
            <p:cNvPr id="40" name="Rectangle 40"/>
            <p:cNvSpPr/>
            <p:nvPr/>
          </p:nvSpPr>
          <p:spPr>
            <a:xfrm>
              <a:off x="7429500" y="3057525"/>
              <a:ext cx="4286250" cy="762000"/>
            </a:xfrm>
            <a:prstGeom prst="roundRect">
              <a:avLst>
                <a:gd name="adj" fmla="val 10000"/>
              </a:avLst>
            </a:prstGeom>
            <a:solidFill>
              <a:srgbClr val="F0FFF4"/>
            </a:solidFill>
            <a:ln w="14288">
              <a:solidFill>
                <a:srgbClr val="0AB36E"/>
              </a:solidFill>
            </a:ln>
          </p:spPr>
        </p:sp>
        <p:sp>
          <p:nvSpPr>
            <p:cNvPr id="41" name="TextBox 41"/>
            <p:cNvSpPr txBox="1"/>
            <p:nvPr/>
          </p:nvSpPr>
          <p:spPr>
            <a:xfrm>
              <a:off x="7605712" y="3174206"/>
              <a:ext cx="1796921"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Reverse on sigreturn</a:t>
              </a:r>
            </a:p>
          </p:txBody>
        </p:sp>
        <p:sp>
          <p:nvSpPr>
            <p:cNvPr id="42" name="TextBox 42"/>
            <p:cNvSpPr txBox="1"/>
            <p:nvPr/>
          </p:nvSpPr>
          <p:spPr>
            <a:xfrm>
              <a:off x="7607618" y="3409474"/>
              <a:ext cx="2253305" cy="198120"/>
            </a:xfrm>
            <a:prstGeom prst="rect">
              <a:avLst/>
            </a:prstGeom>
            <a:noFill/>
            <a:ln>
              <a:noFill/>
            </a:ln>
          </p:spPr>
          <p:txBody>
            <a:bodyPr wrap="none" lIns="0" tIns="0" rIns="0" bIns="0" anchor="t" anchorCtr="0">
              <a:spAutoFit/>
            </a:bodyPr>
            <a:lstStyle/>
            <a:p>
              <a:pPr algn="l"/>
              <a:r>
                <a:rPr lang="zh-CN" sz="975" dirty="0">
                  <a:solidFill>
                    <a:srgbClr val="333333"/>
                  </a:solidFill>
                  <a:latin typeface="Consolas"/>
                  <a:ea typeface="Microsoft YaHei"/>
                  <a:cs typeface="Consolas"/>
                </a:rPr>
                <a:t>restore_signal_shadow_stack()</a:t>
              </a:r>
            </a:p>
          </p:txBody>
        </p:sp>
        <p:sp>
          <p:nvSpPr>
            <p:cNvPr id="43" name="TextBox 43"/>
            <p:cNvSpPr txBox="1"/>
            <p:nvPr/>
          </p:nvSpPr>
          <p:spPr>
            <a:xfrm>
              <a:off x="7607618" y="3599974"/>
              <a:ext cx="2680502"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Validates token, restores original SSP</a:t>
              </a:r>
            </a:p>
          </p:txBody>
        </p:sp>
      </p:grpSp>
      <p:grpSp>
        <p:nvGrpSpPr>
          <p:cNvPr id="53" name="Group 53"/>
          <p:cNvGrpSpPr/>
          <p:nvPr/>
        </p:nvGrpSpPr>
        <p:grpSpPr>
          <a:xfrm>
            <a:off x="7429500" y="4000500"/>
            <a:ext cx="4286250" cy="1762125"/>
            <a:chOff x="7429500" y="4000500"/>
            <a:chExt cx="4286250" cy="1762125"/>
          </a:xfrm>
        </p:grpSpPr>
        <p:sp>
          <p:nvSpPr>
            <p:cNvPr id="45" name="Rectangle 45"/>
            <p:cNvSpPr/>
            <p:nvPr/>
          </p:nvSpPr>
          <p:spPr>
            <a:xfrm>
              <a:off x="7429500" y="4000500"/>
              <a:ext cx="4286250" cy="1762125"/>
            </a:xfrm>
            <a:prstGeom prst="roundRect">
              <a:avLst>
                <a:gd name="adj" fmla="val 4324"/>
              </a:avLst>
            </a:prstGeom>
            <a:solidFill>
              <a:srgbClr val="1E293B"/>
            </a:solidFill>
            <a:ln>
              <a:noFill/>
            </a:ln>
          </p:spPr>
        </p:sp>
        <p:sp>
          <p:nvSpPr>
            <p:cNvPr id="46" name="TextBox 46"/>
            <p:cNvSpPr txBox="1"/>
            <p:nvPr/>
          </p:nvSpPr>
          <p:spPr>
            <a:xfrm>
              <a:off x="8267103" y="4153852"/>
              <a:ext cx="2611043" cy="213360"/>
            </a:xfrm>
            <a:prstGeom prst="rect">
              <a:avLst/>
            </a:prstGeom>
            <a:noFill/>
            <a:ln>
              <a:noFill/>
            </a:ln>
          </p:spPr>
          <p:txBody>
            <a:bodyPr wrap="none" lIns="0" tIns="0" rIns="0" bIns="0" anchor="t" anchorCtr="0">
              <a:spAutoFit/>
            </a:bodyPr>
            <a:lstStyle/>
            <a:p>
              <a:pPr algn="ctr"/>
              <a:r>
                <a:rPr lang="zh-CN" sz="1050" b="1" dirty="0">
                  <a:solidFill>
                    <a:srgbClr val="0AB36E"/>
                  </a:solidFill>
                  <a:latin typeface="Arial"/>
                  <a:ea typeface="Microsoft YaHei"/>
                  <a:cs typeface="Arial"/>
                </a:rPr>
                <a:t>Shadow Stack State During Signal</a:t>
              </a:r>
            </a:p>
          </p:txBody>
        </p:sp>
        <p:sp>
          <p:nvSpPr>
            <p:cNvPr id="47" name="Rectangle 47"/>
            <p:cNvSpPr/>
            <p:nvPr/>
          </p:nvSpPr>
          <p:spPr>
            <a:xfrm>
              <a:off x="7762875" y="4429125"/>
              <a:ext cx="3619500" cy="285750"/>
            </a:xfrm>
            <a:prstGeom prst="roundRect">
              <a:avLst>
                <a:gd name="adj" fmla="val 10000"/>
              </a:avLst>
            </a:prstGeom>
            <a:solidFill>
              <a:srgbClr val="AF00C0">
                <a:alpha val="20000"/>
              </a:srgbClr>
            </a:solidFill>
            <a:ln w="9525">
              <a:solidFill>
                <a:srgbClr val="AF00C0"/>
              </a:solidFill>
            </a:ln>
          </p:spPr>
        </p:sp>
        <p:sp>
          <p:nvSpPr>
            <p:cNvPr id="48" name="TextBox 48"/>
            <p:cNvSpPr txBox="1"/>
            <p:nvPr/>
          </p:nvSpPr>
          <p:spPr>
            <a:xfrm>
              <a:off x="8470202" y="4522470"/>
              <a:ext cx="2204847"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Consolas"/>
                  <a:ea typeface="Microsoft YaHei"/>
                  <a:cs typeface="Consolas"/>
                </a:rPr>
                <a:t>sa_restorer addr (top, SSP here)</a:t>
              </a:r>
            </a:p>
          </p:txBody>
        </p:sp>
        <p:sp>
          <p:nvSpPr>
            <p:cNvPr id="49" name="Rectangle 49"/>
            <p:cNvSpPr/>
            <p:nvPr/>
          </p:nvSpPr>
          <p:spPr>
            <a:xfrm>
              <a:off x="7762875" y="4762500"/>
              <a:ext cx="3619500" cy="285750"/>
            </a:xfrm>
            <a:prstGeom prst="roundRect">
              <a:avLst>
                <a:gd name="adj" fmla="val 10000"/>
              </a:avLst>
            </a:prstGeom>
            <a:solidFill>
              <a:srgbClr val="F79646">
                <a:alpha val="20000"/>
              </a:srgbClr>
            </a:solidFill>
            <a:ln w="9525">
              <a:solidFill>
                <a:srgbClr val="F79646"/>
              </a:solidFill>
            </a:ln>
          </p:spPr>
        </p:sp>
        <p:sp>
          <p:nvSpPr>
            <p:cNvPr id="50" name="TextBox 50"/>
            <p:cNvSpPr txBox="1"/>
            <p:nvPr/>
          </p:nvSpPr>
          <p:spPr>
            <a:xfrm>
              <a:off x="8450485" y="4855845"/>
              <a:ext cx="224428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Consolas"/>
                  <a:ea typeface="Microsoft YaHei"/>
                  <a:cs typeface="Consolas"/>
                </a:rPr>
                <a:t>sigframe token (old_ssp | BIT(63))</a:t>
              </a:r>
            </a:p>
          </p:txBody>
        </p:sp>
        <p:sp>
          <p:nvSpPr>
            <p:cNvPr id="51" name="Rectangle 51"/>
            <p:cNvSpPr/>
            <p:nvPr/>
          </p:nvSpPr>
          <p:spPr>
            <a:xfrm>
              <a:off x="7762875" y="5095875"/>
              <a:ext cx="3619500" cy="285750"/>
            </a:xfrm>
            <a:prstGeom prst="roundRect">
              <a:avLst>
                <a:gd name="adj" fmla="val 10000"/>
              </a:avLst>
            </a:prstGeom>
            <a:solidFill>
              <a:srgbClr val="FFFFFF">
                <a:alpha val="10000"/>
              </a:srgbClr>
            </a:solidFill>
            <a:ln w="9525">
              <a:solidFill>
                <a:srgbClr val="FFFFFF">
                  <a:alpha val="30000"/>
                </a:srgbClr>
              </a:solidFill>
            </a:ln>
          </p:spPr>
        </p:sp>
        <p:sp>
          <p:nvSpPr>
            <p:cNvPr id="52" name="TextBox 52"/>
            <p:cNvSpPr txBox="1"/>
            <p:nvPr/>
          </p:nvSpPr>
          <p:spPr>
            <a:xfrm>
              <a:off x="8631222" y="5189220"/>
              <a:ext cx="1882807" cy="182880"/>
            </a:xfrm>
            <a:prstGeom prst="rect">
              <a:avLst/>
            </a:prstGeom>
            <a:noFill/>
            <a:ln>
              <a:noFill/>
            </a:ln>
          </p:spPr>
          <p:txBody>
            <a:bodyPr wrap="none" lIns="0" tIns="0" rIns="0" bIns="0" anchor="t" anchorCtr="0">
              <a:spAutoFit/>
            </a:bodyPr>
            <a:lstStyle/>
            <a:p>
              <a:pPr algn="ctr"/>
              <a:r>
                <a:rPr lang="zh-CN" sz="900" dirty="0">
                  <a:solidFill>
                    <a:srgbClr val="FFFFFF">
                      <a:alpha val="50000"/>
                    </a:srgbClr>
                  </a:solidFill>
                  <a:latin typeface="Consolas"/>
                  <a:ea typeface="Microsoft YaHei"/>
                  <a:cs typeface="Consolas"/>
                </a:rPr>
                <a:t>original return addresses...</a:t>
              </a:r>
            </a:p>
          </p:txBody>
        </p:sp>
      </p:grpSp>
      <p:grpSp>
        <p:nvGrpSpPr>
          <p:cNvPr id="56" name="Group 56"/>
          <p:cNvGrpSpPr/>
          <p:nvPr/>
        </p:nvGrpSpPr>
        <p:grpSpPr>
          <a:xfrm>
            <a:off x="10283883" y="5886450"/>
            <a:ext cx="1441392" cy="947738"/>
            <a:chOff x="10283883" y="5886450"/>
            <a:chExt cx="1441392" cy="947738"/>
          </a:xfrm>
        </p:grpSpPr>
        <p:pic>
          <p:nvPicPr>
            <p:cNvPr id="54" name="Image 54"/>
            <p:cNvPicPr>
              <a:picLocks noChangeAspect="1"/>
            </p:cNvPicPr>
            <p:nvPr/>
          </p:nvPicPr>
          <p:blipFill>
            <a:blip r:embed="rId4"/>
            <a:stretch>
              <a:fillRect/>
            </a:stretch>
          </p:blipFill>
          <p:spPr>
            <a:xfrm>
              <a:off x="10283883" y="5886450"/>
              <a:ext cx="1158759" cy="381000"/>
            </a:xfrm>
            <a:prstGeom prst="rect">
              <a:avLst/>
            </a:prstGeom>
          </p:spPr>
        </p:pic>
        <p:sp>
          <p:nvSpPr>
            <p:cNvPr id="55" name="TextBox 55"/>
            <p:cNvSpPr txBox="1"/>
            <p:nvPr/>
          </p:nvSpPr>
          <p:spPr>
            <a:xfrm>
              <a:off x="11613118" y="6681788"/>
              <a:ext cx="112157"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13</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barn(inVertical)">
                                      <p:cBhvr>
                                        <p:cTn id="11" dur="400"/>
                                        <p:tgtEl>
                                          <p:spTgt spid="34"/>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trips(downRight)">
                                      <p:cBhvr>
                                        <p:cTn id="15" dur="400"/>
                                        <p:tgtEl>
                                          <p:spTgt spid="39"/>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edge">
                                      <p:cBhvr>
                                        <p:cTn id="19" dur="400"/>
                                        <p:tgtEl>
                                          <p:spTgt spid="44"/>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heel(4)">
                                      <p:cBhvr>
                                        <p:cTn id="23"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4" grpId="0"/>
      <p:bldP spid="39" grpId="0"/>
      <p:bldP spid="44" grpId="0"/>
      <p:bldP spid="5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8507616"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Shadow Stack Lifecycle — Fork, Threads, vfork</a:t>
            </a:r>
          </a:p>
        </p:txBody>
      </p:sp>
      <p:grpSp>
        <p:nvGrpSpPr>
          <p:cNvPr id="28" name="Group 28"/>
          <p:cNvGrpSpPr/>
          <p:nvPr/>
        </p:nvGrpSpPr>
        <p:grpSpPr>
          <a:xfrm>
            <a:off x="476250" y="1285874"/>
            <a:ext cx="6096000" cy="4071938"/>
            <a:chOff x="476250" y="1285874"/>
            <a:chExt cx="6096000" cy="4071938"/>
          </a:xfrm>
        </p:grpSpPr>
        <p:sp>
          <p:nvSpPr>
            <p:cNvPr id="6" name="Rectangle 6"/>
            <p:cNvSpPr/>
            <p:nvPr/>
          </p:nvSpPr>
          <p:spPr>
            <a:xfrm>
              <a:off x="476250" y="1285874"/>
              <a:ext cx="6096000" cy="4071938"/>
            </a:xfrm>
            <a:prstGeom prst="roundRect">
              <a:avLst>
                <a:gd name="adj" fmla="val 2105"/>
              </a:avLst>
            </a:prstGeom>
            <a:solidFill>
              <a:srgbClr val="1E293B"/>
            </a:solidFill>
            <a:ln>
              <a:noFill/>
            </a:ln>
          </p:spPr>
        </p:sp>
        <p:sp>
          <p:nvSpPr>
            <p:cNvPr id="7" name="TextBox 7"/>
            <p:cNvSpPr txBox="1"/>
            <p:nvPr/>
          </p:nvSpPr>
          <p:spPr>
            <a:xfrm>
              <a:off x="608648" y="1415891"/>
              <a:ext cx="3262170" cy="167640"/>
            </a:xfrm>
            <a:prstGeom prst="rect">
              <a:avLst/>
            </a:prstGeom>
            <a:noFill/>
            <a:ln>
              <a:noFill/>
            </a:ln>
          </p:spPr>
          <p:txBody>
            <a:bodyPr wrap="none" lIns="0" tIns="0" rIns="0" bIns="0" anchor="t" anchorCtr="0">
              <a:spAutoFit/>
            </a:bodyPr>
            <a:lstStyle/>
            <a:p>
              <a:pPr algn="l"/>
              <a:r>
                <a:rPr lang="zh-CN" sz="825" dirty="0">
                  <a:solidFill>
                    <a:srgbClr val="6A9955"/>
                  </a:solidFill>
                  <a:latin typeface="Consolas"/>
                  <a:ea typeface="Microsoft YaHei"/>
                  <a:cs typeface="Consolas"/>
                </a:rPr>
                <a:t>// arch/x86/kernel/shstk.c, lines 186-226 (simplified)</a:t>
              </a:r>
            </a:p>
          </p:txBody>
        </p:sp>
        <p:sp>
          <p:nvSpPr>
            <p:cNvPr id="8" name="TextBox 8"/>
            <p:cNvSpPr txBox="1"/>
            <p:nvPr/>
          </p:nvSpPr>
          <p:spPr>
            <a:xfrm>
              <a:off x="605790" y="1658302"/>
              <a:ext cx="3170396"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unsigned</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long</a:t>
              </a:r>
              <a:r>
                <a:rPr lang="zh-CN" sz="1050" dirty="0">
                  <a:solidFill>
                    <a:srgbClr val="E0E0E0"/>
                  </a:solidFill>
                  <a:latin typeface="Consolas"/>
                  <a:ea typeface="Microsoft YaHei"/>
                  <a:cs typeface="Consolas"/>
                </a:rPr>
                <a:t> shstk_alloc_thread_stack(
</a:t>
              </a:r>
            </a:p>
          </p:txBody>
        </p:sp>
        <p:sp>
          <p:nvSpPr>
            <p:cNvPr id="9" name="TextBox 9"/>
            <p:cNvSpPr txBox="1"/>
            <p:nvPr/>
          </p:nvSpPr>
          <p:spPr>
            <a:xfrm>
              <a:off x="605790" y="1839278"/>
              <a:ext cx="22426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struct</a:t>
              </a:r>
              <a:r>
                <a:rPr lang="zh-CN" sz="1050" dirty="0">
                  <a:solidFill>
                    <a:srgbClr val="E0E0E0"/>
                  </a:solidFill>
                  <a:latin typeface="Consolas"/>
                  <a:ea typeface="Microsoft YaHei"/>
                  <a:cs typeface="Consolas"/>
                </a:rPr>
                <a:t> task_struct *tsk,
</a:t>
              </a:r>
            </a:p>
          </p:txBody>
        </p:sp>
        <p:sp>
          <p:nvSpPr>
            <p:cNvPr id="10" name="TextBox 10"/>
            <p:cNvSpPr txBox="1"/>
            <p:nvPr/>
          </p:nvSpPr>
          <p:spPr>
            <a:xfrm>
              <a:off x="605790" y="2020252"/>
              <a:ext cx="152952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u64 clone_flags,
</a:t>
              </a:r>
            </a:p>
          </p:txBody>
        </p:sp>
        <p:sp>
          <p:nvSpPr>
            <p:cNvPr id="11" name="TextBox 11"/>
            <p:cNvSpPr txBox="1"/>
            <p:nvPr/>
          </p:nvSpPr>
          <p:spPr>
            <a:xfrm>
              <a:off x="605790" y="2201228"/>
              <a:ext cx="221194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unsigned</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long</a:t>
              </a:r>
              <a:r>
                <a:rPr lang="zh-CN" sz="1050" dirty="0">
                  <a:solidFill>
                    <a:srgbClr val="E0E0E0"/>
                  </a:solidFill>
                  <a:latin typeface="Consolas"/>
                  <a:ea typeface="Microsoft YaHei"/>
                  <a:cs typeface="Consolas"/>
                </a:rPr>
                <a:t> stack_size)
</a:t>
              </a:r>
            </a:p>
          </p:txBody>
        </p:sp>
        <p:sp>
          <p:nvSpPr>
            <p:cNvPr id="12" name="TextBox 12"/>
            <p:cNvSpPr txBox="1"/>
            <p:nvPr/>
          </p:nvSpPr>
          <p:spPr>
            <a:xfrm>
              <a:off x="605790" y="238220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3" name="TextBox 13"/>
            <p:cNvSpPr txBox="1"/>
            <p:nvPr/>
          </p:nvSpPr>
          <p:spPr>
            <a:xfrm>
              <a:off x="605790" y="2563178"/>
              <a:ext cx="278701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if</a:t>
              </a:r>
              <a:r>
                <a:rPr lang="zh-CN" sz="1050" dirty="0">
                  <a:solidFill>
                    <a:srgbClr val="E0E0E0"/>
                  </a:solidFill>
                  <a:latin typeface="Consolas"/>
                  <a:ea typeface="Microsoft YaHei"/>
                  <a:cs typeface="Consolas"/>
                </a:rPr>
                <a:t> (clone_flags &amp; </a:t>
              </a:r>
              <a:r>
                <a:rPr lang="zh-CN" sz="1050" dirty="0">
                  <a:solidFill>
                    <a:srgbClr val="AF00C0"/>
                  </a:solidFill>
                  <a:latin typeface="Consolas"/>
                  <a:ea typeface="Microsoft YaHei"/>
                  <a:cs typeface="Consolas"/>
                </a:rPr>
                <a:t>CLONE_VFORK</a:t>
              </a:r>
              <a:r>
                <a:rPr lang="zh-CN" sz="1050" dirty="0">
                  <a:solidFill>
                    <a:srgbClr val="E0E0E0"/>
                  </a:solidFill>
                  <a:latin typeface="Consolas"/>
                  <a:ea typeface="Microsoft YaHei"/>
                  <a:cs typeface="Consolas"/>
                </a:rPr>
                <a:t>) {
</a:t>
              </a:r>
            </a:p>
          </p:txBody>
        </p:sp>
        <p:sp>
          <p:nvSpPr>
            <p:cNvPr id="14" name="TextBox 14"/>
            <p:cNvSpPr txBox="1"/>
            <p:nvPr/>
          </p:nvSpPr>
          <p:spPr>
            <a:xfrm>
              <a:off x="605790" y="2744152"/>
              <a:ext cx="175188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shstk-&gt;base =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15" name="TextBox 15"/>
            <p:cNvSpPr txBox="1"/>
            <p:nvPr/>
          </p:nvSpPr>
          <p:spPr>
            <a:xfrm>
              <a:off x="605790" y="2925128"/>
              <a:ext cx="205092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6A9955"/>
                  </a:solidFill>
                  <a:latin typeface="Consolas"/>
                  <a:ea typeface="Microsoft YaHei"/>
                  <a:cs typeface="Consolas"/>
                </a:rPr>
                <a:t>/* share parent's */</a:t>
              </a:r>
              <a:r>
                <a:rPr lang="zh-CN" sz="1050" dirty="0">
                  <a:solidFill>
                    <a:srgbClr val="E0E0E0"/>
                  </a:solidFill>
                  <a:latin typeface="Consolas"/>
                  <a:ea typeface="Microsoft YaHei"/>
                  <a:cs typeface="Consolas"/>
                </a:rPr>
                <a:t>
</a:t>
              </a:r>
            </a:p>
          </p:txBody>
        </p:sp>
        <p:sp>
          <p:nvSpPr>
            <p:cNvPr id="16" name="TextBox 16"/>
            <p:cNvSpPr txBox="1"/>
            <p:nvPr/>
          </p:nvSpPr>
          <p:spPr>
            <a:xfrm>
              <a:off x="605790" y="3106102"/>
              <a:ext cx="171354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shstk-&gt;size =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17" name="TextBox 17"/>
            <p:cNvSpPr txBox="1"/>
            <p:nvPr/>
          </p:nvSpPr>
          <p:spPr>
            <a:xfrm>
              <a:off x="605790" y="3287078"/>
              <a:ext cx="119981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18" name="TextBox 18"/>
            <p:cNvSpPr txBox="1"/>
            <p:nvPr/>
          </p:nvSpPr>
          <p:spPr>
            <a:xfrm>
              <a:off x="605790" y="3468052"/>
              <a:ext cx="29503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p>
          </p:txBody>
        </p:sp>
        <p:sp>
          <p:nvSpPr>
            <p:cNvPr id="19" name="TextBox 19"/>
            <p:cNvSpPr txBox="1"/>
            <p:nvPr/>
          </p:nvSpPr>
          <p:spPr>
            <a:xfrm>
              <a:off x="605790" y="3649028"/>
              <a:ext cx="261832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if</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clone_flags</a:t>
              </a:r>
              <a:r>
                <a:rPr lang="zh-CN" sz="1050" dirty="0">
                  <a:solidFill>
                    <a:srgbClr val="E0E0E0"/>
                  </a:solidFill>
                  <a:latin typeface="Consolas"/>
                  <a:ea typeface="Microsoft YaHei"/>
                  <a:cs typeface="Consolas"/>
                </a:rPr>
                <a:t> &amp; </a:t>
              </a:r>
              <a:r>
                <a:rPr lang="zh-CN" sz="1050" dirty="0">
                  <a:solidFill>
                    <a:srgbClr val="AF00C0"/>
                  </a:solidFill>
                  <a:latin typeface="Consolas"/>
                  <a:ea typeface="Microsoft YaHei"/>
                  <a:cs typeface="Consolas"/>
                </a:rPr>
                <a:t>CLONE_VM</a:t>
              </a:r>
              <a:r>
                <a:rPr lang="zh-CN" sz="1050" dirty="0">
                  <a:solidFill>
                    <a:srgbClr val="E0E0E0"/>
                  </a:solidFill>
                  <a:latin typeface="Consolas"/>
                  <a:ea typeface="Microsoft YaHei"/>
                  <a:cs typeface="Consolas"/>
                </a:rPr>
                <a:t>))
</a:t>
              </a:r>
            </a:p>
          </p:txBody>
        </p:sp>
        <p:sp>
          <p:nvSpPr>
            <p:cNvPr id="20" name="TextBox 20"/>
            <p:cNvSpPr txBox="1"/>
            <p:nvPr/>
          </p:nvSpPr>
          <p:spPr>
            <a:xfrm>
              <a:off x="605790" y="3830002"/>
              <a:ext cx="245730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r>
                <a:rPr lang="zh-CN" sz="1050" dirty="0">
                  <a:solidFill>
                    <a:srgbClr val="6A9955"/>
                  </a:solidFill>
                  <a:latin typeface="Consolas"/>
                  <a:ea typeface="Microsoft YaHei"/>
                  <a:cs typeface="Consolas"/>
                </a:rPr>
                <a:t>/* fork: COW */</a:t>
              </a:r>
              <a:r>
                <a:rPr lang="zh-CN" sz="1050" dirty="0">
                  <a:solidFill>
                    <a:srgbClr val="E0E0E0"/>
                  </a:solidFill>
                  <a:latin typeface="Consolas"/>
                  <a:ea typeface="Microsoft YaHei"/>
                  <a:cs typeface="Consolas"/>
                </a:rPr>
                <a:t>
</a:t>
              </a:r>
            </a:p>
          </p:txBody>
        </p:sp>
        <p:sp>
          <p:nvSpPr>
            <p:cNvPr id="21" name="TextBox 21"/>
            <p:cNvSpPr txBox="1"/>
            <p:nvPr/>
          </p:nvSpPr>
          <p:spPr>
            <a:xfrm>
              <a:off x="605790" y="4058602"/>
              <a:ext cx="2787015"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6A9955"/>
                  </a:solidFill>
                  <a:latin typeface="Consolas"/>
                  <a:ea typeface="Microsoft YaHei"/>
                  <a:cs typeface="Consolas"/>
                </a:rPr>
                <a:t>/* pthread_create: new stack */</a:t>
              </a:r>
              <a:r>
                <a:rPr lang="zh-CN" sz="1050" dirty="0">
                  <a:solidFill>
                    <a:srgbClr val="E0E0E0"/>
                  </a:solidFill>
                  <a:latin typeface="Consolas"/>
                  <a:ea typeface="Microsoft YaHei"/>
                  <a:cs typeface="Consolas"/>
                </a:rPr>
                <a:t>
</a:t>
              </a:r>
            </a:p>
          </p:txBody>
        </p:sp>
        <p:sp>
          <p:nvSpPr>
            <p:cNvPr id="22" name="TextBox 22"/>
            <p:cNvSpPr txBox="1"/>
            <p:nvPr/>
          </p:nvSpPr>
          <p:spPr>
            <a:xfrm>
              <a:off x="605790" y="4239578"/>
              <a:ext cx="310138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size = adjust_shstk_size(stack_size);</a:t>
              </a:r>
            </a:p>
          </p:txBody>
        </p:sp>
        <p:sp>
          <p:nvSpPr>
            <p:cNvPr id="23" name="TextBox 23"/>
            <p:cNvSpPr txBox="1"/>
            <p:nvPr/>
          </p:nvSpPr>
          <p:spPr>
            <a:xfrm>
              <a:off x="605790" y="4420552"/>
              <a:ext cx="3155061"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addr = alloc_shstk(</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size,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false</a:t>
              </a:r>
              <a:r>
                <a:rPr lang="zh-CN" sz="1050" dirty="0">
                  <a:solidFill>
                    <a:srgbClr val="E0E0E0"/>
                  </a:solidFill>
                  <a:latin typeface="Consolas"/>
                  <a:ea typeface="Microsoft YaHei"/>
                  <a:cs typeface="Consolas"/>
                </a:rPr>
                <a:t>);
</a:t>
              </a:r>
            </a:p>
          </p:txBody>
        </p:sp>
        <p:sp>
          <p:nvSpPr>
            <p:cNvPr id="24" name="TextBox 24"/>
            <p:cNvSpPr txBox="1"/>
            <p:nvPr/>
          </p:nvSpPr>
          <p:spPr>
            <a:xfrm>
              <a:off x="605790" y="4601528"/>
              <a:ext cx="1736550"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shstk-&gt;base = addr;</a:t>
              </a:r>
            </a:p>
          </p:txBody>
        </p:sp>
        <p:sp>
          <p:nvSpPr>
            <p:cNvPr id="25" name="TextBox 25"/>
            <p:cNvSpPr txBox="1"/>
            <p:nvPr/>
          </p:nvSpPr>
          <p:spPr>
            <a:xfrm>
              <a:off x="605790" y="4782502"/>
              <a:ext cx="165987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shstk-&gt;size = size;</a:t>
              </a:r>
            </a:p>
          </p:txBody>
        </p:sp>
        <p:sp>
          <p:nvSpPr>
            <p:cNvPr id="26" name="TextBox 26"/>
            <p:cNvSpPr txBox="1"/>
            <p:nvPr/>
          </p:nvSpPr>
          <p:spPr>
            <a:xfrm>
              <a:off x="605790" y="4963478"/>
              <a:ext cx="174421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addr + size;
</a:t>
              </a:r>
            </a:p>
          </p:txBody>
        </p:sp>
        <p:sp>
          <p:nvSpPr>
            <p:cNvPr id="27" name="TextBox 27"/>
            <p:cNvSpPr txBox="1"/>
            <p:nvPr/>
          </p:nvSpPr>
          <p:spPr>
            <a:xfrm>
              <a:off x="605790" y="51444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grpSp>
      <p:grpSp>
        <p:nvGrpSpPr>
          <p:cNvPr id="52" name="Group 52"/>
          <p:cNvGrpSpPr/>
          <p:nvPr/>
        </p:nvGrpSpPr>
        <p:grpSpPr>
          <a:xfrm>
            <a:off x="6858000" y="1285875"/>
            <a:ext cx="4857750" cy="2476500"/>
            <a:chOff x="6858000" y="1285875"/>
            <a:chExt cx="4857750" cy="2476500"/>
          </a:xfrm>
        </p:grpSpPr>
        <p:sp>
          <p:nvSpPr>
            <p:cNvPr id="29" name="Rectangle 29"/>
            <p:cNvSpPr/>
            <p:nvPr/>
          </p:nvSpPr>
          <p:spPr>
            <a:xfrm>
              <a:off x="6858000" y="1285875"/>
              <a:ext cx="4857750" cy="2476500"/>
            </a:xfrm>
            <a:prstGeom prst="roundRect">
              <a:avLst>
                <a:gd name="adj" fmla="val 3077"/>
              </a:avLst>
            </a:prstGeom>
            <a:solidFill>
              <a:srgbClr val="FFFFFF"/>
            </a:solidFill>
            <a:ln w="14288">
              <a:solidFill>
                <a:srgbClr val="0AB36E"/>
              </a:solidFill>
            </a:ln>
          </p:spPr>
        </p:sp>
        <p:sp>
          <p:nvSpPr>
            <p:cNvPr id="30" name="Rectangle 30"/>
            <p:cNvSpPr/>
            <p:nvPr/>
          </p:nvSpPr>
          <p:spPr>
            <a:xfrm>
              <a:off x="6858000" y="1285875"/>
              <a:ext cx="4857750" cy="381000"/>
            </a:xfrm>
            <a:prstGeom prst="roundRect">
              <a:avLst>
                <a:gd name="adj" fmla="val 20000"/>
              </a:avLst>
            </a:prstGeom>
            <a:solidFill>
              <a:srgbClr val="0AB36E"/>
            </a:solidFill>
            <a:ln>
              <a:noFill/>
            </a:ln>
          </p:spPr>
        </p:sp>
        <p:sp>
          <p:nvSpPr>
            <p:cNvPr id="31" name="Rectangle 31"/>
            <p:cNvSpPr/>
            <p:nvPr/>
          </p:nvSpPr>
          <p:spPr>
            <a:xfrm>
              <a:off x="6858000" y="1476375"/>
              <a:ext cx="4857750" cy="190500"/>
            </a:xfrm>
            <a:prstGeom prst="rect">
              <a:avLst/>
            </a:prstGeom>
            <a:solidFill>
              <a:srgbClr val="0AB36E"/>
            </a:solidFill>
            <a:ln>
              <a:noFill/>
            </a:ln>
          </p:spPr>
        </p:sp>
        <p:sp>
          <p:nvSpPr>
            <p:cNvPr id="32" name="TextBox 32"/>
            <p:cNvSpPr txBox="1"/>
            <p:nvPr/>
          </p:nvSpPr>
          <p:spPr>
            <a:xfrm>
              <a:off x="7511415" y="1429702"/>
              <a:ext cx="69490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Scenario</a:t>
              </a:r>
            </a:p>
          </p:txBody>
        </p:sp>
        <p:sp>
          <p:nvSpPr>
            <p:cNvPr id="33" name="TextBox 33"/>
            <p:cNvSpPr txBox="1"/>
            <p:nvPr/>
          </p:nvSpPr>
          <p:spPr>
            <a:xfrm>
              <a:off x="8749665" y="1429702"/>
              <a:ext cx="42922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Flags</a:t>
              </a:r>
            </a:p>
          </p:txBody>
        </p:sp>
        <p:sp>
          <p:nvSpPr>
            <p:cNvPr id="34" name="TextBox 34"/>
            <p:cNvSpPr txBox="1"/>
            <p:nvPr/>
          </p:nvSpPr>
          <p:spPr>
            <a:xfrm>
              <a:off x="10273665" y="1429702"/>
              <a:ext cx="517781"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Action</a:t>
              </a:r>
            </a:p>
          </p:txBody>
        </p:sp>
        <p:sp>
          <p:nvSpPr>
            <p:cNvPr id="35" name="Rectangle 35"/>
            <p:cNvSpPr/>
            <p:nvPr/>
          </p:nvSpPr>
          <p:spPr>
            <a:xfrm>
              <a:off x="7096125" y="1790700"/>
              <a:ext cx="666750" cy="266700"/>
            </a:xfrm>
            <a:prstGeom prst="roundRect">
              <a:avLst>
                <a:gd name="adj" fmla="val 14286"/>
              </a:avLst>
            </a:prstGeom>
            <a:solidFill>
              <a:srgbClr val="F0FFF4"/>
            </a:solidFill>
            <a:ln>
              <a:noFill/>
            </a:ln>
          </p:spPr>
        </p:sp>
        <p:sp>
          <p:nvSpPr>
            <p:cNvPr id="36" name="TextBox 36"/>
            <p:cNvSpPr txBox="1"/>
            <p:nvPr/>
          </p:nvSpPr>
          <p:spPr>
            <a:xfrm>
              <a:off x="7170412" y="1866424"/>
              <a:ext cx="518177" cy="198120"/>
            </a:xfrm>
            <a:prstGeom prst="rect">
              <a:avLst/>
            </a:prstGeom>
            <a:noFill/>
            <a:ln>
              <a:noFill/>
            </a:ln>
          </p:spPr>
          <p:txBody>
            <a:bodyPr wrap="none" lIns="0" tIns="0" rIns="0" bIns="0" anchor="t" anchorCtr="0">
              <a:spAutoFit/>
            </a:bodyPr>
            <a:lstStyle/>
            <a:p>
              <a:pPr algn="ctr"/>
              <a:r>
                <a:rPr lang="zh-CN" sz="975" b="1" dirty="0">
                  <a:solidFill>
                    <a:srgbClr val="0AB36E"/>
                  </a:solidFill>
                  <a:latin typeface="Consolas"/>
                  <a:ea typeface="Microsoft YaHei"/>
                  <a:cs typeface="Consolas"/>
                </a:rPr>
                <a:t>fork()</a:t>
              </a:r>
            </a:p>
          </p:txBody>
        </p:sp>
        <p:sp>
          <p:nvSpPr>
            <p:cNvPr id="37" name="TextBox 37"/>
            <p:cNvSpPr txBox="1"/>
            <p:nvPr/>
          </p:nvSpPr>
          <p:spPr>
            <a:xfrm>
              <a:off x="8751570" y="1874520"/>
              <a:ext cx="693230" cy="182880"/>
            </a:xfrm>
            <a:prstGeom prst="rect">
              <a:avLst/>
            </a:prstGeom>
            <a:noFill/>
            <a:ln>
              <a:noFill/>
            </a:ln>
          </p:spPr>
          <p:txBody>
            <a:bodyPr wrap="none" lIns="0" tIns="0" rIns="0" bIns="0" anchor="t" anchorCtr="0">
              <a:spAutoFit/>
            </a:bodyPr>
            <a:lstStyle/>
            <a:p>
              <a:pPr algn="l"/>
              <a:r>
                <a:rPr lang="zh-CN" sz="900" dirty="0">
                  <a:solidFill>
                    <a:srgbClr val="333333"/>
                  </a:solidFill>
                  <a:latin typeface="Consolas"/>
                  <a:ea typeface="Microsoft YaHei"/>
                  <a:cs typeface="Consolas"/>
                </a:rPr>
                <a:t>!CLONE_VM</a:t>
              </a:r>
            </a:p>
          </p:txBody>
        </p:sp>
        <p:sp>
          <p:nvSpPr>
            <p:cNvPr id="38" name="TextBox 38"/>
            <p:cNvSpPr txBox="1"/>
            <p:nvPr/>
          </p:nvSpPr>
          <p:spPr>
            <a:xfrm>
              <a:off x="10273665" y="1810702"/>
              <a:ext cx="724424"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COW copy</a:t>
              </a:r>
            </a:p>
          </p:txBody>
        </p:sp>
        <p:sp>
          <p:nvSpPr>
            <p:cNvPr id="39" name="TextBox 39"/>
            <p:cNvSpPr txBox="1"/>
            <p:nvPr/>
          </p:nvSpPr>
          <p:spPr>
            <a:xfrm>
              <a:off x="10275570" y="1998345"/>
              <a:ext cx="456628" cy="182880"/>
            </a:xfrm>
            <a:prstGeom prst="rect">
              <a:avLst/>
            </a:prstGeom>
            <a:noFill/>
            <a:ln>
              <a:noFill/>
            </a:ln>
          </p:spPr>
          <p:txBody>
            <a:bodyPr wrap="none" lIns="0" tIns="0" rIns="0" bIns="0" anchor="t" anchorCtr="0">
              <a:spAutoFit/>
            </a:bodyPr>
            <a:lstStyle/>
            <a:p>
              <a:pPr algn="l"/>
              <a:r>
                <a:rPr lang="zh-CN" sz="900" dirty="0">
                  <a:solidFill>
                    <a:srgbClr val="0AB36E"/>
                  </a:solidFill>
                  <a:latin typeface="Arial"/>
                  <a:ea typeface="Microsoft YaHei"/>
                  <a:cs typeface="Arial"/>
                </a:rPr>
                <a:t>(free)</a:t>
              </a:r>
            </a:p>
          </p:txBody>
        </p:sp>
        <p:sp>
          <p:nvSpPr>
            <p:cNvPr id="40" name="Line 40"/>
            <p:cNvSpPr/>
            <p:nvPr/>
          </p:nvSpPr>
          <p:spPr>
            <a:xfrm>
              <a:off x="7096125" y="2228850"/>
              <a:ext cx="4429125" cy="9525"/>
            </a:xfrm>
            <a:custGeom>
              <a:avLst/>
              <a:gdLst/>
              <a:ahLst/>
              <a:cxnLst/>
              <a:rect l="l" t="t" r="r" b="b"/>
              <a:pathLst>
                <a:path w="4429125" h="9525">
                  <a:moveTo>
                    <a:pt x="0" y="0"/>
                  </a:moveTo>
                  <a:lnTo>
                    <a:pt x="4429125" y="0"/>
                  </a:lnTo>
                </a:path>
              </a:pathLst>
            </a:custGeom>
            <a:noFill/>
            <a:ln w="9525">
              <a:solidFill>
                <a:srgbClr val="E0E0E0"/>
              </a:solidFill>
            </a:ln>
          </p:spPr>
        </p:sp>
        <p:sp>
          <p:nvSpPr>
            <p:cNvPr id="41" name="Rectangle 41"/>
            <p:cNvSpPr/>
            <p:nvPr/>
          </p:nvSpPr>
          <p:spPr>
            <a:xfrm>
              <a:off x="7096125" y="2362200"/>
              <a:ext cx="666750" cy="266700"/>
            </a:xfrm>
            <a:prstGeom prst="roundRect">
              <a:avLst>
                <a:gd name="adj" fmla="val 14286"/>
              </a:avLst>
            </a:prstGeom>
            <a:solidFill>
              <a:srgbClr val="F5F0FF"/>
            </a:solidFill>
            <a:ln>
              <a:noFill/>
            </a:ln>
          </p:spPr>
        </p:sp>
        <p:sp>
          <p:nvSpPr>
            <p:cNvPr id="42" name="TextBox 42"/>
            <p:cNvSpPr txBox="1"/>
            <p:nvPr/>
          </p:nvSpPr>
          <p:spPr>
            <a:xfrm>
              <a:off x="7129294" y="2437924"/>
              <a:ext cx="600412" cy="198120"/>
            </a:xfrm>
            <a:prstGeom prst="rect">
              <a:avLst/>
            </a:prstGeom>
            <a:noFill/>
            <a:ln>
              <a:noFill/>
            </a:ln>
          </p:spPr>
          <p:txBody>
            <a:bodyPr wrap="none" lIns="0" tIns="0" rIns="0" bIns="0" anchor="t" anchorCtr="0">
              <a:spAutoFit/>
            </a:bodyPr>
            <a:lstStyle/>
            <a:p>
              <a:pPr algn="ctr"/>
              <a:r>
                <a:rPr lang="zh-CN" sz="975" b="1" dirty="0">
                  <a:solidFill>
                    <a:srgbClr val="AF00C0"/>
                  </a:solidFill>
                  <a:latin typeface="Consolas"/>
                  <a:ea typeface="Microsoft YaHei"/>
                  <a:cs typeface="Consolas"/>
                </a:rPr>
                <a:t>vfork()</a:t>
              </a:r>
            </a:p>
          </p:txBody>
        </p:sp>
        <p:sp>
          <p:nvSpPr>
            <p:cNvPr id="43" name="TextBox 43"/>
            <p:cNvSpPr txBox="1"/>
            <p:nvPr/>
          </p:nvSpPr>
          <p:spPr>
            <a:xfrm>
              <a:off x="8751570" y="2446020"/>
              <a:ext cx="870680" cy="182880"/>
            </a:xfrm>
            <a:prstGeom prst="rect">
              <a:avLst/>
            </a:prstGeom>
            <a:noFill/>
            <a:ln>
              <a:noFill/>
            </a:ln>
          </p:spPr>
          <p:txBody>
            <a:bodyPr wrap="none" lIns="0" tIns="0" rIns="0" bIns="0" anchor="t" anchorCtr="0">
              <a:spAutoFit/>
            </a:bodyPr>
            <a:lstStyle/>
            <a:p>
              <a:pPr algn="l"/>
              <a:r>
                <a:rPr lang="zh-CN" sz="900" dirty="0">
                  <a:solidFill>
                    <a:srgbClr val="333333"/>
                  </a:solidFill>
                  <a:latin typeface="Consolas"/>
                  <a:ea typeface="Microsoft YaHei"/>
                  <a:cs typeface="Consolas"/>
                </a:rPr>
                <a:t>CLONE_VFORK</a:t>
              </a:r>
            </a:p>
          </p:txBody>
        </p:sp>
        <p:sp>
          <p:nvSpPr>
            <p:cNvPr id="44" name="TextBox 44"/>
            <p:cNvSpPr txBox="1"/>
            <p:nvPr/>
          </p:nvSpPr>
          <p:spPr>
            <a:xfrm>
              <a:off x="10273665" y="2382202"/>
              <a:ext cx="1169146"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Share parent's</a:t>
              </a:r>
            </a:p>
          </p:txBody>
        </p:sp>
        <p:sp>
          <p:nvSpPr>
            <p:cNvPr id="45" name="TextBox 45"/>
            <p:cNvSpPr txBox="1"/>
            <p:nvPr/>
          </p:nvSpPr>
          <p:spPr>
            <a:xfrm>
              <a:off x="10275570" y="2569845"/>
              <a:ext cx="969264" cy="182880"/>
            </a:xfrm>
            <a:prstGeom prst="rect">
              <a:avLst/>
            </a:prstGeom>
            <a:noFill/>
            <a:ln>
              <a:noFill/>
            </a:ln>
          </p:spPr>
          <p:txBody>
            <a:bodyPr wrap="none" lIns="0" tIns="0" rIns="0" bIns="0" anchor="t" anchorCtr="0">
              <a:spAutoFit/>
            </a:bodyPr>
            <a:lstStyle/>
            <a:p>
              <a:pPr algn="l"/>
              <a:r>
                <a:rPr lang="zh-CN" sz="900" dirty="0">
                  <a:solidFill>
                    <a:srgbClr val="AF00C0"/>
                  </a:solidFill>
                  <a:latin typeface="Arial"/>
                  <a:ea typeface="Microsoft YaHei"/>
                  <a:cs typeface="Arial"/>
                </a:rPr>
                <a:t>base=0, size=0</a:t>
              </a:r>
            </a:p>
          </p:txBody>
        </p:sp>
        <p:sp>
          <p:nvSpPr>
            <p:cNvPr id="46" name="Line 46"/>
            <p:cNvSpPr/>
            <p:nvPr/>
          </p:nvSpPr>
          <p:spPr>
            <a:xfrm>
              <a:off x="7096125" y="2809875"/>
              <a:ext cx="4429125" cy="9525"/>
            </a:xfrm>
            <a:custGeom>
              <a:avLst/>
              <a:gdLst/>
              <a:ahLst/>
              <a:cxnLst/>
              <a:rect l="l" t="t" r="r" b="b"/>
              <a:pathLst>
                <a:path w="4429125" h="9525">
                  <a:moveTo>
                    <a:pt x="0" y="0"/>
                  </a:moveTo>
                  <a:lnTo>
                    <a:pt x="4429125" y="0"/>
                  </a:lnTo>
                </a:path>
              </a:pathLst>
            </a:custGeom>
            <a:noFill/>
            <a:ln w="9525">
              <a:solidFill>
                <a:srgbClr val="E0E0E0"/>
              </a:solidFill>
            </a:ln>
          </p:spPr>
        </p:sp>
        <p:sp>
          <p:nvSpPr>
            <p:cNvPr id="47" name="Rectangle 47"/>
            <p:cNvSpPr/>
            <p:nvPr/>
          </p:nvSpPr>
          <p:spPr>
            <a:xfrm>
              <a:off x="7096125" y="2933700"/>
              <a:ext cx="1047750" cy="266700"/>
            </a:xfrm>
            <a:prstGeom prst="roundRect">
              <a:avLst>
                <a:gd name="adj" fmla="val 14286"/>
              </a:avLst>
            </a:prstGeom>
            <a:solidFill>
              <a:srgbClr val="FFF5F5"/>
            </a:solidFill>
            <a:ln>
              <a:noFill/>
            </a:ln>
          </p:spPr>
        </p:sp>
        <p:sp>
          <p:nvSpPr>
            <p:cNvPr id="48" name="TextBox 48"/>
            <p:cNvSpPr txBox="1"/>
            <p:nvPr/>
          </p:nvSpPr>
          <p:spPr>
            <a:xfrm>
              <a:off x="7001294" y="3017520"/>
              <a:ext cx="1237412" cy="182880"/>
            </a:xfrm>
            <a:prstGeom prst="rect">
              <a:avLst/>
            </a:prstGeom>
            <a:noFill/>
            <a:ln>
              <a:noFill/>
            </a:ln>
          </p:spPr>
          <p:txBody>
            <a:bodyPr wrap="none" lIns="0" tIns="0" rIns="0" bIns="0" anchor="t" anchorCtr="0">
              <a:spAutoFit/>
            </a:bodyPr>
            <a:lstStyle/>
            <a:p>
              <a:pPr algn="ctr"/>
              <a:r>
                <a:rPr lang="zh-CN" sz="900" b="1" dirty="0">
                  <a:solidFill>
                    <a:srgbClr val="EF4444"/>
                  </a:solidFill>
                  <a:latin typeface="Consolas"/>
                  <a:ea typeface="Microsoft YaHei"/>
                  <a:cs typeface="Consolas"/>
                </a:rPr>
                <a:t>pthread_create()</a:t>
              </a:r>
            </a:p>
          </p:txBody>
        </p:sp>
        <p:sp>
          <p:nvSpPr>
            <p:cNvPr id="49" name="TextBox 49"/>
            <p:cNvSpPr txBox="1"/>
            <p:nvPr/>
          </p:nvSpPr>
          <p:spPr>
            <a:xfrm>
              <a:off x="8751570" y="3017520"/>
              <a:ext cx="653796" cy="182880"/>
            </a:xfrm>
            <a:prstGeom prst="rect">
              <a:avLst/>
            </a:prstGeom>
            <a:noFill/>
            <a:ln>
              <a:noFill/>
            </a:ln>
          </p:spPr>
          <p:txBody>
            <a:bodyPr wrap="none" lIns="0" tIns="0" rIns="0" bIns="0" anchor="t" anchorCtr="0">
              <a:spAutoFit/>
            </a:bodyPr>
            <a:lstStyle/>
            <a:p>
              <a:pPr algn="l"/>
              <a:r>
                <a:rPr lang="zh-CN" sz="900" dirty="0">
                  <a:solidFill>
                    <a:srgbClr val="333333"/>
                  </a:solidFill>
                  <a:latin typeface="Consolas"/>
                  <a:ea typeface="Microsoft YaHei"/>
                  <a:cs typeface="Consolas"/>
                </a:rPr>
                <a:t>CLONE_VM</a:t>
              </a:r>
            </a:p>
          </p:txBody>
        </p:sp>
        <p:sp>
          <p:nvSpPr>
            <p:cNvPr id="50" name="TextBox 50"/>
            <p:cNvSpPr txBox="1"/>
            <p:nvPr/>
          </p:nvSpPr>
          <p:spPr>
            <a:xfrm>
              <a:off x="10273665" y="2953702"/>
              <a:ext cx="954453"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Allocate new</a:t>
              </a:r>
            </a:p>
          </p:txBody>
        </p:sp>
        <p:sp>
          <p:nvSpPr>
            <p:cNvPr id="51" name="TextBox 51"/>
            <p:cNvSpPr txBox="1"/>
            <p:nvPr/>
          </p:nvSpPr>
          <p:spPr>
            <a:xfrm>
              <a:off x="10275570" y="3141345"/>
              <a:ext cx="1186148" cy="182880"/>
            </a:xfrm>
            <a:prstGeom prst="rect">
              <a:avLst/>
            </a:prstGeom>
            <a:noFill/>
            <a:ln>
              <a:noFill/>
            </a:ln>
          </p:spPr>
          <p:txBody>
            <a:bodyPr wrap="none" lIns="0" tIns="0" rIns="0" bIns="0" anchor="t" anchorCtr="0">
              <a:spAutoFit/>
            </a:bodyPr>
            <a:lstStyle/>
            <a:p>
              <a:pPr algn="l"/>
              <a:r>
                <a:rPr lang="zh-CN" sz="900" dirty="0">
                  <a:solidFill>
                    <a:srgbClr val="EF4444"/>
                  </a:solidFill>
                  <a:latin typeface="Arial"/>
                  <a:ea typeface="Microsoft YaHei"/>
                  <a:cs typeface="Arial"/>
                </a:rPr>
                <a:t>returns addr+size</a:t>
              </a:r>
            </a:p>
          </p:txBody>
        </p:sp>
      </p:grpSp>
      <p:grpSp>
        <p:nvGrpSpPr>
          <p:cNvPr id="56" name="Group 56"/>
          <p:cNvGrpSpPr/>
          <p:nvPr/>
        </p:nvGrpSpPr>
        <p:grpSpPr>
          <a:xfrm>
            <a:off x="6858000" y="3905250"/>
            <a:ext cx="4857750" cy="666750"/>
            <a:chOff x="6858000" y="3905250"/>
            <a:chExt cx="4857750" cy="666750"/>
          </a:xfrm>
        </p:grpSpPr>
        <p:sp>
          <p:nvSpPr>
            <p:cNvPr id="53" name="Rectangle 53"/>
            <p:cNvSpPr/>
            <p:nvPr/>
          </p:nvSpPr>
          <p:spPr>
            <a:xfrm>
              <a:off x="6858000" y="3905250"/>
              <a:ext cx="4857750" cy="666750"/>
            </a:xfrm>
            <a:prstGeom prst="roundRect">
              <a:avLst>
                <a:gd name="adj" fmla="val 11429"/>
              </a:avLst>
            </a:prstGeom>
            <a:solidFill>
              <a:srgbClr val="1E293B"/>
            </a:solidFill>
            <a:ln>
              <a:noFill/>
            </a:ln>
          </p:spPr>
        </p:sp>
        <p:sp>
          <p:nvSpPr>
            <p:cNvPr id="54" name="TextBox 54"/>
            <p:cNvSpPr txBox="1"/>
            <p:nvPr/>
          </p:nvSpPr>
          <p:spPr>
            <a:xfrm>
              <a:off x="8387929" y="4058602"/>
              <a:ext cx="1797891" cy="213360"/>
            </a:xfrm>
            <a:prstGeom prst="rect">
              <a:avLst/>
            </a:prstGeom>
            <a:noFill/>
            <a:ln>
              <a:noFill/>
            </a:ln>
          </p:spPr>
          <p:txBody>
            <a:bodyPr wrap="none" lIns="0" tIns="0" rIns="0" bIns="0" anchor="t" anchorCtr="0">
              <a:spAutoFit/>
            </a:bodyPr>
            <a:lstStyle/>
            <a:p>
              <a:pPr algn="ctr"/>
              <a:r>
                <a:rPr lang="zh-CN" sz="1050" b="1" dirty="0">
                  <a:solidFill>
                    <a:srgbClr val="0AB36E"/>
                  </a:solidFill>
                  <a:latin typeface="Arial"/>
                  <a:ea typeface="Microsoft YaHei"/>
                  <a:cs typeface="Arial"/>
                </a:rPr>
                <a:t>Why base=0 for vfork?</a:t>
              </a:r>
            </a:p>
          </p:txBody>
        </p:sp>
        <p:sp>
          <p:nvSpPr>
            <p:cNvPr id="55" name="TextBox 55"/>
            <p:cNvSpPr txBox="1"/>
            <p:nvPr/>
          </p:nvSpPr>
          <p:spPr>
            <a:xfrm>
              <a:off x="6946273" y="4295299"/>
              <a:ext cx="468120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Prevents shstk_free() from unmapping the parent's shadow stack</a:t>
              </a:r>
            </a:p>
          </p:txBody>
        </p:sp>
      </p:grpSp>
      <p:grpSp>
        <p:nvGrpSpPr>
          <p:cNvPr id="60" name="Group 60"/>
          <p:cNvGrpSpPr/>
          <p:nvPr/>
        </p:nvGrpSpPr>
        <p:grpSpPr>
          <a:xfrm>
            <a:off x="222218" y="5404485"/>
            <a:ext cx="11239500" cy="619125"/>
            <a:chOff x="476250" y="5143500"/>
            <a:chExt cx="11239500" cy="619125"/>
          </a:xfrm>
        </p:grpSpPr>
        <p:sp>
          <p:nvSpPr>
            <p:cNvPr id="57" name="Rectangle 57"/>
            <p:cNvSpPr/>
            <p:nvPr/>
          </p:nvSpPr>
          <p:spPr>
            <a:xfrm>
              <a:off x="476250" y="5143500"/>
              <a:ext cx="11239500" cy="619125"/>
            </a:xfrm>
            <a:prstGeom prst="roundRect">
              <a:avLst>
                <a:gd name="adj" fmla="val 12308"/>
              </a:avLst>
            </a:prstGeom>
            <a:solidFill>
              <a:srgbClr val="F8F8F8"/>
            </a:solidFill>
            <a:ln w="9525">
              <a:solidFill>
                <a:srgbClr val="0AB36E">
                  <a:alpha val="30000"/>
                </a:srgbClr>
              </a:solidFill>
            </a:ln>
          </p:spPr>
        </p:sp>
        <p:sp>
          <p:nvSpPr>
            <p:cNvPr id="58" name="TextBox 58"/>
            <p:cNvSpPr txBox="1"/>
            <p:nvPr/>
          </p:nvSpPr>
          <p:spPr>
            <a:xfrm>
              <a:off x="3276183" y="5307806"/>
              <a:ext cx="5639633" cy="228600"/>
            </a:xfrm>
            <a:prstGeom prst="rect">
              <a:avLst/>
            </a:prstGeom>
            <a:noFill/>
            <a:ln>
              <a:noFill/>
            </a:ln>
          </p:spPr>
          <p:txBody>
            <a:bodyPr wrap="none" lIns="0" tIns="0" rIns="0" bIns="0" anchor="t" anchorCtr="0">
              <a:spAutoFit/>
            </a:bodyPr>
            <a:lstStyle/>
            <a:p>
              <a:pPr algn="ctr"/>
              <a:r>
                <a:rPr lang="zh-CN" sz="1125" dirty="0">
                  <a:solidFill>
                    <a:srgbClr val="000000"/>
                  </a:solidFill>
                  <a:latin typeface="Arial"/>
                  <a:ea typeface="Microsoft YaHei"/>
                  <a:cs typeface="Arial"/>
                </a:rPr>
                <a:t>Returned SSP is stored into child's XSAVE area by </a:t>
              </a:r>
              <a:r>
                <a:rPr lang="zh-CN" sz="1125" dirty="0">
                  <a:solidFill>
                    <a:srgbClr val="AF00C0"/>
                  </a:solidFill>
                  <a:latin typeface="Consolas"/>
                  <a:ea typeface="Microsoft YaHei"/>
                  <a:cs typeface="Consolas"/>
                </a:rPr>
                <a:t>update_fpu_shstk()</a:t>
              </a:r>
            </a:p>
          </p:txBody>
        </p:sp>
        <p:sp>
          <p:nvSpPr>
            <p:cNvPr id="59" name="TextBox 59"/>
            <p:cNvSpPr txBox="1"/>
            <p:nvPr/>
          </p:nvSpPr>
          <p:spPr>
            <a:xfrm>
              <a:off x="3531120" y="5533549"/>
              <a:ext cx="5129760" cy="198120"/>
            </a:xfrm>
            <a:prstGeom prst="rect">
              <a:avLst/>
            </a:prstGeom>
            <a:noFill/>
            <a:ln>
              <a:noFill/>
            </a:ln>
          </p:spPr>
          <p:txBody>
            <a:bodyPr wrap="none" lIns="0" tIns="0" rIns="0" bIns="0" anchor="t" anchorCtr="0">
              <a:spAutoFit/>
            </a:bodyPr>
            <a:lstStyle/>
            <a:p>
              <a:pPr algn="ctr"/>
              <a:r>
                <a:rPr lang="zh-CN" sz="975" dirty="0">
                  <a:solidFill>
                    <a:srgbClr val="333333"/>
                  </a:solidFill>
                  <a:latin typeface="Arial"/>
                  <a:ea typeface="Microsoft YaHei"/>
                  <a:cs typeface="Arial"/>
                </a:rPr>
                <a:t>Child resumes with correct shadow stack pointer on first context switch</a:t>
              </a:r>
            </a:p>
          </p:txBody>
        </p:sp>
      </p:grpSp>
      <p:grpSp>
        <p:nvGrpSpPr>
          <p:cNvPr id="63" name="Group 63"/>
          <p:cNvGrpSpPr/>
          <p:nvPr/>
        </p:nvGrpSpPr>
        <p:grpSpPr>
          <a:xfrm>
            <a:off x="10283883" y="5886450"/>
            <a:ext cx="1441392" cy="947738"/>
            <a:chOff x="10283883" y="5886450"/>
            <a:chExt cx="1441392" cy="947738"/>
          </a:xfrm>
        </p:grpSpPr>
        <p:pic>
          <p:nvPicPr>
            <p:cNvPr id="61" name="Image 61"/>
            <p:cNvPicPr>
              <a:picLocks noChangeAspect="1"/>
            </p:cNvPicPr>
            <p:nvPr/>
          </p:nvPicPr>
          <p:blipFill>
            <a:blip r:embed="rId4"/>
            <a:stretch>
              <a:fillRect/>
            </a:stretch>
          </p:blipFill>
          <p:spPr>
            <a:xfrm>
              <a:off x="10283883" y="5886450"/>
              <a:ext cx="1158759" cy="381000"/>
            </a:xfrm>
            <a:prstGeom prst="rect">
              <a:avLst/>
            </a:prstGeom>
          </p:spPr>
        </p:pic>
        <p:sp>
          <p:nvSpPr>
            <p:cNvPr id="62" name="TextBox 62"/>
            <p:cNvSpPr txBox="1"/>
            <p:nvPr/>
          </p:nvSpPr>
          <p:spPr>
            <a:xfrm>
              <a:off x="11613118" y="6681788"/>
              <a:ext cx="112157"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14</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wipe(left)">
                                      <p:cBhvr>
                                        <p:cTn id="11" dur="400"/>
                                        <p:tgtEl>
                                          <p:spTgt spid="52"/>
                                        </p:tgtEl>
                                      </p:cBhvr>
                                    </p:animEffect>
                                  </p:childTnLst>
                                </p:cTn>
                              </p:par>
                            </p:childTnLst>
                          </p:cTn>
                        </p:par>
                        <p:par>
                          <p:cTn id="12" fill="hold">
                            <p:stCondLst>
                              <p:cond delay="1800"/>
                            </p:stCondLst>
                            <p:childTnLst>
                              <p:par>
                                <p:cTn id="13" presetID="50" presetClass="entr" presetSubtype="0" fill="hold"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stretch(across)">
                                      <p:cBhvr>
                                        <p:cTn id="15" dur="400"/>
                                        <p:tgtEl>
                                          <p:spTgt spid="56"/>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52" grpId="0"/>
      <p:bldP spid="56" grpId="0"/>
      <p:bldP spid="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4735144"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SSP During Context Switch</a:t>
            </a:r>
          </a:p>
        </p:txBody>
      </p:sp>
      <p:grpSp>
        <p:nvGrpSpPr>
          <p:cNvPr id="22" name="Group 22"/>
          <p:cNvGrpSpPr/>
          <p:nvPr/>
        </p:nvGrpSpPr>
        <p:grpSpPr>
          <a:xfrm>
            <a:off x="476250" y="1285875"/>
            <a:ext cx="5810250" cy="3252787"/>
            <a:chOff x="476250" y="1285875"/>
            <a:chExt cx="5810250" cy="3252787"/>
          </a:xfrm>
        </p:grpSpPr>
        <p:sp>
          <p:nvSpPr>
            <p:cNvPr id="6" name="Rectangle 6"/>
            <p:cNvSpPr/>
            <p:nvPr/>
          </p:nvSpPr>
          <p:spPr>
            <a:xfrm>
              <a:off x="476250" y="1285875"/>
              <a:ext cx="5810250" cy="3238500"/>
            </a:xfrm>
            <a:prstGeom prst="roundRect">
              <a:avLst>
                <a:gd name="adj" fmla="val 2353"/>
              </a:avLst>
            </a:prstGeom>
            <a:solidFill>
              <a:srgbClr val="1E293B"/>
            </a:solidFill>
            <a:ln>
              <a:noFill/>
            </a:ln>
          </p:spPr>
        </p:sp>
        <p:sp>
          <p:nvSpPr>
            <p:cNvPr id="7" name="TextBox 7"/>
            <p:cNvSpPr txBox="1"/>
            <p:nvPr/>
          </p:nvSpPr>
          <p:spPr>
            <a:xfrm>
              <a:off x="608648" y="1415891"/>
              <a:ext cx="2756106" cy="167640"/>
            </a:xfrm>
            <a:prstGeom prst="rect">
              <a:avLst/>
            </a:prstGeom>
            <a:noFill/>
            <a:ln>
              <a:noFill/>
            </a:ln>
          </p:spPr>
          <p:txBody>
            <a:bodyPr wrap="none" lIns="0" tIns="0" rIns="0" bIns="0" anchor="t" anchorCtr="0">
              <a:spAutoFit/>
            </a:bodyPr>
            <a:lstStyle/>
            <a:p>
              <a:pPr algn="l"/>
              <a:r>
                <a:rPr lang="zh-CN" sz="825" dirty="0">
                  <a:solidFill>
                    <a:srgbClr val="6A9955"/>
                  </a:solidFill>
                  <a:latin typeface="Consolas"/>
                  <a:ea typeface="Microsoft YaHei"/>
                  <a:cs typeface="Consolas"/>
                </a:rPr>
                <a:t>// arch/x86/kernel/fpu/core.c, lines 634-658</a:t>
              </a:r>
            </a:p>
          </p:txBody>
        </p:sp>
        <p:sp>
          <p:nvSpPr>
            <p:cNvPr id="8" name="TextBox 8"/>
            <p:cNvSpPr txBox="1"/>
            <p:nvPr/>
          </p:nvSpPr>
          <p:spPr>
            <a:xfrm>
              <a:off x="605790" y="1677352"/>
              <a:ext cx="2319290" cy="213360"/>
            </a:xfrm>
            <a:prstGeom prst="rect">
              <a:avLst/>
            </a:prstGeom>
            <a:noFill/>
            <a:ln>
              <a:noFill/>
            </a:ln>
          </p:spPr>
          <p:txBody>
            <a:bodyPr wrap="none" lIns="0" tIns="0" rIns="0" bIns="0" anchor="t" anchorCtr="0">
              <a:spAutoFit/>
            </a:bodyPr>
            <a:lstStyle/>
            <a:p>
              <a:pPr algn="l"/>
              <a:r>
                <a:rPr lang="zh-CN" sz="1050" dirty="0">
                  <a:solidFill>
                    <a:srgbClr val="0AB36E"/>
                  </a:solidFill>
                  <a:latin typeface="Consolas"/>
                  <a:ea typeface="Microsoft YaHei"/>
                  <a:cs typeface="Consolas"/>
                </a:rPr>
                <a:t>static</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int</a:t>
              </a:r>
              <a:r>
                <a:rPr lang="zh-CN" sz="1050" dirty="0">
                  <a:solidFill>
                    <a:srgbClr val="E0E0E0"/>
                  </a:solidFill>
                  <a:latin typeface="Consolas"/>
                  <a:ea typeface="Microsoft YaHei"/>
                  <a:cs typeface="Consolas"/>
                </a:rPr>
                <a:t> update_fpu_shstk(
</a:t>
              </a:r>
            </a:p>
          </p:txBody>
        </p:sp>
        <p:sp>
          <p:nvSpPr>
            <p:cNvPr id="9" name="TextBox 9"/>
            <p:cNvSpPr txBox="1"/>
            <p:nvPr/>
          </p:nvSpPr>
          <p:spPr>
            <a:xfrm>
              <a:off x="605790" y="1867852"/>
              <a:ext cx="22426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struct</a:t>
              </a:r>
              <a:r>
                <a:rPr lang="zh-CN" sz="1050" dirty="0">
                  <a:solidFill>
                    <a:srgbClr val="E0E0E0"/>
                  </a:solidFill>
                  <a:latin typeface="Consolas"/>
                  <a:ea typeface="Microsoft YaHei"/>
                  <a:cs typeface="Consolas"/>
                </a:rPr>
                <a:t> task_struct *dst,
</a:t>
              </a:r>
            </a:p>
          </p:txBody>
        </p:sp>
        <p:sp>
          <p:nvSpPr>
            <p:cNvPr id="10" name="TextBox 10"/>
            <p:cNvSpPr txBox="1"/>
            <p:nvPr/>
          </p:nvSpPr>
          <p:spPr>
            <a:xfrm>
              <a:off x="605790" y="2058352"/>
              <a:ext cx="165987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unsigned</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long</a:t>
              </a:r>
              <a:r>
                <a:rPr lang="zh-CN" sz="1050" dirty="0">
                  <a:solidFill>
                    <a:srgbClr val="E0E0E0"/>
                  </a:solidFill>
                  <a:latin typeface="Consolas"/>
                  <a:ea typeface="Microsoft YaHei"/>
                  <a:cs typeface="Consolas"/>
                </a:rPr>
                <a:t> ssp)
</a:t>
              </a:r>
            </a:p>
          </p:txBody>
        </p:sp>
        <p:sp>
          <p:nvSpPr>
            <p:cNvPr id="11" name="TextBox 11"/>
            <p:cNvSpPr txBox="1"/>
            <p:nvPr/>
          </p:nvSpPr>
          <p:spPr>
            <a:xfrm>
              <a:off x="605790" y="224885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sp>
          <p:nvSpPr>
            <p:cNvPr id="12" name="TextBox 12"/>
            <p:cNvSpPr txBox="1"/>
            <p:nvPr/>
          </p:nvSpPr>
          <p:spPr>
            <a:xfrm>
              <a:off x="605790" y="2439352"/>
              <a:ext cx="274867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struct</a:t>
              </a:r>
              <a:r>
                <a:rPr lang="zh-CN" sz="1050" dirty="0">
                  <a:solidFill>
                    <a:srgbClr val="E0E0E0"/>
                  </a:solidFill>
                  <a:latin typeface="Consolas"/>
                  <a:ea typeface="Microsoft YaHei"/>
                  <a:cs typeface="Consolas"/>
                </a:rPr>
                <a:t> cet_user_state *xstate;
</a:t>
              </a:r>
            </a:p>
          </p:txBody>
        </p:sp>
        <p:sp>
          <p:nvSpPr>
            <p:cNvPr id="13" name="TextBox 13"/>
            <p:cNvSpPr txBox="1"/>
            <p:nvPr/>
          </p:nvSpPr>
          <p:spPr>
            <a:xfrm>
              <a:off x="605790" y="2687002"/>
              <a:ext cx="93911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if</a:t>
              </a:r>
              <a:r>
                <a:rPr lang="zh-CN" sz="1050" dirty="0">
                  <a:solidFill>
                    <a:srgbClr val="E0E0E0"/>
                  </a:solidFill>
                  <a:latin typeface="Consolas"/>
                  <a:ea typeface="Microsoft YaHei"/>
                  <a:cs typeface="Consolas"/>
                </a:rPr>
                <a:t> (!ssp)
</a:t>
              </a:r>
            </a:p>
          </p:txBody>
        </p:sp>
        <p:sp>
          <p:nvSpPr>
            <p:cNvPr id="14" name="TextBox 14"/>
            <p:cNvSpPr txBox="1"/>
            <p:nvPr/>
          </p:nvSpPr>
          <p:spPr>
            <a:xfrm>
              <a:off x="605790" y="2877502"/>
              <a:ext cx="119981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15" name="TextBox 15"/>
            <p:cNvSpPr txBox="1"/>
            <p:nvPr/>
          </p:nvSpPr>
          <p:spPr>
            <a:xfrm>
              <a:off x="605790" y="3125152"/>
              <a:ext cx="2158270"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xstate = get_xsave_addr(</a:t>
              </a:r>
            </a:p>
          </p:txBody>
        </p:sp>
        <p:sp>
          <p:nvSpPr>
            <p:cNvPr id="16" name="TextBox 16"/>
            <p:cNvSpPr txBox="1"/>
            <p:nvPr/>
          </p:nvSpPr>
          <p:spPr>
            <a:xfrm>
              <a:off x="605790" y="3315652"/>
              <a:ext cx="1912906"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&amp;x86_task_fpu(dst)</a:t>
              </a:r>
            </a:p>
          </p:txBody>
        </p:sp>
        <p:sp>
          <p:nvSpPr>
            <p:cNvPr id="17" name="TextBox 17"/>
            <p:cNvSpPr txBox="1"/>
            <p:nvPr/>
          </p:nvSpPr>
          <p:spPr>
            <a:xfrm>
              <a:off x="605790" y="3506152"/>
              <a:ext cx="243430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-&gt;fpstate-&gt;regs.xsave,</a:t>
              </a:r>
            </a:p>
          </p:txBody>
        </p:sp>
        <p:sp>
          <p:nvSpPr>
            <p:cNvPr id="18" name="TextBox 18"/>
            <p:cNvSpPr txBox="1"/>
            <p:nvPr/>
          </p:nvSpPr>
          <p:spPr>
            <a:xfrm>
              <a:off x="605790" y="3696652"/>
              <a:ext cx="2081593"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AF00C0"/>
                  </a:solidFill>
                  <a:latin typeface="Consolas"/>
                  <a:ea typeface="Microsoft YaHei"/>
                  <a:cs typeface="Consolas"/>
                </a:rPr>
                <a:t>XFEATURE_CET_USER</a:t>
              </a:r>
              <a:r>
                <a:rPr lang="zh-CN" sz="1050" dirty="0">
                  <a:solidFill>
                    <a:srgbClr val="E0E0E0"/>
                  </a:solidFill>
                  <a:latin typeface="Consolas"/>
                  <a:ea typeface="Microsoft YaHei"/>
                  <a:cs typeface="Consolas"/>
                </a:rPr>
                <a:t>);
</a:t>
              </a:r>
            </a:p>
          </p:txBody>
        </p:sp>
        <p:sp>
          <p:nvSpPr>
            <p:cNvPr id="19" name="TextBox 19"/>
            <p:cNvSpPr txBox="1"/>
            <p:nvPr/>
          </p:nvSpPr>
          <p:spPr>
            <a:xfrm>
              <a:off x="605790" y="3944302"/>
              <a:ext cx="2579989"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xstate-&gt;user_ssp = (u64)ssp;
</a:t>
              </a:r>
            </a:p>
          </p:txBody>
        </p:sp>
        <p:sp>
          <p:nvSpPr>
            <p:cNvPr id="20" name="TextBox 20"/>
            <p:cNvSpPr txBox="1"/>
            <p:nvPr/>
          </p:nvSpPr>
          <p:spPr>
            <a:xfrm>
              <a:off x="605790" y="4134802"/>
              <a:ext cx="101579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return</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21" name="TextBox 21"/>
            <p:cNvSpPr txBox="1"/>
            <p:nvPr/>
          </p:nvSpPr>
          <p:spPr>
            <a:xfrm>
              <a:off x="605790" y="4325302"/>
              <a:ext cx="111014"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t>
              </a:r>
            </a:p>
          </p:txBody>
        </p:sp>
      </p:grpSp>
      <p:grpSp>
        <p:nvGrpSpPr>
          <p:cNvPr id="26" name="Group 26"/>
          <p:cNvGrpSpPr/>
          <p:nvPr/>
        </p:nvGrpSpPr>
        <p:grpSpPr>
          <a:xfrm>
            <a:off x="6572250" y="1285875"/>
            <a:ext cx="5143500" cy="619125"/>
            <a:chOff x="6572250" y="1285875"/>
            <a:chExt cx="5143500" cy="619125"/>
          </a:xfrm>
        </p:grpSpPr>
        <p:sp>
          <p:nvSpPr>
            <p:cNvPr id="23" name="Rectangle 23"/>
            <p:cNvSpPr/>
            <p:nvPr/>
          </p:nvSpPr>
          <p:spPr>
            <a:xfrm>
              <a:off x="6572250" y="1285875"/>
              <a:ext cx="5143500" cy="619125"/>
            </a:xfrm>
            <a:prstGeom prst="roundRect">
              <a:avLst>
                <a:gd name="adj" fmla="val 12308"/>
              </a:avLst>
            </a:prstGeom>
            <a:solidFill>
              <a:srgbClr val="F0FFF4"/>
            </a:solidFill>
            <a:ln w="14288">
              <a:solidFill>
                <a:srgbClr val="0AB36E"/>
              </a:solidFill>
            </a:ln>
          </p:spPr>
        </p:sp>
        <p:sp>
          <p:nvSpPr>
            <p:cNvPr id="24" name="TextBox 24"/>
            <p:cNvSpPr txBox="1"/>
            <p:nvPr/>
          </p:nvSpPr>
          <p:spPr>
            <a:xfrm>
              <a:off x="6748462" y="1402556"/>
              <a:ext cx="1641652"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XFEATURE_CET_USER</a:t>
              </a:r>
            </a:p>
          </p:txBody>
        </p:sp>
        <p:sp>
          <p:nvSpPr>
            <p:cNvPr id="25" name="TextBox 25"/>
            <p:cNvSpPr txBox="1"/>
            <p:nvPr/>
          </p:nvSpPr>
          <p:spPr>
            <a:xfrm>
              <a:off x="6750368" y="1637824"/>
              <a:ext cx="3072098"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SSP stored in XSAVE area under this feature</a:t>
              </a:r>
            </a:p>
          </p:txBody>
        </p:sp>
      </p:grpSp>
      <p:grpSp>
        <p:nvGrpSpPr>
          <p:cNvPr id="30" name="Group 30"/>
          <p:cNvGrpSpPr/>
          <p:nvPr/>
        </p:nvGrpSpPr>
        <p:grpSpPr>
          <a:xfrm>
            <a:off x="6572250" y="2028825"/>
            <a:ext cx="5143500" cy="619125"/>
            <a:chOff x="6572250" y="2028825"/>
            <a:chExt cx="5143500" cy="619125"/>
          </a:xfrm>
        </p:grpSpPr>
        <p:sp>
          <p:nvSpPr>
            <p:cNvPr id="27" name="Rectangle 27"/>
            <p:cNvSpPr/>
            <p:nvPr/>
          </p:nvSpPr>
          <p:spPr>
            <a:xfrm>
              <a:off x="6572250" y="2028825"/>
              <a:ext cx="5143500" cy="619125"/>
            </a:xfrm>
            <a:prstGeom prst="roundRect">
              <a:avLst>
                <a:gd name="adj" fmla="val 12308"/>
              </a:avLst>
            </a:prstGeom>
            <a:solidFill>
              <a:srgbClr val="F5F0FF"/>
            </a:solidFill>
            <a:ln w="14288">
              <a:solidFill>
                <a:srgbClr val="AF00C0"/>
              </a:solidFill>
            </a:ln>
          </p:spPr>
        </p:sp>
        <p:sp>
          <p:nvSpPr>
            <p:cNvPr id="28" name="TextBox 28"/>
            <p:cNvSpPr txBox="1"/>
            <p:nvPr/>
          </p:nvSpPr>
          <p:spPr>
            <a:xfrm>
              <a:off x="6748462" y="2145506"/>
              <a:ext cx="2297234" cy="228600"/>
            </a:xfrm>
            <a:prstGeom prst="rect">
              <a:avLst/>
            </a:prstGeom>
            <a:noFill/>
            <a:ln>
              <a:noFill/>
            </a:ln>
          </p:spPr>
          <p:txBody>
            <a:bodyPr wrap="none" lIns="0" tIns="0" rIns="0" bIns="0" anchor="t" anchorCtr="0">
              <a:spAutoFit/>
            </a:bodyPr>
            <a:lstStyle/>
            <a:p>
              <a:pPr algn="l"/>
              <a:r>
                <a:rPr lang="zh-CN" sz="1125" b="1" dirty="0">
                  <a:solidFill>
                    <a:srgbClr val="AF00C0"/>
                  </a:solidFill>
                  <a:latin typeface="Arial"/>
                  <a:ea typeface="Microsoft YaHei"/>
                  <a:cs typeface="Arial"/>
                </a:rPr>
                <a:t>Context switch: automatic</a:t>
              </a:r>
            </a:p>
          </p:txBody>
        </p:sp>
        <p:sp>
          <p:nvSpPr>
            <p:cNvPr id="29" name="TextBox 29"/>
            <p:cNvSpPr txBox="1"/>
            <p:nvPr/>
          </p:nvSpPr>
          <p:spPr>
            <a:xfrm>
              <a:off x="6750368" y="2380774"/>
              <a:ext cx="3406735"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XSAVE saves outgoing, XRSTOR loads incoming SSP</a:t>
              </a:r>
            </a:p>
          </p:txBody>
        </p:sp>
      </p:grpSp>
      <p:grpSp>
        <p:nvGrpSpPr>
          <p:cNvPr id="34" name="Group 34"/>
          <p:cNvGrpSpPr/>
          <p:nvPr/>
        </p:nvGrpSpPr>
        <p:grpSpPr>
          <a:xfrm>
            <a:off x="6572250" y="2771775"/>
            <a:ext cx="5143500" cy="619125"/>
            <a:chOff x="6572250" y="2771775"/>
            <a:chExt cx="5143500" cy="619125"/>
          </a:xfrm>
        </p:grpSpPr>
        <p:sp>
          <p:nvSpPr>
            <p:cNvPr id="31" name="Rectangle 31"/>
            <p:cNvSpPr/>
            <p:nvPr/>
          </p:nvSpPr>
          <p:spPr>
            <a:xfrm>
              <a:off x="6572250" y="2771775"/>
              <a:ext cx="5143500" cy="619125"/>
            </a:xfrm>
            <a:prstGeom prst="roundRect">
              <a:avLst>
                <a:gd name="adj" fmla="val 12308"/>
              </a:avLst>
            </a:prstGeom>
            <a:solidFill>
              <a:srgbClr val="F0FFF4"/>
            </a:solidFill>
            <a:ln w="14288">
              <a:solidFill>
                <a:srgbClr val="0AB36E"/>
              </a:solidFill>
            </a:ln>
          </p:spPr>
        </p:sp>
        <p:sp>
          <p:nvSpPr>
            <p:cNvPr id="32" name="TextBox 32"/>
            <p:cNvSpPr txBox="1"/>
            <p:nvPr/>
          </p:nvSpPr>
          <p:spPr>
            <a:xfrm>
              <a:off x="6748462" y="2888456"/>
              <a:ext cx="2081582"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Zero scheduler overhead</a:t>
              </a:r>
            </a:p>
          </p:txBody>
        </p:sp>
        <p:sp>
          <p:nvSpPr>
            <p:cNvPr id="33" name="TextBox 33"/>
            <p:cNvSpPr txBox="1"/>
            <p:nvPr/>
          </p:nvSpPr>
          <p:spPr>
            <a:xfrm>
              <a:off x="6750368" y="3123724"/>
              <a:ext cx="2744581"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No explicit MSR read/write in fast path</a:t>
              </a:r>
            </a:p>
          </p:txBody>
        </p:sp>
      </p:grpSp>
      <p:grpSp>
        <p:nvGrpSpPr>
          <p:cNvPr id="38" name="Group 38"/>
          <p:cNvGrpSpPr/>
          <p:nvPr/>
        </p:nvGrpSpPr>
        <p:grpSpPr>
          <a:xfrm>
            <a:off x="6572250" y="3514725"/>
            <a:ext cx="5143500" cy="619125"/>
            <a:chOff x="6572250" y="3514725"/>
            <a:chExt cx="5143500" cy="619125"/>
          </a:xfrm>
        </p:grpSpPr>
        <p:sp>
          <p:nvSpPr>
            <p:cNvPr id="35" name="Rectangle 35"/>
            <p:cNvSpPr/>
            <p:nvPr/>
          </p:nvSpPr>
          <p:spPr>
            <a:xfrm>
              <a:off x="6572250" y="3514725"/>
              <a:ext cx="5143500" cy="619125"/>
            </a:xfrm>
            <a:prstGeom prst="roundRect">
              <a:avLst>
                <a:gd name="adj" fmla="val 12308"/>
              </a:avLst>
            </a:prstGeom>
            <a:solidFill>
              <a:srgbClr val="F0FFF4"/>
            </a:solidFill>
            <a:ln w="14288">
              <a:solidFill>
                <a:srgbClr val="0AB36E"/>
              </a:solidFill>
            </a:ln>
          </p:spPr>
        </p:sp>
        <p:sp>
          <p:nvSpPr>
            <p:cNvPr id="36" name="TextBox 36"/>
            <p:cNvSpPr txBox="1"/>
            <p:nvPr/>
          </p:nvSpPr>
          <p:spPr>
            <a:xfrm>
              <a:off x="6748462" y="3631406"/>
              <a:ext cx="1029200" cy="228600"/>
            </a:xfrm>
            <a:prstGeom prst="rect">
              <a:avLst/>
            </a:prstGeom>
            <a:noFill/>
            <a:ln>
              <a:noFill/>
            </a:ln>
          </p:spPr>
          <p:txBody>
            <a:bodyPr wrap="none" lIns="0" tIns="0" rIns="0" bIns="0" anchor="t" anchorCtr="0">
              <a:spAutoFit/>
            </a:bodyPr>
            <a:lstStyle/>
            <a:p>
              <a:pPr algn="l"/>
              <a:r>
                <a:rPr lang="zh-CN" sz="1125" b="1" dirty="0">
                  <a:solidFill>
                    <a:srgbClr val="0AB36E"/>
                  </a:solidFill>
                  <a:latin typeface="Arial"/>
                  <a:ea typeface="Microsoft YaHei"/>
                  <a:cs typeface="Arial"/>
                </a:rPr>
                <a:t>fpu_clone()</a:t>
              </a:r>
            </a:p>
          </p:txBody>
        </p:sp>
        <p:sp>
          <p:nvSpPr>
            <p:cNvPr id="37" name="TextBox 37"/>
            <p:cNvSpPr txBox="1"/>
            <p:nvPr/>
          </p:nvSpPr>
          <p:spPr>
            <a:xfrm>
              <a:off x="6750368" y="3866674"/>
              <a:ext cx="3520654"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Calls update_fpu_shstk() to set child's initial SSP</a:t>
              </a:r>
            </a:p>
          </p:txBody>
        </p:sp>
      </p:grpSp>
      <p:grpSp>
        <p:nvGrpSpPr>
          <p:cNvPr id="56" name="Group 56"/>
          <p:cNvGrpSpPr/>
          <p:nvPr/>
        </p:nvGrpSpPr>
        <p:grpSpPr>
          <a:xfrm>
            <a:off x="476250" y="4714875"/>
            <a:ext cx="11239500" cy="1047750"/>
            <a:chOff x="476250" y="4714875"/>
            <a:chExt cx="11239500" cy="1047750"/>
          </a:xfrm>
        </p:grpSpPr>
        <p:sp>
          <p:nvSpPr>
            <p:cNvPr id="39" name="Rectangle 39"/>
            <p:cNvSpPr/>
            <p:nvPr/>
          </p:nvSpPr>
          <p:spPr>
            <a:xfrm>
              <a:off x="476250" y="4714875"/>
              <a:ext cx="11239500" cy="1047750"/>
            </a:xfrm>
            <a:prstGeom prst="roundRect">
              <a:avLst>
                <a:gd name="adj" fmla="val 9091"/>
              </a:avLst>
            </a:prstGeom>
            <a:solidFill>
              <a:srgbClr val="1E293B"/>
            </a:solidFill>
            <a:ln>
              <a:noFill/>
            </a:ln>
          </p:spPr>
        </p:sp>
        <p:sp>
          <p:nvSpPr>
            <p:cNvPr id="40" name="TextBox 40"/>
            <p:cNvSpPr txBox="1"/>
            <p:nvPr/>
          </p:nvSpPr>
          <p:spPr>
            <a:xfrm>
              <a:off x="5232044" y="4831556"/>
              <a:ext cx="1727912" cy="228600"/>
            </a:xfrm>
            <a:prstGeom prst="rect">
              <a:avLst/>
            </a:prstGeom>
            <a:noFill/>
            <a:ln>
              <a:noFill/>
            </a:ln>
          </p:spPr>
          <p:txBody>
            <a:bodyPr wrap="none" lIns="0" tIns="0" rIns="0" bIns="0" anchor="t" anchorCtr="0">
              <a:spAutoFit/>
            </a:bodyPr>
            <a:lstStyle/>
            <a:p>
              <a:pPr algn="ctr"/>
              <a:r>
                <a:rPr lang="zh-CN" sz="1125" b="1" dirty="0">
                  <a:solidFill>
                    <a:srgbClr val="0AB36E"/>
                  </a:solidFill>
                  <a:latin typeface="Arial"/>
                  <a:ea typeface="Microsoft YaHei"/>
                  <a:cs typeface="Arial"/>
                </a:rPr>
                <a:t>Context Switch Flow</a:t>
              </a:r>
            </a:p>
          </p:txBody>
        </p:sp>
        <p:sp>
          <p:nvSpPr>
            <p:cNvPr id="41" name="Rectangle 41"/>
            <p:cNvSpPr/>
            <p:nvPr/>
          </p:nvSpPr>
          <p:spPr>
            <a:xfrm>
              <a:off x="857250" y="5095875"/>
              <a:ext cx="1905000" cy="476250"/>
            </a:xfrm>
            <a:prstGeom prst="roundRect">
              <a:avLst>
                <a:gd name="adj" fmla="val 12000"/>
              </a:avLst>
            </a:prstGeom>
            <a:solidFill>
              <a:srgbClr val="AF00C0">
                <a:alpha val="20000"/>
              </a:srgbClr>
            </a:solidFill>
            <a:ln w="9525">
              <a:solidFill>
                <a:srgbClr val="AF00C0"/>
              </a:solidFill>
            </a:ln>
          </p:spPr>
        </p:sp>
        <p:sp>
          <p:nvSpPr>
            <p:cNvPr id="42" name="TextBox 42"/>
            <p:cNvSpPr txBox="1"/>
            <p:nvPr/>
          </p:nvSpPr>
          <p:spPr>
            <a:xfrm>
              <a:off x="1185053" y="5200174"/>
              <a:ext cx="124939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Task A (outgoing)</a:t>
              </a:r>
            </a:p>
          </p:txBody>
        </p:sp>
        <p:sp>
          <p:nvSpPr>
            <p:cNvPr id="43" name="TextBox 43"/>
            <p:cNvSpPr txBox="1"/>
            <p:nvPr/>
          </p:nvSpPr>
          <p:spPr>
            <a:xfrm>
              <a:off x="1329357" y="5387816"/>
              <a:ext cx="960787" cy="167640"/>
            </a:xfrm>
            <a:prstGeom prst="rect">
              <a:avLst/>
            </a:prstGeom>
            <a:noFill/>
            <a:ln>
              <a:noFill/>
            </a:ln>
          </p:spPr>
          <p:txBody>
            <a:bodyPr wrap="none" lIns="0" tIns="0" rIns="0" bIns="0" anchor="t" anchorCtr="0">
              <a:spAutoFit/>
            </a:bodyPr>
            <a:lstStyle/>
            <a:p>
              <a:pPr algn="ctr"/>
              <a:r>
                <a:rPr lang="zh-CN" sz="825" dirty="0">
                  <a:solidFill>
                    <a:srgbClr val="FFFFFF">
                      <a:alpha val="70000"/>
                    </a:srgbClr>
                  </a:solidFill>
                  <a:latin typeface="Consolas"/>
                  <a:ea typeface="Microsoft YaHei"/>
                  <a:cs typeface="Consolas"/>
                </a:rPr>
                <a:t>SSP in registers</a:t>
              </a:r>
            </a:p>
          </p:txBody>
        </p:sp>
        <p:sp>
          <p:nvSpPr>
            <p:cNvPr id="44" name="Polygon 44"/>
            <p:cNvSpPr/>
            <p:nvPr/>
          </p:nvSpPr>
          <p:spPr>
            <a:xfrm>
              <a:off x="3000375" y="5267325"/>
              <a:ext cx="238125" cy="133350"/>
            </a:xfrm>
            <a:custGeom>
              <a:avLst/>
              <a:gdLst/>
              <a:ahLst/>
              <a:cxnLst/>
              <a:rect l="l" t="t" r="r" b="b"/>
              <a:pathLst>
                <a:path w="238125" h="133350">
                  <a:moveTo>
                    <a:pt x="0" y="66675"/>
                  </a:moveTo>
                  <a:lnTo>
                    <a:pt x="238125" y="0"/>
                  </a:lnTo>
                  <a:lnTo>
                    <a:pt x="238125" y="133350"/>
                  </a:lnTo>
                  <a:close/>
                </a:path>
              </a:pathLst>
            </a:custGeom>
            <a:solidFill>
              <a:srgbClr val="F79646"/>
            </a:solidFill>
            <a:ln>
              <a:noFill/>
            </a:ln>
          </p:spPr>
        </p:sp>
        <p:sp>
          <p:nvSpPr>
            <p:cNvPr id="45" name="TextBox 45"/>
            <p:cNvSpPr txBox="1"/>
            <p:nvPr/>
          </p:nvSpPr>
          <p:spPr>
            <a:xfrm>
              <a:off x="3651462" y="5258752"/>
              <a:ext cx="469475" cy="213360"/>
            </a:xfrm>
            <a:prstGeom prst="rect">
              <a:avLst/>
            </a:prstGeom>
            <a:noFill/>
            <a:ln>
              <a:noFill/>
            </a:ln>
          </p:spPr>
          <p:txBody>
            <a:bodyPr wrap="none" lIns="0" tIns="0" rIns="0" bIns="0" anchor="t" anchorCtr="0">
              <a:spAutoFit/>
            </a:bodyPr>
            <a:lstStyle/>
            <a:p>
              <a:pPr algn="ctr"/>
              <a:r>
                <a:rPr lang="zh-CN" sz="1050" b="1" dirty="0">
                  <a:solidFill>
                    <a:srgbClr val="F79646"/>
                  </a:solidFill>
                  <a:latin typeface="Consolas"/>
                  <a:ea typeface="Microsoft YaHei"/>
                  <a:cs typeface="Consolas"/>
                </a:rPr>
                <a:t>XSAVE</a:t>
              </a:r>
            </a:p>
          </p:txBody>
        </p:sp>
        <p:sp>
          <p:nvSpPr>
            <p:cNvPr id="46" name="Polygon 46"/>
            <p:cNvSpPr/>
            <p:nvPr/>
          </p:nvSpPr>
          <p:spPr>
            <a:xfrm>
              <a:off x="4524375" y="5267325"/>
              <a:ext cx="238125" cy="133350"/>
            </a:xfrm>
            <a:custGeom>
              <a:avLst/>
              <a:gdLst/>
              <a:ahLst/>
              <a:cxnLst/>
              <a:rect l="l" t="t" r="r" b="b"/>
              <a:pathLst>
                <a:path w="238125" h="133350">
                  <a:moveTo>
                    <a:pt x="0" y="66675"/>
                  </a:moveTo>
                  <a:lnTo>
                    <a:pt x="238125" y="0"/>
                  </a:lnTo>
                  <a:lnTo>
                    <a:pt x="238125" y="133350"/>
                  </a:lnTo>
                  <a:close/>
                </a:path>
              </a:pathLst>
            </a:custGeom>
            <a:solidFill>
              <a:srgbClr val="F79646"/>
            </a:solidFill>
            <a:ln>
              <a:noFill/>
            </a:ln>
          </p:spPr>
        </p:sp>
        <p:sp>
          <p:nvSpPr>
            <p:cNvPr id="47" name="Rectangle 47"/>
            <p:cNvSpPr/>
            <p:nvPr/>
          </p:nvSpPr>
          <p:spPr>
            <a:xfrm>
              <a:off x="4953000" y="5095875"/>
              <a:ext cx="2095500" cy="476250"/>
            </a:xfrm>
            <a:prstGeom prst="roundRect">
              <a:avLst>
                <a:gd name="adj" fmla="val 12000"/>
              </a:avLst>
            </a:prstGeom>
            <a:solidFill>
              <a:srgbClr val="F79646">
                <a:alpha val="15000"/>
              </a:srgbClr>
            </a:solidFill>
            <a:ln w="9525">
              <a:solidFill>
                <a:srgbClr val="F79646"/>
              </a:solidFill>
            </a:ln>
          </p:spPr>
        </p:sp>
        <p:sp>
          <p:nvSpPr>
            <p:cNvPr id="48" name="TextBox 48"/>
            <p:cNvSpPr txBox="1"/>
            <p:nvPr/>
          </p:nvSpPr>
          <p:spPr>
            <a:xfrm>
              <a:off x="5536251" y="5200174"/>
              <a:ext cx="928997"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XSAVE Buffer</a:t>
              </a:r>
            </a:p>
          </p:txBody>
        </p:sp>
        <p:sp>
          <p:nvSpPr>
            <p:cNvPr id="49" name="TextBox 49"/>
            <p:cNvSpPr txBox="1"/>
            <p:nvPr/>
          </p:nvSpPr>
          <p:spPr>
            <a:xfrm>
              <a:off x="5592651" y="5387816"/>
              <a:ext cx="816197" cy="167640"/>
            </a:xfrm>
            <a:prstGeom prst="rect">
              <a:avLst/>
            </a:prstGeom>
            <a:noFill/>
            <a:ln>
              <a:noFill/>
            </a:ln>
          </p:spPr>
          <p:txBody>
            <a:bodyPr wrap="none" lIns="0" tIns="0" rIns="0" bIns="0" anchor="t" anchorCtr="0">
              <a:spAutoFit/>
            </a:bodyPr>
            <a:lstStyle/>
            <a:p>
              <a:pPr algn="ctr"/>
              <a:r>
                <a:rPr lang="zh-CN" sz="825" dirty="0">
                  <a:solidFill>
                    <a:srgbClr val="FFFFFF">
                      <a:alpha val="70000"/>
                    </a:srgbClr>
                  </a:solidFill>
                  <a:latin typeface="Consolas"/>
                  <a:ea typeface="Microsoft YaHei"/>
                  <a:cs typeface="Consolas"/>
                </a:rPr>
                <a:t>CET_USER.ssp</a:t>
              </a:r>
            </a:p>
          </p:txBody>
        </p:sp>
        <p:sp>
          <p:nvSpPr>
            <p:cNvPr id="50" name="Polygon 50"/>
            <p:cNvSpPr/>
            <p:nvPr/>
          </p:nvSpPr>
          <p:spPr>
            <a:xfrm>
              <a:off x="7286625" y="5267325"/>
              <a:ext cx="238125" cy="133350"/>
            </a:xfrm>
            <a:custGeom>
              <a:avLst/>
              <a:gdLst/>
              <a:ahLst/>
              <a:cxnLst/>
              <a:rect l="l" t="t" r="r" b="b"/>
              <a:pathLst>
                <a:path w="238125" h="133350">
                  <a:moveTo>
                    <a:pt x="0" y="66675"/>
                  </a:moveTo>
                  <a:lnTo>
                    <a:pt x="238125" y="0"/>
                  </a:lnTo>
                  <a:lnTo>
                    <a:pt x="238125" y="133350"/>
                  </a:lnTo>
                  <a:close/>
                </a:path>
              </a:pathLst>
            </a:custGeom>
            <a:solidFill>
              <a:srgbClr val="0AB36E"/>
            </a:solidFill>
            <a:ln>
              <a:noFill/>
            </a:ln>
          </p:spPr>
        </p:sp>
        <p:sp>
          <p:nvSpPr>
            <p:cNvPr id="51" name="TextBox 51"/>
            <p:cNvSpPr txBox="1"/>
            <p:nvPr/>
          </p:nvSpPr>
          <p:spPr>
            <a:xfrm>
              <a:off x="7877330" y="5258752"/>
              <a:ext cx="590240" cy="213360"/>
            </a:xfrm>
            <a:prstGeom prst="rect">
              <a:avLst/>
            </a:prstGeom>
            <a:noFill/>
            <a:ln>
              <a:noFill/>
            </a:ln>
          </p:spPr>
          <p:txBody>
            <a:bodyPr wrap="none" lIns="0" tIns="0" rIns="0" bIns="0" anchor="t" anchorCtr="0">
              <a:spAutoFit/>
            </a:bodyPr>
            <a:lstStyle/>
            <a:p>
              <a:pPr algn="ctr"/>
              <a:r>
                <a:rPr lang="zh-CN" sz="1050" b="1" dirty="0">
                  <a:solidFill>
                    <a:srgbClr val="0AB36E"/>
                  </a:solidFill>
                  <a:latin typeface="Consolas"/>
                  <a:ea typeface="Microsoft YaHei"/>
                  <a:cs typeface="Consolas"/>
                </a:rPr>
                <a:t>XRSTOR</a:t>
              </a:r>
            </a:p>
          </p:txBody>
        </p:sp>
        <p:sp>
          <p:nvSpPr>
            <p:cNvPr id="52" name="Polygon 52"/>
            <p:cNvSpPr/>
            <p:nvPr/>
          </p:nvSpPr>
          <p:spPr>
            <a:xfrm>
              <a:off x="8810625" y="5267325"/>
              <a:ext cx="238125" cy="133350"/>
            </a:xfrm>
            <a:custGeom>
              <a:avLst/>
              <a:gdLst/>
              <a:ahLst/>
              <a:cxnLst/>
              <a:rect l="l" t="t" r="r" b="b"/>
              <a:pathLst>
                <a:path w="238125" h="133350">
                  <a:moveTo>
                    <a:pt x="0" y="66675"/>
                  </a:moveTo>
                  <a:lnTo>
                    <a:pt x="238125" y="0"/>
                  </a:lnTo>
                  <a:lnTo>
                    <a:pt x="238125" y="133350"/>
                  </a:lnTo>
                  <a:close/>
                </a:path>
              </a:pathLst>
            </a:custGeom>
            <a:solidFill>
              <a:srgbClr val="0AB36E"/>
            </a:solidFill>
            <a:ln>
              <a:noFill/>
            </a:ln>
          </p:spPr>
        </p:sp>
        <p:sp>
          <p:nvSpPr>
            <p:cNvPr id="53" name="Rectangle 53"/>
            <p:cNvSpPr/>
            <p:nvPr/>
          </p:nvSpPr>
          <p:spPr>
            <a:xfrm>
              <a:off x="9239250" y="5095875"/>
              <a:ext cx="2190750" cy="476250"/>
            </a:xfrm>
            <a:prstGeom prst="roundRect">
              <a:avLst>
                <a:gd name="adj" fmla="val 12000"/>
              </a:avLst>
            </a:prstGeom>
            <a:solidFill>
              <a:srgbClr val="0AB36E">
                <a:alpha val="20000"/>
              </a:srgbClr>
            </a:solidFill>
            <a:ln w="9525">
              <a:solidFill>
                <a:srgbClr val="0AB36E"/>
              </a:solidFill>
            </a:ln>
          </p:spPr>
        </p:sp>
        <p:sp>
          <p:nvSpPr>
            <p:cNvPr id="54" name="TextBox 54"/>
            <p:cNvSpPr txBox="1"/>
            <p:nvPr/>
          </p:nvSpPr>
          <p:spPr>
            <a:xfrm>
              <a:off x="9713488" y="5200174"/>
              <a:ext cx="1242274"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Task B (incoming)</a:t>
              </a:r>
            </a:p>
          </p:txBody>
        </p:sp>
        <p:sp>
          <p:nvSpPr>
            <p:cNvPr id="55" name="TextBox 55"/>
            <p:cNvSpPr txBox="1"/>
            <p:nvPr/>
          </p:nvSpPr>
          <p:spPr>
            <a:xfrm>
              <a:off x="9941588" y="5387816"/>
              <a:ext cx="786074" cy="167640"/>
            </a:xfrm>
            <a:prstGeom prst="rect">
              <a:avLst/>
            </a:prstGeom>
            <a:noFill/>
            <a:ln>
              <a:noFill/>
            </a:ln>
          </p:spPr>
          <p:txBody>
            <a:bodyPr wrap="none" lIns="0" tIns="0" rIns="0" bIns="0" anchor="t" anchorCtr="0">
              <a:spAutoFit/>
            </a:bodyPr>
            <a:lstStyle/>
            <a:p>
              <a:pPr algn="ctr"/>
              <a:r>
                <a:rPr lang="zh-CN" sz="825" dirty="0">
                  <a:solidFill>
                    <a:srgbClr val="FFFFFF">
                      <a:alpha val="70000"/>
                    </a:srgbClr>
                  </a:solidFill>
                  <a:latin typeface="Consolas"/>
                  <a:ea typeface="Microsoft YaHei"/>
                  <a:cs typeface="Consolas"/>
                </a:rPr>
                <a:t>SSP restored</a:t>
              </a:r>
            </a:p>
          </p:txBody>
        </p:sp>
      </p:grpSp>
      <p:grpSp>
        <p:nvGrpSpPr>
          <p:cNvPr id="59" name="Group 59"/>
          <p:cNvGrpSpPr/>
          <p:nvPr/>
        </p:nvGrpSpPr>
        <p:grpSpPr>
          <a:xfrm>
            <a:off x="10283883" y="5886450"/>
            <a:ext cx="1441392" cy="947738"/>
            <a:chOff x="10283883" y="5886450"/>
            <a:chExt cx="1441392" cy="947738"/>
          </a:xfrm>
        </p:grpSpPr>
        <p:pic>
          <p:nvPicPr>
            <p:cNvPr id="57" name="Image 57"/>
            <p:cNvPicPr>
              <a:picLocks noChangeAspect="1"/>
            </p:cNvPicPr>
            <p:nvPr/>
          </p:nvPicPr>
          <p:blipFill>
            <a:blip r:embed="rId4"/>
            <a:stretch>
              <a:fillRect/>
            </a:stretch>
          </p:blipFill>
          <p:spPr>
            <a:xfrm>
              <a:off x="10283883" y="5886450"/>
              <a:ext cx="1158759" cy="381000"/>
            </a:xfrm>
            <a:prstGeom prst="rect">
              <a:avLst/>
            </a:prstGeom>
          </p:spPr>
        </p:pic>
        <p:sp>
          <p:nvSpPr>
            <p:cNvPr id="58" name="TextBox 58"/>
            <p:cNvSpPr txBox="1"/>
            <p:nvPr/>
          </p:nvSpPr>
          <p:spPr>
            <a:xfrm>
              <a:off x="11613118" y="6681788"/>
              <a:ext cx="112157"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15</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heel(1)">
                                      <p:cBhvr>
                                        <p:cTn id="11" dur="400"/>
                                        <p:tgtEl>
                                          <p:spTgt spid="26"/>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image">
                                      <p:cBhvr>
                                        <p:cTn id="15" dur="400"/>
                                        <p:tgtEl>
                                          <p:spTgt spid="30"/>
                                        </p:tgtEl>
                                      </p:cBhvr>
                                    </p:animEffect>
                                  </p:childTnLst>
                                </p:cTn>
                              </p:par>
                            </p:childTnLst>
                          </p:cTn>
                        </p:par>
                        <p:par>
                          <p:cTn id="16" fill="hold">
                            <p:stCondLst>
                              <p:cond delay="2700"/>
                            </p:stCondLst>
                            <p:childTnLst>
                              <p:par>
                                <p:cTn id="17" presetID="3" presetClass="entr" presetSubtype="1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blinds(horizontal)">
                                      <p:cBhvr>
                                        <p:cTn id="19" dur="400"/>
                                        <p:tgtEl>
                                          <p:spTgt spid="34"/>
                                        </p:tgtEl>
                                      </p:cBhvr>
                                    </p:animEffect>
                                  </p:childTnLst>
                                </p:cTn>
                              </p:par>
                            </p:childTnLst>
                          </p:cTn>
                        </p:par>
                        <p:par>
                          <p:cTn id="20" fill="hold">
                            <p:stCondLst>
                              <p:cond delay="3600"/>
                            </p:stCondLst>
                            <p:childTnLst>
                              <p:par>
                                <p:cTn id="21" presetID="5" presetClass="entr" presetSubtype="6"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checkerboard(across)">
                                      <p:cBhvr>
                                        <p:cTn id="23" dur="400"/>
                                        <p:tgtEl>
                                          <p:spTgt spid="38"/>
                                        </p:tgtEl>
                                      </p:cBhvr>
                                    </p:animEffect>
                                  </p:childTnLst>
                                </p:cTn>
                              </p:par>
                            </p:childTnLst>
                          </p:cTn>
                        </p:par>
                        <p:par>
                          <p:cTn id="24" fill="hold">
                            <p:stCondLst>
                              <p:cond delay="4500"/>
                            </p:stCondLst>
                            <p:childTnLst>
                              <p:par>
                                <p:cTn id="25" presetID="9" presetClass="entr" presetSubtype="0"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dissolve">
                                      <p:cBhvr>
                                        <p:cTn id="27"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P spid="30" grpId="0"/>
      <p:bldP spid="34" grpId="0"/>
      <p:bldP spid="38" grpId="0"/>
      <p:bldP spid="5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7716317"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Userspace Control — arch_prctl(2) for CET</a:t>
            </a:r>
          </a:p>
        </p:txBody>
      </p:sp>
      <p:grpSp>
        <p:nvGrpSpPr>
          <p:cNvPr id="15" name="Group 15"/>
          <p:cNvGrpSpPr/>
          <p:nvPr/>
        </p:nvGrpSpPr>
        <p:grpSpPr>
          <a:xfrm>
            <a:off x="476250" y="1285875"/>
            <a:ext cx="5238750" cy="1857375"/>
            <a:chOff x="476250" y="1285875"/>
            <a:chExt cx="5238750" cy="1857375"/>
          </a:xfrm>
        </p:grpSpPr>
        <p:sp>
          <p:nvSpPr>
            <p:cNvPr id="6" name="Rectangle 6"/>
            <p:cNvSpPr/>
            <p:nvPr/>
          </p:nvSpPr>
          <p:spPr>
            <a:xfrm>
              <a:off x="476250" y="1285875"/>
              <a:ext cx="5238750" cy="1857375"/>
            </a:xfrm>
            <a:prstGeom prst="roundRect">
              <a:avLst>
                <a:gd name="adj" fmla="val 4103"/>
              </a:avLst>
            </a:prstGeom>
            <a:solidFill>
              <a:srgbClr val="1E293B"/>
            </a:solidFill>
            <a:ln>
              <a:noFill/>
            </a:ln>
          </p:spPr>
        </p:sp>
        <p:sp>
          <p:nvSpPr>
            <p:cNvPr id="7" name="TextBox 7"/>
            <p:cNvSpPr txBox="1"/>
            <p:nvPr/>
          </p:nvSpPr>
          <p:spPr>
            <a:xfrm>
              <a:off x="608648" y="1415891"/>
              <a:ext cx="2280166" cy="167640"/>
            </a:xfrm>
            <a:prstGeom prst="rect">
              <a:avLst/>
            </a:prstGeom>
            <a:noFill/>
            <a:ln>
              <a:noFill/>
            </a:ln>
          </p:spPr>
          <p:txBody>
            <a:bodyPr wrap="none" lIns="0" tIns="0" rIns="0" bIns="0" anchor="t" anchorCtr="0">
              <a:spAutoFit/>
            </a:bodyPr>
            <a:lstStyle/>
            <a:p>
              <a:pPr algn="l"/>
              <a:r>
                <a:rPr lang="zh-CN" sz="825" dirty="0">
                  <a:solidFill>
                    <a:srgbClr val="6A9955"/>
                  </a:solidFill>
                  <a:latin typeface="Consolas"/>
                  <a:ea typeface="Microsoft YaHei"/>
                  <a:cs typeface="Consolas"/>
                </a:rPr>
                <a:t>// arch/x86/include/uapi/asm/prctl.h</a:t>
              </a:r>
            </a:p>
          </p:txBody>
        </p:sp>
        <p:sp>
          <p:nvSpPr>
            <p:cNvPr id="8" name="TextBox 8"/>
            <p:cNvSpPr txBox="1"/>
            <p:nvPr/>
          </p:nvSpPr>
          <p:spPr>
            <a:xfrm>
              <a:off x="605790" y="1658302"/>
              <a:ext cx="2748677"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ARCH_SHSTK_ENABLE</a:t>
              </a:r>
              <a:r>
                <a:rPr lang="zh-CN" sz="1050" dirty="0">
                  <a:solidFill>
                    <a:srgbClr val="E0E0E0"/>
                  </a:solidFill>
                  <a:latin typeface="Consolas"/>
                  <a:ea typeface="Microsoft YaHei"/>
                  <a:cs typeface="Consolas"/>
                </a:rPr>
                <a:t>   </a:t>
              </a:r>
              <a:r>
                <a:rPr lang="zh-CN" sz="1050" dirty="0">
                  <a:solidFill>
                    <a:srgbClr val="F79646"/>
                  </a:solidFill>
                  <a:latin typeface="Consolas"/>
                  <a:ea typeface="Microsoft YaHei"/>
                  <a:cs typeface="Consolas"/>
                </a:rPr>
                <a:t>0x5001</a:t>
              </a:r>
              <a:r>
                <a:rPr lang="zh-CN" sz="1050" dirty="0">
                  <a:solidFill>
                    <a:srgbClr val="E0E0E0"/>
                  </a:solidFill>
                  <a:latin typeface="Consolas"/>
                  <a:ea typeface="Microsoft YaHei"/>
                  <a:cs typeface="Consolas"/>
                </a:rPr>
                <a:t>
</a:t>
              </a:r>
            </a:p>
          </p:txBody>
        </p:sp>
        <p:sp>
          <p:nvSpPr>
            <p:cNvPr id="9" name="TextBox 9"/>
            <p:cNvSpPr txBox="1"/>
            <p:nvPr/>
          </p:nvSpPr>
          <p:spPr>
            <a:xfrm>
              <a:off x="605790" y="1848802"/>
              <a:ext cx="2787015"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ARCH_SHSTK_DISABLE</a:t>
              </a:r>
              <a:r>
                <a:rPr lang="zh-CN" sz="1050" dirty="0">
                  <a:solidFill>
                    <a:srgbClr val="E0E0E0"/>
                  </a:solidFill>
                  <a:latin typeface="Consolas"/>
                  <a:ea typeface="Microsoft YaHei"/>
                  <a:cs typeface="Consolas"/>
                </a:rPr>
                <a:t>  </a:t>
              </a:r>
              <a:r>
                <a:rPr lang="zh-CN" sz="1050" dirty="0">
                  <a:solidFill>
                    <a:srgbClr val="F79646"/>
                  </a:solidFill>
                  <a:latin typeface="Consolas"/>
                  <a:ea typeface="Microsoft YaHei"/>
                  <a:cs typeface="Consolas"/>
                </a:rPr>
                <a:t>0x5002</a:t>
              </a:r>
              <a:r>
                <a:rPr lang="zh-CN" sz="1050" dirty="0">
                  <a:solidFill>
                    <a:srgbClr val="E0E0E0"/>
                  </a:solidFill>
                  <a:latin typeface="Consolas"/>
                  <a:ea typeface="Microsoft YaHei"/>
                  <a:cs typeface="Consolas"/>
                </a:rPr>
                <a:t>
</a:t>
              </a:r>
            </a:p>
          </p:txBody>
        </p:sp>
        <p:sp>
          <p:nvSpPr>
            <p:cNvPr id="10" name="TextBox 10"/>
            <p:cNvSpPr txBox="1"/>
            <p:nvPr/>
          </p:nvSpPr>
          <p:spPr>
            <a:xfrm>
              <a:off x="605790" y="2039302"/>
              <a:ext cx="2741009"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ARCH_SHSTK_LOCK</a:t>
              </a:r>
              <a:r>
                <a:rPr lang="zh-CN" sz="1050" dirty="0">
                  <a:solidFill>
                    <a:srgbClr val="E0E0E0"/>
                  </a:solidFill>
                  <a:latin typeface="Consolas"/>
                  <a:ea typeface="Microsoft YaHei"/>
                  <a:cs typeface="Consolas"/>
                </a:rPr>
                <a:t>     </a:t>
              </a:r>
              <a:r>
                <a:rPr lang="zh-CN" sz="1050" dirty="0">
                  <a:solidFill>
                    <a:srgbClr val="F79646"/>
                  </a:solidFill>
                  <a:latin typeface="Consolas"/>
                  <a:ea typeface="Microsoft YaHei"/>
                  <a:cs typeface="Consolas"/>
                </a:rPr>
                <a:t>0x5003</a:t>
              </a:r>
              <a:r>
                <a:rPr lang="zh-CN" sz="1050" dirty="0">
                  <a:solidFill>
                    <a:srgbClr val="E0E0E0"/>
                  </a:solidFill>
                  <a:latin typeface="Consolas"/>
                  <a:ea typeface="Microsoft YaHei"/>
                  <a:cs typeface="Consolas"/>
                </a:rPr>
                <a:t>
</a:t>
              </a:r>
            </a:p>
          </p:txBody>
        </p:sp>
        <p:sp>
          <p:nvSpPr>
            <p:cNvPr id="11" name="TextBox 11"/>
            <p:cNvSpPr txBox="1"/>
            <p:nvPr/>
          </p:nvSpPr>
          <p:spPr>
            <a:xfrm>
              <a:off x="605790" y="2229802"/>
              <a:ext cx="2817685"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ARCH_SHSTK_UNLOCK</a:t>
              </a:r>
              <a:r>
                <a:rPr lang="zh-CN" sz="1050" dirty="0">
                  <a:solidFill>
                    <a:srgbClr val="E0E0E0"/>
                  </a:solidFill>
                  <a:latin typeface="Consolas"/>
                  <a:ea typeface="Microsoft YaHei"/>
                  <a:cs typeface="Consolas"/>
                </a:rPr>
                <a:t>   </a:t>
              </a:r>
              <a:r>
                <a:rPr lang="zh-CN" sz="1050" dirty="0">
                  <a:solidFill>
                    <a:srgbClr val="F79646"/>
                  </a:solidFill>
                  <a:latin typeface="Consolas"/>
                  <a:ea typeface="Microsoft YaHei"/>
                  <a:cs typeface="Consolas"/>
                </a:rPr>
                <a:t>0x5004</a:t>
              </a:r>
              <a:r>
                <a:rPr lang="zh-CN" sz="1050" dirty="0">
                  <a:solidFill>
                    <a:srgbClr val="E0E0E0"/>
                  </a:solidFill>
                  <a:latin typeface="Consolas"/>
                  <a:ea typeface="Microsoft YaHei"/>
                  <a:cs typeface="Consolas"/>
                </a:rPr>
                <a:t>
</a:t>
              </a:r>
            </a:p>
          </p:txBody>
        </p:sp>
        <p:sp>
          <p:nvSpPr>
            <p:cNvPr id="12" name="TextBox 12"/>
            <p:cNvSpPr txBox="1"/>
            <p:nvPr/>
          </p:nvSpPr>
          <p:spPr>
            <a:xfrm>
              <a:off x="605790" y="2420302"/>
              <a:ext cx="2787015"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ARCH_SHSTK_STATUS</a:t>
              </a:r>
              <a:r>
                <a:rPr lang="zh-CN" sz="1050" dirty="0">
                  <a:solidFill>
                    <a:srgbClr val="E0E0E0"/>
                  </a:solidFill>
                  <a:latin typeface="Consolas"/>
                  <a:ea typeface="Microsoft YaHei"/>
                  <a:cs typeface="Consolas"/>
                </a:rPr>
                <a:t>   </a:t>
              </a:r>
              <a:r>
                <a:rPr lang="zh-CN" sz="1050" dirty="0">
                  <a:solidFill>
                    <a:srgbClr val="F79646"/>
                  </a:solidFill>
                  <a:latin typeface="Consolas"/>
                  <a:ea typeface="Microsoft YaHei"/>
                  <a:cs typeface="Consolas"/>
                </a:rPr>
                <a:t>0x5005</a:t>
              </a:r>
              <a:r>
                <a:rPr lang="zh-CN" sz="1050" dirty="0">
                  <a:solidFill>
                    <a:srgbClr val="E0E0E0"/>
                  </a:solidFill>
                  <a:latin typeface="Consolas"/>
                  <a:ea typeface="Microsoft YaHei"/>
                  <a:cs typeface="Consolas"/>
                </a:rPr>
                <a:t>
</a:t>
              </a:r>
            </a:p>
          </p:txBody>
        </p:sp>
        <p:sp>
          <p:nvSpPr>
            <p:cNvPr id="13" name="TextBox 13"/>
            <p:cNvSpPr txBox="1"/>
            <p:nvPr/>
          </p:nvSpPr>
          <p:spPr>
            <a:xfrm>
              <a:off x="605790" y="2667952"/>
              <a:ext cx="2963370"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ARCH_SHSTK_SHSTK</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1ULL</a:t>
              </a:r>
              <a:r>
                <a:rPr lang="zh-CN" sz="1050" dirty="0">
                  <a:solidFill>
                    <a:srgbClr val="E0E0E0"/>
                  </a:solidFill>
                  <a:latin typeface="Consolas"/>
                  <a:ea typeface="Microsoft YaHei"/>
                  <a:cs typeface="Consolas"/>
                </a:rPr>
                <a:t> &lt;&lt; </a:t>
              </a:r>
              <a:r>
                <a:rPr lang="zh-CN" sz="1050" dirty="0">
                  <a:solidFill>
                    <a:srgbClr val="0AB36E"/>
                  </a:solidFill>
                  <a:latin typeface="Consolas"/>
                  <a:ea typeface="Microsoft YaHei"/>
                  <a:cs typeface="Consolas"/>
                </a:rPr>
                <a:t>0</a:t>
              </a:r>
              <a:r>
                <a:rPr lang="zh-CN" sz="1050" dirty="0">
                  <a:solidFill>
                    <a:srgbClr val="E0E0E0"/>
                  </a:solidFill>
                  <a:latin typeface="Consolas"/>
                  <a:ea typeface="Microsoft YaHei"/>
                  <a:cs typeface="Consolas"/>
                </a:rPr>
                <a:t>)
</a:t>
              </a:r>
            </a:p>
          </p:txBody>
        </p:sp>
        <p:sp>
          <p:nvSpPr>
            <p:cNvPr id="14" name="TextBox 14"/>
            <p:cNvSpPr txBox="1"/>
            <p:nvPr/>
          </p:nvSpPr>
          <p:spPr>
            <a:xfrm>
              <a:off x="605790" y="2858452"/>
              <a:ext cx="2917365" cy="213360"/>
            </a:xfrm>
            <a:prstGeom prst="rect">
              <a:avLst/>
            </a:prstGeom>
            <a:noFill/>
            <a:ln>
              <a:noFill/>
            </a:ln>
          </p:spPr>
          <p:txBody>
            <a:bodyPr wrap="none" lIns="0" tIns="0" rIns="0" bIns="0" anchor="t" anchorCtr="0">
              <a:spAutoFit/>
            </a:bodyPr>
            <a:lstStyle/>
            <a:p>
              <a:pPr algn="l"/>
              <a:r>
                <a:rPr lang="zh-CN" sz="1050" dirty="0">
                  <a:solidFill>
                    <a:srgbClr val="AF00C0"/>
                  </a:solidFill>
                  <a:latin typeface="Consolas"/>
                  <a:ea typeface="Microsoft YaHei"/>
                  <a:cs typeface="Consolas"/>
                </a:rPr>
                <a:t>#define</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ARCH_SHSTK_WRSS</a:t>
              </a:r>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1ULL</a:t>
              </a:r>
              <a:r>
                <a:rPr lang="zh-CN" sz="1050" dirty="0">
                  <a:solidFill>
                    <a:srgbClr val="E0E0E0"/>
                  </a:solidFill>
                  <a:latin typeface="Consolas"/>
                  <a:ea typeface="Microsoft YaHei"/>
                  <a:cs typeface="Consolas"/>
                </a:rPr>
                <a:t> &lt;&lt; </a:t>
              </a:r>
              <a:r>
                <a:rPr lang="zh-CN" sz="1050" dirty="0">
                  <a:solidFill>
                    <a:srgbClr val="0AB36E"/>
                  </a:solidFill>
                  <a:latin typeface="Consolas"/>
                  <a:ea typeface="Microsoft YaHei"/>
                  <a:cs typeface="Consolas"/>
                </a:rPr>
                <a:t>1</a:t>
              </a:r>
              <a:r>
                <a:rPr lang="zh-CN" sz="1050" dirty="0">
                  <a:solidFill>
                    <a:srgbClr val="E0E0E0"/>
                  </a:solidFill>
                  <a:latin typeface="Consolas"/>
                  <a:ea typeface="Microsoft YaHei"/>
                  <a:cs typeface="Consolas"/>
                </a:rPr>
                <a:t>)
</a:t>
              </a:r>
            </a:p>
          </p:txBody>
        </p:sp>
      </p:grpSp>
      <p:grpSp>
        <p:nvGrpSpPr>
          <p:cNvPr id="24" name="Group 24"/>
          <p:cNvGrpSpPr/>
          <p:nvPr/>
        </p:nvGrpSpPr>
        <p:grpSpPr>
          <a:xfrm>
            <a:off x="476250" y="3314699"/>
            <a:ext cx="5238750" cy="1629251"/>
            <a:chOff x="476250" y="3314699"/>
            <a:chExt cx="5238750" cy="1629251"/>
          </a:xfrm>
        </p:grpSpPr>
        <p:sp>
          <p:nvSpPr>
            <p:cNvPr id="16" name="Rectangle 16"/>
            <p:cNvSpPr/>
            <p:nvPr/>
          </p:nvSpPr>
          <p:spPr>
            <a:xfrm>
              <a:off x="476250" y="3314699"/>
              <a:ext cx="5238750" cy="1629251"/>
            </a:xfrm>
            <a:prstGeom prst="roundRect">
              <a:avLst>
                <a:gd name="adj" fmla="val 6154"/>
              </a:avLst>
            </a:prstGeom>
            <a:solidFill>
              <a:srgbClr val="1E293B"/>
            </a:solidFill>
            <a:ln>
              <a:noFill/>
            </a:ln>
          </p:spPr>
        </p:sp>
        <p:sp>
          <p:nvSpPr>
            <p:cNvPr id="17" name="TextBox 17"/>
            <p:cNvSpPr txBox="1"/>
            <p:nvPr/>
          </p:nvSpPr>
          <p:spPr>
            <a:xfrm>
              <a:off x="608648" y="3444716"/>
              <a:ext cx="1021032" cy="167640"/>
            </a:xfrm>
            <a:prstGeom prst="rect">
              <a:avLst/>
            </a:prstGeom>
            <a:noFill/>
            <a:ln>
              <a:noFill/>
            </a:ln>
          </p:spPr>
          <p:txBody>
            <a:bodyPr wrap="none" lIns="0" tIns="0" rIns="0" bIns="0" anchor="t" anchorCtr="0">
              <a:spAutoFit/>
            </a:bodyPr>
            <a:lstStyle/>
            <a:p>
              <a:pPr algn="l"/>
              <a:r>
                <a:rPr lang="zh-CN" sz="825" dirty="0">
                  <a:solidFill>
                    <a:srgbClr val="6A9955"/>
                  </a:solidFill>
                  <a:latin typeface="Consolas"/>
                  <a:ea typeface="Microsoft YaHei"/>
                  <a:cs typeface="Consolas"/>
                </a:rPr>
                <a:t>// Usage pattern</a:t>
              </a:r>
            </a:p>
          </p:txBody>
        </p:sp>
        <p:sp>
          <p:nvSpPr>
            <p:cNvPr id="18" name="TextBox 18"/>
            <p:cNvSpPr txBox="1"/>
            <p:nvPr/>
          </p:nvSpPr>
          <p:spPr>
            <a:xfrm>
              <a:off x="605790" y="3677602"/>
              <a:ext cx="2058591"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Enable shadow stack */</a:t>
              </a:r>
              <a:r>
                <a:rPr lang="zh-CN" sz="1050" dirty="0">
                  <a:solidFill>
                    <a:srgbClr val="E0E0E0"/>
                  </a:solidFill>
                  <a:latin typeface="Consolas"/>
                  <a:ea typeface="Microsoft YaHei"/>
                  <a:cs typeface="Consolas"/>
                </a:rPr>
                <a:t>
</a:t>
              </a:r>
            </a:p>
          </p:txBody>
        </p:sp>
        <p:sp>
          <p:nvSpPr>
            <p:cNvPr id="19" name="TextBox 19"/>
            <p:cNvSpPr txBox="1"/>
            <p:nvPr/>
          </p:nvSpPr>
          <p:spPr>
            <a:xfrm>
              <a:off x="605790" y="3868102"/>
              <a:ext cx="2518648"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arch_prctl(</a:t>
              </a:r>
              <a:r>
                <a:rPr lang="zh-CN" sz="1050" dirty="0">
                  <a:solidFill>
                    <a:srgbClr val="0AB36E"/>
                  </a:solidFill>
                  <a:latin typeface="Consolas"/>
                  <a:ea typeface="Microsoft YaHei"/>
                  <a:cs typeface="Consolas"/>
                </a:rPr>
                <a:t>ARCH_SHSTK_ENABLE</a:t>
              </a:r>
              <a:r>
                <a:rPr lang="zh-CN" sz="1050" dirty="0">
                  <a:solidFill>
                    <a:srgbClr val="E0E0E0"/>
                  </a:solidFill>
                  <a:latin typeface="Consolas"/>
                  <a:ea typeface="Microsoft YaHei"/>
                  <a:cs typeface="Consolas"/>
                </a:rPr>
                <a:t>,
</a:t>
              </a:r>
            </a:p>
          </p:txBody>
        </p:sp>
        <p:sp>
          <p:nvSpPr>
            <p:cNvPr id="20" name="TextBox 20"/>
            <p:cNvSpPr txBox="1"/>
            <p:nvPr/>
          </p:nvSpPr>
          <p:spPr>
            <a:xfrm>
              <a:off x="605790" y="4058602"/>
              <a:ext cx="213526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ARCH_SHSTK_SHSTK</a:t>
              </a:r>
              <a:r>
                <a:rPr lang="zh-CN" sz="1050" dirty="0">
                  <a:solidFill>
                    <a:srgbClr val="E0E0E0"/>
                  </a:solidFill>
                  <a:latin typeface="Consolas"/>
                  <a:ea typeface="Microsoft YaHei"/>
                  <a:cs typeface="Consolas"/>
                </a:rPr>
                <a:t>);
</a:t>
              </a:r>
            </a:p>
          </p:txBody>
        </p:sp>
        <p:sp>
          <p:nvSpPr>
            <p:cNvPr id="21" name="TextBox 21"/>
            <p:cNvSpPr txBox="1"/>
            <p:nvPr/>
          </p:nvSpPr>
          <p:spPr>
            <a:xfrm>
              <a:off x="605790" y="4306252"/>
              <a:ext cx="2503313" cy="213360"/>
            </a:xfrm>
            <a:prstGeom prst="rect">
              <a:avLst/>
            </a:prstGeom>
            <a:noFill/>
            <a:ln>
              <a:noFill/>
            </a:ln>
          </p:spPr>
          <p:txBody>
            <a:bodyPr wrap="none" lIns="0" tIns="0" rIns="0" bIns="0" anchor="t" anchorCtr="0">
              <a:spAutoFit/>
            </a:bodyPr>
            <a:lstStyle/>
            <a:p>
              <a:pPr algn="l"/>
              <a:r>
                <a:rPr lang="zh-CN" sz="1050" dirty="0">
                  <a:solidFill>
                    <a:srgbClr val="6A9955"/>
                  </a:solidFill>
                  <a:latin typeface="Consolas"/>
                  <a:ea typeface="Microsoft YaHei"/>
                  <a:cs typeface="Consolas"/>
                </a:rPr>
                <a:t>/* Lock -- prevents disabling */</a:t>
              </a:r>
              <a:r>
                <a:rPr lang="zh-CN" sz="1050" dirty="0">
                  <a:solidFill>
                    <a:srgbClr val="E0E0E0"/>
                  </a:solidFill>
                  <a:latin typeface="Consolas"/>
                  <a:ea typeface="Microsoft YaHei"/>
                  <a:cs typeface="Consolas"/>
                </a:rPr>
                <a:t>
</a:t>
              </a:r>
            </a:p>
          </p:txBody>
        </p:sp>
        <p:sp>
          <p:nvSpPr>
            <p:cNvPr id="22" name="TextBox 22"/>
            <p:cNvSpPr txBox="1"/>
            <p:nvPr/>
          </p:nvSpPr>
          <p:spPr>
            <a:xfrm>
              <a:off x="605790" y="4496752"/>
              <a:ext cx="2380631"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arch_prctl(</a:t>
              </a:r>
              <a:r>
                <a:rPr lang="zh-CN" sz="1050" dirty="0">
                  <a:solidFill>
                    <a:srgbClr val="0AB36E"/>
                  </a:solidFill>
                  <a:latin typeface="Consolas"/>
                  <a:ea typeface="Microsoft YaHei"/>
                  <a:cs typeface="Consolas"/>
                </a:rPr>
                <a:t>ARCH_SHSTK_LOCK</a:t>
              </a:r>
              <a:r>
                <a:rPr lang="zh-CN" sz="1050" dirty="0">
                  <a:solidFill>
                    <a:srgbClr val="E0E0E0"/>
                  </a:solidFill>
                  <a:latin typeface="Consolas"/>
                  <a:ea typeface="Microsoft YaHei"/>
                  <a:cs typeface="Consolas"/>
                </a:rPr>
                <a:t>,
</a:t>
              </a:r>
            </a:p>
          </p:txBody>
        </p:sp>
        <p:sp>
          <p:nvSpPr>
            <p:cNvPr id="23" name="TextBox 23"/>
            <p:cNvSpPr txBox="1"/>
            <p:nvPr/>
          </p:nvSpPr>
          <p:spPr>
            <a:xfrm>
              <a:off x="605790" y="4687252"/>
              <a:ext cx="2135267" cy="213360"/>
            </a:xfrm>
            <a:prstGeom prst="rect">
              <a:avLst/>
            </a:prstGeom>
            <a:noFill/>
            <a:ln>
              <a:noFill/>
            </a:ln>
          </p:spPr>
          <p:txBody>
            <a:bodyPr wrap="none" lIns="0" tIns="0" rIns="0" bIns="0" anchor="t" anchorCtr="0">
              <a:spAutoFit/>
            </a:bodyPr>
            <a:lstStyle/>
            <a:p>
              <a:pPr algn="l"/>
              <a:r>
                <a:rPr lang="zh-CN" sz="1050" dirty="0">
                  <a:solidFill>
                    <a:srgbClr val="E0E0E0"/>
                  </a:solidFill>
                  <a:latin typeface="Consolas"/>
                  <a:ea typeface="Microsoft YaHei"/>
                  <a:cs typeface="Consolas"/>
                </a:rPr>
                <a:t>           </a:t>
              </a:r>
              <a:r>
                <a:rPr lang="zh-CN" sz="1050" dirty="0">
                  <a:solidFill>
                    <a:srgbClr val="0AB36E"/>
                  </a:solidFill>
                  <a:latin typeface="Consolas"/>
                  <a:ea typeface="Microsoft YaHei"/>
                  <a:cs typeface="Consolas"/>
                </a:rPr>
                <a:t>ARCH_SHSTK_SHSTK</a:t>
              </a:r>
              <a:r>
                <a:rPr lang="zh-CN" sz="1050" dirty="0">
                  <a:solidFill>
                    <a:srgbClr val="E0E0E0"/>
                  </a:solidFill>
                  <a:latin typeface="Consolas"/>
                  <a:ea typeface="Microsoft YaHei"/>
                  <a:cs typeface="Consolas"/>
                </a:rPr>
                <a:t>);
</a:t>
              </a:r>
            </a:p>
          </p:txBody>
        </p:sp>
      </p:grpSp>
      <p:grpSp>
        <p:nvGrpSpPr>
          <p:cNvPr id="33" name="Group 33"/>
          <p:cNvGrpSpPr/>
          <p:nvPr/>
        </p:nvGrpSpPr>
        <p:grpSpPr>
          <a:xfrm>
            <a:off x="6000750" y="1285875"/>
            <a:ext cx="5715000" cy="733425"/>
            <a:chOff x="6000750" y="1285875"/>
            <a:chExt cx="5715000" cy="733425"/>
          </a:xfrm>
        </p:grpSpPr>
        <p:sp>
          <p:nvSpPr>
            <p:cNvPr id="25" name="Rectangle 25"/>
            <p:cNvSpPr/>
            <p:nvPr/>
          </p:nvSpPr>
          <p:spPr>
            <a:xfrm>
              <a:off x="6000750" y="1285875"/>
              <a:ext cx="5715000" cy="714375"/>
            </a:xfrm>
            <a:prstGeom prst="roundRect">
              <a:avLst>
                <a:gd name="adj" fmla="val 10667"/>
              </a:avLst>
            </a:prstGeom>
            <a:solidFill>
              <a:srgbClr val="FFF5F5"/>
            </a:solidFill>
            <a:ln w="14288">
              <a:solidFill>
                <a:srgbClr val="EF4444"/>
              </a:solidFill>
            </a:ln>
          </p:spPr>
        </p:sp>
        <p:grpSp>
          <p:nvGrpSpPr>
            <p:cNvPr id="29" name="Group 29"/>
            <p:cNvGrpSpPr/>
            <p:nvPr/>
          </p:nvGrpSpPr>
          <p:grpSpPr>
            <a:xfrm>
              <a:off x="6203156" y="1464469"/>
              <a:ext cx="166688" cy="214312"/>
              <a:chOff x="6203156" y="1464469"/>
              <a:chExt cx="166688" cy="214312"/>
            </a:xfrm>
          </p:grpSpPr>
          <p:sp>
            <p:nvSpPr>
              <p:cNvPr id="26" name="Freeform 26"/>
              <p:cNvSpPr/>
              <p:nvPr/>
            </p:nvSpPr>
            <p:spPr>
              <a:xfrm>
                <a:off x="6203156" y="1559719"/>
                <a:ext cx="166688" cy="119062"/>
              </a:xfrm>
              <a:custGeom>
                <a:avLst/>
                <a:gdLst/>
                <a:ahLst/>
                <a:cxnLst/>
                <a:rect l="l" t="t" r="r" b="b"/>
                <a:pathLst>
                  <a:path w="166688" h="119062">
                    <a:moveTo>
                      <a:pt x="0" y="23812"/>
                    </a:moveTo>
                    <a:cubicBezTo>
                      <a:pt x="0" y="10661"/>
                      <a:pt x="10661" y="0"/>
                      <a:pt x="23812" y="0"/>
                    </a:cubicBezTo>
                    <a:lnTo>
                      <a:pt x="142875" y="0"/>
                    </a:lnTo>
                    <a:cubicBezTo>
                      <a:pt x="156026" y="0"/>
                      <a:pt x="166688" y="10661"/>
                      <a:pt x="166688" y="23812"/>
                    </a:cubicBezTo>
                    <a:lnTo>
                      <a:pt x="166688" y="95250"/>
                    </a:lnTo>
                    <a:cubicBezTo>
                      <a:pt x="166688" y="108401"/>
                      <a:pt x="156026" y="119062"/>
                      <a:pt x="142875" y="119062"/>
                    </a:cubicBezTo>
                    <a:lnTo>
                      <a:pt x="23812" y="119062"/>
                    </a:lnTo>
                    <a:cubicBezTo>
                      <a:pt x="10661" y="119062"/>
                      <a:pt x="0" y="108401"/>
                      <a:pt x="0" y="95250"/>
                    </a:cubicBezTo>
                    <a:lnTo>
                      <a:pt x="0" y="23812"/>
                    </a:lnTo>
                  </a:path>
                </a:pathLst>
              </a:custGeom>
              <a:noFill/>
              <a:ln w="19050">
                <a:solidFill>
                  <a:srgbClr val="EF4444"/>
                </a:solidFill>
              </a:ln>
            </p:spPr>
          </p:sp>
          <p:sp>
            <p:nvSpPr>
              <p:cNvPr id="27" name="Freeform 27"/>
              <p:cNvSpPr/>
              <p:nvPr/>
            </p:nvSpPr>
            <p:spPr>
              <a:xfrm>
                <a:off x="6274594" y="1607344"/>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9050">
                <a:solidFill>
                  <a:srgbClr val="EF4444"/>
                </a:solidFill>
              </a:ln>
            </p:spPr>
          </p:sp>
          <p:sp>
            <p:nvSpPr>
              <p:cNvPr id="28" name="Freeform 28"/>
              <p:cNvSpPr/>
              <p:nvPr/>
            </p:nvSpPr>
            <p:spPr>
              <a:xfrm>
                <a:off x="6238875" y="1464469"/>
                <a:ext cx="95250" cy="95250"/>
              </a:xfrm>
              <a:custGeom>
                <a:avLst/>
                <a:gdLst/>
                <a:ahLst/>
                <a:cxnLst/>
                <a:rect l="l" t="t" r="r" b="b"/>
                <a:pathLst>
                  <a:path w="95250" h="95250">
                    <a:moveTo>
                      <a:pt x="0" y="95250"/>
                    </a:moveTo>
                    <a:lnTo>
                      <a:pt x="0" y="47625"/>
                    </a:lnTo>
                    <a:cubicBezTo>
                      <a:pt x="0" y="21322"/>
                      <a:pt x="21322" y="0"/>
                      <a:pt x="47625" y="0"/>
                    </a:cubicBezTo>
                    <a:cubicBezTo>
                      <a:pt x="73928" y="0"/>
                      <a:pt x="95250" y="21322"/>
                      <a:pt x="95250" y="47625"/>
                    </a:cubicBezTo>
                    <a:lnTo>
                      <a:pt x="95250" y="95250"/>
                    </a:lnTo>
                  </a:path>
                </a:pathLst>
              </a:custGeom>
              <a:noFill/>
              <a:ln w="19050">
                <a:solidFill>
                  <a:srgbClr val="EF4444"/>
                </a:solidFill>
              </a:ln>
            </p:spPr>
          </p:sp>
        </p:grpSp>
        <p:sp>
          <p:nvSpPr>
            <p:cNvPr id="30" name="TextBox 30"/>
            <p:cNvSpPr txBox="1"/>
            <p:nvPr/>
          </p:nvSpPr>
          <p:spPr>
            <a:xfrm>
              <a:off x="6557010" y="1442085"/>
              <a:ext cx="472135" cy="243840"/>
            </a:xfrm>
            <a:prstGeom prst="rect">
              <a:avLst/>
            </a:prstGeom>
            <a:noFill/>
            <a:ln>
              <a:noFill/>
            </a:ln>
          </p:spPr>
          <p:txBody>
            <a:bodyPr wrap="none" lIns="0" tIns="0" rIns="0" bIns="0" anchor="t" anchorCtr="0">
              <a:spAutoFit/>
            </a:bodyPr>
            <a:lstStyle/>
            <a:p>
              <a:pPr algn="l"/>
              <a:r>
                <a:rPr lang="zh-CN" sz="1200" b="1" dirty="0">
                  <a:solidFill>
                    <a:srgbClr val="EF4444"/>
                  </a:solidFill>
                  <a:latin typeface="Arial"/>
                  <a:ea typeface="Microsoft YaHei"/>
                  <a:cs typeface="Arial"/>
                </a:rPr>
                <a:t>LOCK</a:t>
              </a:r>
            </a:p>
          </p:txBody>
        </p:sp>
        <p:sp>
          <p:nvSpPr>
            <p:cNvPr id="31" name="TextBox 31"/>
            <p:cNvSpPr txBox="1"/>
            <p:nvPr/>
          </p:nvSpPr>
          <p:spPr>
            <a:xfrm>
              <a:off x="6559868" y="1666399"/>
              <a:ext cx="3036499"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Prevents disable even by the process itself</a:t>
              </a:r>
            </a:p>
          </p:txBody>
        </p:sp>
        <p:sp>
          <p:nvSpPr>
            <p:cNvPr id="32" name="TextBox 32"/>
            <p:cNvSpPr txBox="1"/>
            <p:nvPr/>
          </p:nvSpPr>
          <p:spPr>
            <a:xfrm>
              <a:off x="6560820" y="1836420"/>
              <a:ext cx="3157823"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Attacker with code execution cannot call DISABLE</a:t>
              </a:r>
            </a:p>
          </p:txBody>
        </p:sp>
      </p:grpSp>
      <p:grpSp>
        <p:nvGrpSpPr>
          <p:cNvPr id="42" name="Group 42"/>
          <p:cNvGrpSpPr/>
          <p:nvPr/>
        </p:nvGrpSpPr>
        <p:grpSpPr>
          <a:xfrm>
            <a:off x="6000750" y="2124075"/>
            <a:ext cx="5715000" cy="733425"/>
            <a:chOff x="6000750" y="2124075"/>
            <a:chExt cx="5715000" cy="733425"/>
          </a:xfrm>
        </p:grpSpPr>
        <p:sp>
          <p:nvSpPr>
            <p:cNvPr id="34" name="Rectangle 34"/>
            <p:cNvSpPr/>
            <p:nvPr/>
          </p:nvSpPr>
          <p:spPr>
            <a:xfrm>
              <a:off x="6000750" y="2124075"/>
              <a:ext cx="5715000" cy="714375"/>
            </a:xfrm>
            <a:prstGeom prst="roundRect">
              <a:avLst>
                <a:gd name="adj" fmla="val 10667"/>
              </a:avLst>
            </a:prstGeom>
            <a:solidFill>
              <a:srgbClr val="F5F0FF"/>
            </a:solidFill>
            <a:ln w="14288">
              <a:solidFill>
                <a:srgbClr val="AF00C0"/>
              </a:solidFill>
            </a:ln>
          </p:spPr>
        </p:sp>
        <p:grpSp>
          <p:nvGrpSpPr>
            <p:cNvPr id="38" name="Group 38"/>
            <p:cNvGrpSpPr/>
            <p:nvPr/>
          </p:nvGrpSpPr>
          <p:grpSpPr>
            <a:xfrm>
              <a:off x="6179344" y="2314575"/>
              <a:ext cx="214312" cy="190500"/>
              <a:chOff x="6179344" y="2314575"/>
              <a:chExt cx="214312" cy="190500"/>
            </a:xfrm>
          </p:grpSpPr>
          <p:sp>
            <p:nvSpPr>
              <p:cNvPr id="35" name="Freeform 35"/>
              <p:cNvSpPr/>
              <p:nvPr/>
            </p:nvSpPr>
            <p:spPr>
              <a:xfrm>
                <a:off x="6238875" y="2374106"/>
                <a:ext cx="35719" cy="71438"/>
              </a:xfrm>
              <a:custGeom>
                <a:avLst/>
                <a:gdLst/>
                <a:ahLst/>
                <a:cxnLst/>
                <a:rect l="l" t="t" r="r" b="b"/>
                <a:pathLst>
                  <a:path w="35719" h="71438">
                    <a:moveTo>
                      <a:pt x="0" y="0"/>
                    </a:moveTo>
                    <a:lnTo>
                      <a:pt x="35719" y="35719"/>
                    </a:lnTo>
                    <a:lnTo>
                      <a:pt x="0" y="71438"/>
                    </a:lnTo>
                  </a:path>
                </a:pathLst>
              </a:custGeom>
              <a:noFill/>
              <a:ln w="19050">
                <a:solidFill>
                  <a:srgbClr val="AF00C0"/>
                </a:solidFill>
              </a:ln>
            </p:spPr>
          </p:sp>
          <p:sp>
            <p:nvSpPr>
              <p:cNvPr id="36" name="Freeform 36"/>
              <p:cNvSpPr/>
              <p:nvPr/>
            </p:nvSpPr>
            <p:spPr>
              <a:xfrm>
                <a:off x="6298406" y="2445544"/>
                <a:ext cx="35719" cy="9525"/>
              </a:xfrm>
              <a:custGeom>
                <a:avLst/>
                <a:gdLst/>
                <a:ahLst/>
                <a:cxnLst/>
                <a:rect l="l" t="t" r="r" b="b"/>
                <a:pathLst>
                  <a:path w="35719" h="9525">
                    <a:moveTo>
                      <a:pt x="0" y="0"/>
                    </a:moveTo>
                    <a:lnTo>
                      <a:pt x="35719" y="0"/>
                    </a:lnTo>
                  </a:path>
                </a:pathLst>
              </a:custGeom>
              <a:noFill/>
              <a:ln w="19050">
                <a:solidFill>
                  <a:srgbClr val="AF00C0"/>
                </a:solidFill>
              </a:ln>
            </p:spPr>
          </p:sp>
          <p:sp>
            <p:nvSpPr>
              <p:cNvPr id="37" name="Freeform 37"/>
              <p:cNvSpPr/>
              <p:nvPr/>
            </p:nvSpPr>
            <p:spPr>
              <a:xfrm>
                <a:off x="6179344" y="2314575"/>
                <a:ext cx="214312" cy="190500"/>
              </a:xfrm>
              <a:custGeom>
                <a:avLst/>
                <a:gdLst/>
                <a:ahLst/>
                <a:cxnLst/>
                <a:rect l="l" t="t" r="r" b="b"/>
                <a:pathLst>
                  <a:path w="214312" h="190500">
                    <a:moveTo>
                      <a:pt x="0" y="23812"/>
                    </a:moveTo>
                    <a:cubicBezTo>
                      <a:pt x="0" y="10661"/>
                      <a:pt x="10661" y="0"/>
                      <a:pt x="23812" y="0"/>
                    </a:cubicBezTo>
                    <a:lnTo>
                      <a:pt x="190500" y="0"/>
                    </a:lnTo>
                    <a:cubicBezTo>
                      <a:pt x="203651" y="0"/>
                      <a:pt x="214312" y="10661"/>
                      <a:pt x="214312" y="23812"/>
                    </a:cubicBezTo>
                    <a:lnTo>
                      <a:pt x="214312" y="166688"/>
                    </a:lnTo>
                    <a:cubicBezTo>
                      <a:pt x="214312" y="179839"/>
                      <a:pt x="203651" y="190500"/>
                      <a:pt x="190500" y="190500"/>
                    </a:cubicBezTo>
                    <a:lnTo>
                      <a:pt x="23812" y="190500"/>
                    </a:lnTo>
                    <a:cubicBezTo>
                      <a:pt x="10661" y="190500"/>
                      <a:pt x="0" y="179839"/>
                      <a:pt x="0" y="166688"/>
                    </a:cubicBezTo>
                    <a:lnTo>
                      <a:pt x="0" y="23812"/>
                    </a:lnTo>
                  </a:path>
                </a:pathLst>
              </a:custGeom>
              <a:noFill/>
              <a:ln w="19050">
                <a:solidFill>
                  <a:srgbClr val="AF00C0"/>
                </a:solidFill>
              </a:ln>
            </p:spPr>
          </p:sp>
        </p:grpSp>
        <p:sp>
          <p:nvSpPr>
            <p:cNvPr id="39" name="TextBox 39"/>
            <p:cNvSpPr txBox="1"/>
            <p:nvPr/>
          </p:nvSpPr>
          <p:spPr>
            <a:xfrm>
              <a:off x="6557010" y="2280285"/>
              <a:ext cx="674561" cy="243840"/>
            </a:xfrm>
            <a:prstGeom prst="rect">
              <a:avLst/>
            </a:prstGeom>
            <a:noFill/>
            <a:ln>
              <a:noFill/>
            </a:ln>
          </p:spPr>
          <p:txBody>
            <a:bodyPr wrap="none" lIns="0" tIns="0" rIns="0" bIns="0" anchor="t" anchorCtr="0">
              <a:spAutoFit/>
            </a:bodyPr>
            <a:lstStyle/>
            <a:p>
              <a:pPr algn="l"/>
              <a:r>
                <a:rPr lang="zh-CN" sz="1200" b="1" dirty="0">
                  <a:solidFill>
                    <a:srgbClr val="AF00C0"/>
                  </a:solidFill>
                  <a:latin typeface="Arial"/>
                  <a:ea typeface="Microsoft YaHei"/>
                  <a:cs typeface="Arial"/>
                </a:rPr>
                <a:t>UNLOCK</a:t>
              </a:r>
            </a:p>
          </p:txBody>
        </p:sp>
        <p:sp>
          <p:nvSpPr>
            <p:cNvPr id="40" name="TextBox 40"/>
            <p:cNvSpPr txBox="1"/>
            <p:nvPr/>
          </p:nvSpPr>
          <p:spPr>
            <a:xfrm>
              <a:off x="6559868" y="2504599"/>
              <a:ext cx="3292816"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Only via ptrace (for CRIU/checkpoint-restore)</a:t>
              </a:r>
            </a:p>
          </p:txBody>
        </p:sp>
        <p:sp>
          <p:nvSpPr>
            <p:cNvPr id="41" name="TextBox 41"/>
            <p:cNvSpPr txBox="1"/>
            <p:nvPr/>
          </p:nvSpPr>
          <p:spPr>
            <a:xfrm>
              <a:off x="6560820" y="2674620"/>
              <a:ext cx="2362581"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External debugger privilege required</a:t>
              </a:r>
            </a:p>
          </p:txBody>
        </p:sp>
      </p:grpSp>
      <p:grpSp>
        <p:nvGrpSpPr>
          <p:cNvPr id="47" name="Group 47"/>
          <p:cNvGrpSpPr/>
          <p:nvPr/>
        </p:nvGrpSpPr>
        <p:grpSpPr>
          <a:xfrm>
            <a:off x="6000750" y="2962275"/>
            <a:ext cx="5715000" cy="742950"/>
            <a:chOff x="6000750" y="2962275"/>
            <a:chExt cx="5715000" cy="742950"/>
          </a:xfrm>
        </p:grpSpPr>
        <p:sp>
          <p:nvSpPr>
            <p:cNvPr id="43" name="Rectangle 43"/>
            <p:cNvSpPr/>
            <p:nvPr/>
          </p:nvSpPr>
          <p:spPr>
            <a:xfrm>
              <a:off x="6000750" y="2962275"/>
              <a:ext cx="5715000" cy="714375"/>
            </a:xfrm>
            <a:prstGeom prst="roundRect">
              <a:avLst>
                <a:gd name="adj" fmla="val 10667"/>
              </a:avLst>
            </a:prstGeom>
            <a:solidFill>
              <a:srgbClr val="F0FFF4"/>
            </a:solidFill>
            <a:ln w="14288">
              <a:solidFill>
                <a:srgbClr val="0AB36E"/>
              </a:solidFill>
            </a:ln>
          </p:spPr>
        </p:sp>
        <p:sp>
          <p:nvSpPr>
            <p:cNvPr id="44" name="TextBox 44"/>
            <p:cNvSpPr txBox="1"/>
            <p:nvPr/>
          </p:nvSpPr>
          <p:spPr>
            <a:xfrm>
              <a:off x="6176010" y="3089910"/>
              <a:ext cx="1567072" cy="243840"/>
            </a:xfrm>
            <a:prstGeom prst="rect">
              <a:avLst/>
            </a:prstGeom>
            <a:noFill/>
            <a:ln>
              <a:noFill/>
            </a:ln>
          </p:spPr>
          <p:txBody>
            <a:bodyPr wrap="none" lIns="0" tIns="0" rIns="0" bIns="0" anchor="t" anchorCtr="0">
              <a:spAutoFit/>
            </a:bodyPr>
            <a:lstStyle/>
            <a:p>
              <a:pPr algn="l"/>
              <a:r>
                <a:rPr lang="zh-CN" sz="1200" b="1" dirty="0">
                  <a:solidFill>
                    <a:srgbClr val="0AB36E"/>
                  </a:solidFill>
                  <a:latin typeface="Arial"/>
                  <a:ea typeface="Microsoft YaHei"/>
                  <a:cs typeface="Arial"/>
                </a:rPr>
                <a:t>glibc auto-enable</a:t>
              </a:r>
            </a:p>
          </p:txBody>
        </p:sp>
        <p:sp>
          <p:nvSpPr>
            <p:cNvPr id="45" name="TextBox 45"/>
            <p:cNvSpPr txBox="1"/>
            <p:nvPr/>
          </p:nvSpPr>
          <p:spPr>
            <a:xfrm>
              <a:off x="6178868" y="3333274"/>
              <a:ext cx="3328416" cy="198120"/>
            </a:xfrm>
            <a:prstGeom prst="rect">
              <a:avLst/>
            </a:prstGeom>
            <a:noFill/>
            <a:ln>
              <a:noFill/>
            </a:ln>
          </p:spPr>
          <p:txBody>
            <a:bodyPr wrap="none" lIns="0" tIns="0" rIns="0" bIns="0" anchor="t" anchorCtr="0">
              <a:spAutoFit/>
            </a:bodyPr>
            <a:lstStyle/>
            <a:p>
              <a:pPr algn="l"/>
              <a:r>
                <a:rPr lang="zh-CN" sz="975" dirty="0">
                  <a:solidFill>
                    <a:srgbClr val="000000"/>
                  </a:solidFill>
                  <a:latin typeface="Arial"/>
                  <a:ea typeface="Microsoft YaHei"/>
                  <a:cs typeface="Arial"/>
                </a:rPr>
                <a:t>CET-compiled binaries with GNU property notes:</a:t>
              </a:r>
            </a:p>
          </p:txBody>
        </p:sp>
        <p:sp>
          <p:nvSpPr>
            <p:cNvPr id="46" name="TextBox 46"/>
            <p:cNvSpPr txBox="1"/>
            <p:nvPr/>
          </p:nvSpPr>
          <p:spPr>
            <a:xfrm>
              <a:off x="6179820" y="3522345"/>
              <a:ext cx="2862072" cy="182880"/>
            </a:xfrm>
            <a:prstGeom prst="rect">
              <a:avLst/>
            </a:prstGeom>
            <a:noFill/>
            <a:ln>
              <a:noFill/>
            </a:ln>
          </p:spPr>
          <p:txBody>
            <a:bodyPr wrap="none" lIns="0" tIns="0" rIns="0" bIns="0" anchor="t" anchorCtr="0">
              <a:spAutoFit/>
            </a:bodyPr>
            <a:lstStyle/>
            <a:p>
              <a:pPr algn="l"/>
              <a:r>
                <a:rPr lang="zh-CN" sz="900" dirty="0">
                  <a:solidFill>
                    <a:srgbClr val="333333"/>
                  </a:solidFill>
                  <a:latin typeface="Arial"/>
                  <a:ea typeface="Microsoft YaHei"/>
                  <a:cs typeface="Arial"/>
                </a:rPr>
                <a:t>Dynamic linker enables + locks before main()</a:t>
              </a:r>
            </a:p>
          </p:txBody>
        </p:sp>
      </p:grpSp>
      <p:grpSp>
        <p:nvGrpSpPr>
          <p:cNvPr id="53" name="Group 53"/>
          <p:cNvGrpSpPr/>
          <p:nvPr/>
        </p:nvGrpSpPr>
        <p:grpSpPr>
          <a:xfrm>
            <a:off x="429696" y="5024437"/>
            <a:ext cx="11239500" cy="1000125"/>
            <a:chOff x="476250" y="4762500"/>
            <a:chExt cx="11239500" cy="1000125"/>
          </a:xfrm>
        </p:grpSpPr>
        <p:sp>
          <p:nvSpPr>
            <p:cNvPr id="48" name="Rectangle 48"/>
            <p:cNvSpPr/>
            <p:nvPr/>
          </p:nvSpPr>
          <p:spPr>
            <a:xfrm>
              <a:off x="476250" y="4762500"/>
              <a:ext cx="11239500" cy="1000125"/>
            </a:xfrm>
            <a:prstGeom prst="roundRect">
              <a:avLst>
                <a:gd name="adj" fmla="val 9524"/>
              </a:avLst>
            </a:prstGeom>
            <a:solidFill>
              <a:srgbClr val="1E293B"/>
            </a:solidFill>
            <a:ln>
              <a:noFill/>
            </a:ln>
          </p:spPr>
        </p:sp>
        <p:sp>
          <p:nvSpPr>
            <p:cNvPr id="49" name="TextBox 49"/>
            <p:cNvSpPr txBox="1"/>
            <p:nvPr/>
          </p:nvSpPr>
          <p:spPr>
            <a:xfrm>
              <a:off x="745808" y="4882039"/>
              <a:ext cx="2359126" cy="259080"/>
            </a:xfrm>
            <a:prstGeom prst="rect">
              <a:avLst/>
            </a:prstGeom>
            <a:noFill/>
            <a:ln>
              <a:noFill/>
            </a:ln>
          </p:spPr>
          <p:txBody>
            <a:bodyPr wrap="none" lIns="0" tIns="0" rIns="0" bIns="0" anchor="t" anchorCtr="0">
              <a:spAutoFit/>
            </a:bodyPr>
            <a:lstStyle/>
            <a:p>
              <a:pPr algn="l"/>
              <a:r>
                <a:rPr lang="zh-CN" sz="1275" b="1" dirty="0">
                  <a:solidFill>
                    <a:srgbClr val="0AB36E"/>
                  </a:solidFill>
                  <a:latin typeface="Arial"/>
                  <a:ea typeface="Microsoft YaHei"/>
                  <a:cs typeface="Arial"/>
                </a:rPr>
                <a:t>Production Escape Hatch</a:t>
              </a:r>
            </a:p>
          </p:txBody>
        </p:sp>
        <p:sp>
          <p:nvSpPr>
            <p:cNvPr id="50" name="Rectangle 50"/>
            <p:cNvSpPr/>
            <p:nvPr/>
          </p:nvSpPr>
          <p:spPr>
            <a:xfrm>
              <a:off x="762000" y="5162550"/>
              <a:ext cx="10668000" cy="400050"/>
            </a:xfrm>
            <a:prstGeom prst="roundRect">
              <a:avLst>
                <a:gd name="adj" fmla="val 14286"/>
              </a:avLst>
            </a:prstGeom>
            <a:solidFill>
              <a:srgbClr val="000000">
                <a:alpha val="30000"/>
              </a:srgbClr>
            </a:solidFill>
            <a:ln>
              <a:noFill/>
            </a:ln>
          </p:spPr>
        </p:sp>
        <p:sp>
          <p:nvSpPr>
            <p:cNvPr id="51" name="TextBox 51"/>
            <p:cNvSpPr txBox="1"/>
            <p:nvPr/>
          </p:nvSpPr>
          <p:spPr>
            <a:xfrm>
              <a:off x="4159329" y="5241131"/>
              <a:ext cx="3873341" cy="228600"/>
            </a:xfrm>
            <a:prstGeom prst="rect">
              <a:avLst/>
            </a:prstGeom>
            <a:noFill/>
            <a:ln>
              <a:noFill/>
            </a:ln>
          </p:spPr>
          <p:txBody>
            <a:bodyPr wrap="none" lIns="0" tIns="0" rIns="0" bIns="0" anchor="t" anchorCtr="0">
              <a:spAutoFit/>
            </a:bodyPr>
            <a:lstStyle/>
            <a:p>
              <a:pPr algn="ctr"/>
              <a:r>
                <a:rPr lang="zh-CN" sz="1125" dirty="0">
                  <a:solidFill>
                    <a:srgbClr val="F79646"/>
                  </a:solidFill>
                  <a:latin typeface="Consolas"/>
                  <a:ea typeface="Microsoft YaHei"/>
                  <a:cs typeface="Consolas"/>
                </a:rPr>
                <a:t>GLIBC_TUNABLES=glibc.cpu.hwcaps=-SHSTK ./app</a:t>
              </a:r>
            </a:p>
          </p:txBody>
        </p:sp>
        <p:sp>
          <p:nvSpPr>
            <p:cNvPr id="52" name="TextBox 52"/>
            <p:cNvSpPr txBox="1"/>
            <p:nvPr/>
          </p:nvSpPr>
          <p:spPr>
            <a:xfrm>
              <a:off x="3347228" y="5541645"/>
              <a:ext cx="5497544" cy="182880"/>
            </a:xfrm>
            <a:prstGeom prst="rect">
              <a:avLst/>
            </a:prstGeom>
            <a:noFill/>
            <a:ln>
              <a:noFill/>
            </a:ln>
          </p:spPr>
          <p:txBody>
            <a:bodyPr wrap="none" lIns="0" tIns="0" rIns="0" bIns="0" anchor="t" anchorCtr="0">
              <a:spAutoFit/>
            </a:bodyPr>
            <a:lstStyle/>
            <a:p>
              <a:pPr algn="ctr"/>
              <a:r>
                <a:rPr lang="zh-CN" sz="900" dirty="0">
                  <a:solidFill>
                    <a:srgbClr val="FFFFFF">
                      <a:alpha val="60000"/>
                    </a:srgbClr>
                  </a:solidFill>
                  <a:latin typeface="Arial"/>
                  <a:ea typeface="Microsoft YaHei"/>
                  <a:cs typeface="Arial"/>
                </a:rPr>
                <a:t>Per-process, no kernel restart needed — useful for legacy apps and incompatible JITs</a:t>
              </a:r>
            </a:p>
          </p:txBody>
        </p:sp>
      </p:grpSp>
      <p:grpSp>
        <p:nvGrpSpPr>
          <p:cNvPr id="56" name="Group 56"/>
          <p:cNvGrpSpPr/>
          <p:nvPr/>
        </p:nvGrpSpPr>
        <p:grpSpPr>
          <a:xfrm>
            <a:off x="10283883" y="5886450"/>
            <a:ext cx="1441392" cy="947738"/>
            <a:chOff x="10283883" y="5886450"/>
            <a:chExt cx="1441392" cy="947738"/>
          </a:xfrm>
        </p:grpSpPr>
        <p:pic>
          <p:nvPicPr>
            <p:cNvPr id="54" name="Image 54"/>
            <p:cNvPicPr>
              <a:picLocks noChangeAspect="1"/>
            </p:cNvPicPr>
            <p:nvPr/>
          </p:nvPicPr>
          <p:blipFill>
            <a:blip r:embed="rId4"/>
            <a:stretch>
              <a:fillRect/>
            </a:stretch>
          </p:blipFill>
          <p:spPr>
            <a:xfrm>
              <a:off x="10283883" y="5886450"/>
              <a:ext cx="1158759" cy="381000"/>
            </a:xfrm>
            <a:prstGeom prst="rect">
              <a:avLst/>
            </a:prstGeom>
          </p:spPr>
        </p:pic>
        <p:sp>
          <p:nvSpPr>
            <p:cNvPr id="55" name="TextBox 55"/>
            <p:cNvSpPr txBox="1"/>
            <p:nvPr/>
          </p:nvSpPr>
          <p:spPr>
            <a:xfrm>
              <a:off x="11613118" y="6681788"/>
              <a:ext cx="112157"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16</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400"/>
                                        <p:tgtEl>
                                          <p:spTgt spid="24"/>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lide(fromLeft)">
                                      <p:cBhvr>
                                        <p:cTn id="15" dur="400"/>
                                        <p:tgtEl>
                                          <p:spTgt spid="33"/>
                                        </p:tgtEl>
                                      </p:cBhvr>
                                    </p:animEffect>
                                  </p:childTnLst>
                                </p:cTn>
                              </p:par>
                            </p:childTnLst>
                          </p:cTn>
                        </p:par>
                        <p:par>
                          <p:cTn id="16" fill="hold">
                            <p:stCondLst>
                              <p:cond delay="2700"/>
                            </p:stCondLst>
                            <p:childTnLst>
                              <p:par>
                                <p:cTn id="17" presetID="14" presetClass="entr" presetSubtype="1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randombar(horizontal)">
                                      <p:cBhvr>
                                        <p:cTn id="19" dur="400"/>
                                        <p:tgtEl>
                                          <p:spTgt spid="42"/>
                                        </p:tgtEl>
                                      </p:cBhvr>
                                    </p:animEffect>
                                  </p:childTnLst>
                                </p:cTn>
                              </p:par>
                            </p:childTnLst>
                          </p:cTn>
                        </p:par>
                        <p:par>
                          <p:cTn id="20" fill="hold">
                            <p:stCondLst>
                              <p:cond delay="3600"/>
                            </p:stCondLst>
                            <p:childTnLst>
                              <p:par>
                                <p:cTn id="21" presetID="4" presetClass="entr" presetSubtype="0"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box(in)">
                                      <p:cBhvr>
                                        <p:cTn id="23" dur="400"/>
                                        <p:tgtEl>
                                          <p:spTgt spid="47"/>
                                        </p:tgtEl>
                                      </p:cBhvr>
                                    </p:animEffect>
                                  </p:childTnLst>
                                </p:cTn>
                              </p:par>
                            </p:childTnLst>
                          </p:cTn>
                        </p:par>
                        <p:par>
                          <p:cTn id="24" fill="hold">
                            <p:stCondLst>
                              <p:cond delay="4500"/>
                            </p:stCondLst>
                            <p:childTnLst>
                              <p:par>
                                <p:cTn id="25" presetID="16" presetClass="entr" presetSubtype="21"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barn(inVertical)">
                                      <p:cBhvr>
                                        <p:cTn id="27"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4" grpId="0"/>
      <p:bldP spid="33" grpId="0"/>
      <p:bldP spid="42" grpId="0"/>
      <p:bldP spid="47" grpId="0"/>
      <p:bldP spid="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grpSp>
      <p:sp>
        <p:nvSpPr>
          <p:cNvPr id="5" name="TextBox 5"/>
          <p:cNvSpPr txBox="1"/>
          <p:nvPr/>
        </p:nvSpPr>
        <p:spPr>
          <a:xfrm>
            <a:off x="445770" y="502920"/>
            <a:ext cx="4422305"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Edge Cases &amp; Deployment</a:t>
            </a:r>
          </a:p>
        </p:txBody>
      </p:sp>
      <p:grpSp>
        <p:nvGrpSpPr>
          <p:cNvPr id="23" name="Group 23"/>
          <p:cNvGrpSpPr/>
          <p:nvPr/>
        </p:nvGrpSpPr>
        <p:grpSpPr>
          <a:xfrm>
            <a:off x="476250" y="1285875"/>
            <a:ext cx="3524250" cy="4476750"/>
            <a:chOff x="476250" y="1285875"/>
            <a:chExt cx="3524250" cy="4476750"/>
          </a:xfrm>
        </p:grpSpPr>
        <p:sp>
          <p:nvSpPr>
            <p:cNvPr id="6" name="Rectangle 6"/>
            <p:cNvSpPr/>
            <p:nvPr/>
          </p:nvSpPr>
          <p:spPr>
            <a:xfrm>
              <a:off x="476250" y="1285875"/>
              <a:ext cx="3524250" cy="4476750"/>
            </a:xfrm>
            <a:prstGeom prst="roundRect">
              <a:avLst>
                <a:gd name="adj" fmla="val 2703"/>
              </a:avLst>
            </a:prstGeom>
            <a:solidFill>
              <a:srgbClr val="FFFFFF"/>
            </a:solidFill>
            <a:ln w="14288">
              <a:solidFill>
                <a:srgbClr val="0AB36E"/>
              </a:solidFill>
            </a:ln>
          </p:spPr>
        </p:sp>
        <p:sp>
          <p:nvSpPr>
            <p:cNvPr id="7" name="Rectangle 7"/>
            <p:cNvSpPr/>
            <p:nvPr/>
          </p:nvSpPr>
          <p:spPr>
            <a:xfrm>
              <a:off x="476250" y="1285875"/>
              <a:ext cx="3524250" cy="381000"/>
            </a:xfrm>
            <a:prstGeom prst="roundRect">
              <a:avLst>
                <a:gd name="adj" fmla="val 25000"/>
              </a:avLst>
            </a:prstGeom>
            <a:solidFill>
              <a:srgbClr val="0AB36E"/>
            </a:solidFill>
            <a:ln>
              <a:noFill/>
            </a:ln>
          </p:spPr>
        </p:sp>
        <p:sp>
          <p:nvSpPr>
            <p:cNvPr id="8" name="Rectangle 8"/>
            <p:cNvSpPr/>
            <p:nvPr/>
          </p:nvSpPr>
          <p:spPr>
            <a:xfrm>
              <a:off x="476250" y="1495425"/>
              <a:ext cx="3524250" cy="171450"/>
            </a:xfrm>
            <a:prstGeom prst="rect">
              <a:avLst/>
            </a:prstGeom>
            <a:solidFill>
              <a:srgbClr val="0AB36E"/>
            </a:solidFill>
            <a:ln>
              <a:noFill/>
            </a:ln>
          </p:spPr>
        </p:sp>
        <p:sp>
          <p:nvSpPr>
            <p:cNvPr id="9" name="TextBox 9"/>
            <p:cNvSpPr txBox="1"/>
            <p:nvPr/>
          </p:nvSpPr>
          <p:spPr>
            <a:xfrm>
              <a:off x="1444973" y="1405414"/>
              <a:ext cx="158680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setjmp / longjmp</a:t>
              </a:r>
            </a:p>
          </p:txBody>
        </p:sp>
        <p:sp>
          <p:nvSpPr>
            <p:cNvPr id="10" name="TextBox 10"/>
            <p:cNvSpPr txBox="1"/>
            <p:nvPr/>
          </p:nvSpPr>
          <p:spPr>
            <a:xfrm>
              <a:off x="701040" y="1839278"/>
              <a:ext cx="727108" cy="213360"/>
            </a:xfrm>
            <a:prstGeom prst="rect">
              <a:avLst/>
            </a:prstGeom>
            <a:noFill/>
            <a:ln>
              <a:noFill/>
            </a:ln>
          </p:spPr>
          <p:txBody>
            <a:bodyPr wrap="none" lIns="0" tIns="0" rIns="0" bIns="0" anchor="t" anchorCtr="0">
              <a:spAutoFit/>
            </a:bodyPr>
            <a:lstStyle/>
            <a:p>
              <a:pPr algn="l"/>
              <a:r>
                <a:rPr lang="zh-CN" sz="1050" b="1" dirty="0">
                  <a:solidFill>
                    <a:srgbClr val="EF4444"/>
                  </a:solidFill>
                  <a:latin typeface="Arial"/>
                  <a:ea typeface="Microsoft YaHei"/>
                  <a:cs typeface="Arial"/>
                </a:rPr>
                <a:t>Problem:</a:t>
              </a:r>
            </a:p>
          </p:txBody>
        </p:sp>
        <p:sp>
          <p:nvSpPr>
            <p:cNvPr id="11" name="TextBox 11"/>
            <p:cNvSpPr txBox="1"/>
            <p:nvPr/>
          </p:nvSpPr>
          <p:spPr>
            <a:xfrm>
              <a:off x="701040" y="2048828"/>
              <a:ext cx="2012585"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longjmp skips intermediate</a:t>
              </a:r>
            </a:p>
          </p:txBody>
        </p:sp>
        <p:sp>
          <p:nvSpPr>
            <p:cNvPr id="12" name="TextBox 12"/>
            <p:cNvSpPr txBox="1"/>
            <p:nvPr/>
          </p:nvSpPr>
          <p:spPr>
            <a:xfrm>
              <a:off x="701040" y="2239328"/>
              <a:ext cx="1997250"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frames, shadow stack has</a:t>
              </a:r>
            </a:p>
          </p:txBody>
        </p:sp>
        <p:sp>
          <p:nvSpPr>
            <p:cNvPr id="13" name="TextBox 13"/>
            <p:cNvSpPr txBox="1"/>
            <p:nvPr/>
          </p:nvSpPr>
          <p:spPr>
            <a:xfrm>
              <a:off x="701040" y="2429828"/>
              <a:ext cx="1008126"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stale entries</a:t>
              </a:r>
            </a:p>
          </p:txBody>
        </p:sp>
        <p:sp>
          <p:nvSpPr>
            <p:cNvPr id="14" name="Rectangle 14"/>
            <p:cNvSpPr/>
            <p:nvPr/>
          </p:nvSpPr>
          <p:spPr>
            <a:xfrm>
              <a:off x="714375" y="2762250"/>
              <a:ext cx="3048000" cy="19050"/>
            </a:xfrm>
            <a:prstGeom prst="rect">
              <a:avLst/>
            </a:prstGeom>
            <a:solidFill>
              <a:srgbClr val="E0E0E0"/>
            </a:solidFill>
            <a:ln>
              <a:noFill/>
            </a:ln>
          </p:spPr>
        </p:sp>
        <p:sp>
          <p:nvSpPr>
            <p:cNvPr id="15" name="TextBox 15"/>
            <p:cNvSpPr txBox="1"/>
            <p:nvPr/>
          </p:nvSpPr>
          <p:spPr>
            <a:xfrm>
              <a:off x="701040" y="2915602"/>
              <a:ext cx="743210" cy="213360"/>
            </a:xfrm>
            <a:prstGeom prst="rect">
              <a:avLst/>
            </a:prstGeom>
            <a:noFill/>
            <a:ln>
              <a:noFill/>
            </a:ln>
          </p:spPr>
          <p:txBody>
            <a:bodyPr wrap="none" lIns="0" tIns="0" rIns="0" bIns="0" anchor="t" anchorCtr="0">
              <a:spAutoFit/>
            </a:bodyPr>
            <a:lstStyle/>
            <a:p>
              <a:pPr algn="l"/>
              <a:r>
                <a:rPr lang="zh-CN" sz="1050" b="1" dirty="0">
                  <a:solidFill>
                    <a:srgbClr val="0AB36E"/>
                  </a:solidFill>
                  <a:latin typeface="Arial"/>
                  <a:ea typeface="Microsoft YaHei"/>
                  <a:cs typeface="Arial"/>
                </a:rPr>
                <a:t>Solution:</a:t>
              </a:r>
            </a:p>
          </p:txBody>
        </p:sp>
        <p:sp>
          <p:nvSpPr>
            <p:cNvPr id="16" name="TextBox 16"/>
            <p:cNvSpPr txBox="1"/>
            <p:nvPr/>
          </p:nvSpPr>
          <p:spPr>
            <a:xfrm>
              <a:off x="701040" y="3125152"/>
              <a:ext cx="1268825"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glibc uses </a:t>
              </a:r>
              <a:r>
                <a:rPr lang="zh-CN" sz="1050" dirty="0">
                  <a:solidFill>
                    <a:srgbClr val="AF00C0"/>
                  </a:solidFill>
                  <a:latin typeface="Consolas"/>
                  <a:ea typeface="Microsoft YaHei"/>
                  <a:cs typeface="Consolas"/>
                </a:rPr>
                <a:t>INCSSP</a:t>
              </a:r>
            </a:p>
          </p:txBody>
        </p:sp>
        <p:sp>
          <p:nvSpPr>
            <p:cNvPr id="17" name="TextBox 17"/>
            <p:cNvSpPr txBox="1"/>
            <p:nvPr/>
          </p:nvSpPr>
          <p:spPr>
            <a:xfrm>
              <a:off x="701040" y="3315652"/>
              <a:ext cx="2242614"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to advance past stale entries</a:t>
              </a:r>
            </a:p>
          </p:txBody>
        </p:sp>
        <p:sp>
          <p:nvSpPr>
            <p:cNvPr id="18" name="Rectangle 18"/>
            <p:cNvSpPr/>
            <p:nvPr/>
          </p:nvSpPr>
          <p:spPr>
            <a:xfrm>
              <a:off x="714375" y="3667125"/>
              <a:ext cx="3048000" cy="19050"/>
            </a:xfrm>
            <a:prstGeom prst="rect">
              <a:avLst/>
            </a:prstGeom>
            <a:solidFill>
              <a:srgbClr val="E0E0E0"/>
            </a:solidFill>
            <a:ln>
              <a:noFill/>
            </a:ln>
          </p:spPr>
        </p:sp>
        <p:sp>
          <p:nvSpPr>
            <p:cNvPr id="19" name="TextBox 19"/>
            <p:cNvSpPr txBox="1"/>
            <p:nvPr/>
          </p:nvSpPr>
          <p:spPr>
            <a:xfrm>
              <a:off x="701040" y="3820478"/>
              <a:ext cx="1089403" cy="213360"/>
            </a:xfrm>
            <a:prstGeom prst="rect">
              <a:avLst/>
            </a:prstGeom>
            <a:noFill/>
            <a:ln>
              <a:noFill/>
            </a:ln>
          </p:spPr>
          <p:txBody>
            <a:bodyPr wrap="none" lIns="0" tIns="0" rIns="0" bIns="0" anchor="t" anchorCtr="0">
              <a:spAutoFit/>
            </a:bodyPr>
            <a:lstStyle/>
            <a:p>
              <a:pPr algn="l"/>
              <a:r>
                <a:rPr lang="zh-CN" sz="1050" b="1" dirty="0">
                  <a:solidFill>
                    <a:srgbClr val="AF00C0"/>
                  </a:solidFill>
                  <a:latin typeface="Arial"/>
                  <a:ea typeface="Microsoft YaHei"/>
                  <a:cs typeface="Arial"/>
                </a:rPr>
                <a:t>Deep longjmp:</a:t>
              </a:r>
            </a:p>
          </p:txBody>
        </p:sp>
        <p:sp>
          <p:nvSpPr>
            <p:cNvPr id="20" name="TextBox 20"/>
            <p:cNvSpPr txBox="1"/>
            <p:nvPr/>
          </p:nvSpPr>
          <p:spPr>
            <a:xfrm>
              <a:off x="701040" y="4030028"/>
              <a:ext cx="1322499"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May require </a:t>
              </a:r>
              <a:r>
                <a:rPr lang="zh-CN" sz="1050" dirty="0">
                  <a:solidFill>
                    <a:srgbClr val="AF00C0"/>
                  </a:solidFill>
                  <a:latin typeface="Consolas"/>
                  <a:ea typeface="Microsoft YaHei"/>
                  <a:cs typeface="Consolas"/>
                </a:rPr>
                <a:t>WRSS</a:t>
              </a:r>
            </a:p>
          </p:txBody>
        </p:sp>
        <p:sp>
          <p:nvSpPr>
            <p:cNvPr id="21" name="TextBox 21"/>
            <p:cNvSpPr txBox="1"/>
            <p:nvPr/>
          </p:nvSpPr>
          <p:spPr>
            <a:xfrm>
              <a:off x="701040" y="4220528"/>
              <a:ext cx="1560195"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(separate opt-in via</a:t>
              </a:r>
            </a:p>
          </p:txBody>
        </p:sp>
        <p:sp>
          <p:nvSpPr>
            <p:cNvPr id="22" name="TextBox 22"/>
            <p:cNvSpPr txBox="1"/>
            <p:nvPr/>
          </p:nvSpPr>
          <p:spPr>
            <a:xfrm>
              <a:off x="701040" y="4411028"/>
              <a:ext cx="916115"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arch_prctl)</a:t>
              </a:r>
            </a:p>
          </p:txBody>
        </p:sp>
      </p:grpSp>
      <p:grpSp>
        <p:nvGrpSpPr>
          <p:cNvPr id="39" name="Group 39"/>
          <p:cNvGrpSpPr/>
          <p:nvPr/>
        </p:nvGrpSpPr>
        <p:grpSpPr>
          <a:xfrm>
            <a:off x="4333875" y="1285875"/>
            <a:ext cx="3524250" cy="4476750"/>
            <a:chOff x="4333875" y="1285875"/>
            <a:chExt cx="3524250" cy="4476750"/>
          </a:xfrm>
        </p:grpSpPr>
        <p:sp>
          <p:nvSpPr>
            <p:cNvPr id="24" name="Rectangle 24"/>
            <p:cNvSpPr/>
            <p:nvPr/>
          </p:nvSpPr>
          <p:spPr>
            <a:xfrm>
              <a:off x="4333875" y="1285875"/>
              <a:ext cx="3524250" cy="4476750"/>
            </a:xfrm>
            <a:prstGeom prst="roundRect">
              <a:avLst>
                <a:gd name="adj" fmla="val 2703"/>
              </a:avLst>
            </a:prstGeom>
            <a:solidFill>
              <a:srgbClr val="FFFFFF"/>
            </a:solidFill>
            <a:ln w="14288">
              <a:solidFill>
                <a:srgbClr val="AF00C0"/>
              </a:solidFill>
            </a:ln>
          </p:spPr>
        </p:sp>
        <p:sp>
          <p:nvSpPr>
            <p:cNvPr id="25" name="Rectangle 25"/>
            <p:cNvSpPr/>
            <p:nvPr/>
          </p:nvSpPr>
          <p:spPr>
            <a:xfrm>
              <a:off x="4333875" y="1285875"/>
              <a:ext cx="3524250" cy="381000"/>
            </a:xfrm>
            <a:prstGeom prst="roundRect">
              <a:avLst>
                <a:gd name="adj" fmla="val 25000"/>
              </a:avLst>
            </a:prstGeom>
            <a:solidFill>
              <a:srgbClr val="AF00C0"/>
            </a:solidFill>
            <a:ln>
              <a:noFill/>
            </a:ln>
          </p:spPr>
        </p:sp>
        <p:sp>
          <p:nvSpPr>
            <p:cNvPr id="26" name="Rectangle 26"/>
            <p:cNvSpPr/>
            <p:nvPr/>
          </p:nvSpPr>
          <p:spPr>
            <a:xfrm>
              <a:off x="4333875" y="1495425"/>
              <a:ext cx="3524250" cy="171450"/>
            </a:xfrm>
            <a:prstGeom prst="rect">
              <a:avLst/>
            </a:prstGeom>
            <a:solidFill>
              <a:srgbClr val="AF00C0"/>
            </a:solidFill>
            <a:ln>
              <a:noFill/>
            </a:ln>
          </p:spPr>
        </p:sp>
        <p:sp>
          <p:nvSpPr>
            <p:cNvPr id="27" name="TextBox 27"/>
            <p:cNvSpPr txBox="1"/>
            <p:nvPr/>
          </p:nvSpPr>
          <p:spPr>
            <a:xfrm>
              <a:off x="5561668" y="1405414"/>
              <a:ext cx="1068665"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JIT Engines</a:t>
              </a:r>
            </a:p>
          </p:txBody>
        </p:sp>
        <p:sp>
          <p:nvSpPr>
            <p:cNvPr id="28" name="TextBox 28"/>
            <p:cNvSpPr txBox="1"/>
            <p:nvPr/>
          </p:nvSpPr>
          <p:spPr>
            <a:xfrm>
              <a:off x="4558665" y="1839278"/>
              <a:ext cx="1322882" cy="213360"/>
            </a:xfrm>
            <a:prstGeom prst="rect">
              <a:avLst/>
            </a:prstGeom>
            <a:noFill/>
            <a:ln>
              <a:noFill/>
            </a:ln>
          </p:spPr>
          <p:txBody>
            <a:bodyPr wrap="none" lIns="0" tIns="0" rIns="0" bIns="0" anchor="t" anchorCtr="0">
              <a:spAutoFit/>
            </a:bodyPr>
            <a:lstStyle/>
            <a:p>
              <a:pPr algn="l"/>
              <a:r>
                <a:rPr lang="zh-CN" sz="1050" b="1" dirty="0">
                  <a:solidFill>
                    <a:srgbClr val="000000"/>
                  </a:solidFill>
                  <a:latin typeface="Arial"/>
                  <a:ea typeface="Microsoft YaHei"/>
                  <a:cs typeface="Arial"/>
                </a:rPr>
                <a:t>V8, LuaJIT, eBPF</a:t>
              </a:r>
            </a:p>
          </p:txBody>
        </p:sp>
        <p:sp>
          <p:nvSpPr>
            <p:cNvPr id="29" name="TextBox 29"/>
            <p:cNvSpPr txBox="1"/>
            <p:nvPr/>
          </p:nvSpPr>
          <p:spPr>
            <a:xfrm>
              <a:off x="4558665" y="2067878"/>
              <a:ext cx="1675209"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Must emit </a:t>
              </a:r>
              <a:r>
                <a:rPr lang="zh-CN" sz="1050" dirty="0">
                  <a:solidFill>
                    <a:srgbClr val="0AB36E"/>
                  </a:solidFill>
                  <a:latin typeface="Consolas"/>
                  <a:ea typeface="Microsoft YaHei"/>
                  <a:cs typeface="Consolas"/>
                </a:rPr>
                <a:t>ENDBR</a:t>
              </a:r>
              <a:r>
                <a:rPr lang="zh-CN" sz="1050" dirty="0">
                  <a:solidFill>
                    <a:srgbClr val="000000"/>
                  </a:solidFill>
                  <a:latin typeface="Arial"/>
                  <a:ea typeface="Microsoft YaHei"/>
                  <a:cs typeface="Arial"/>
                </a:rPr>
                <a:t> at all</a:t>
              </a:r>
            </a:p>
          </p:txBody>
        </p:sp>
        <p:sp>
          <p:nvSpPr>
            <p:cNvPr id="30" name="TextBox 30"/>
            <p:cNvSpPr txBox="1"/>
            <p:nvPr/>
          </p:nvSpPr>
          <p:spPr>
            <a:xfrm>
              <a:off x="4558665" y="2258378"/>
              <a:ext cx="2066258"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generated indirect targets</a:t>
              </a:r>
            </a:p>
          </p:txBody>
        </p:sp>
        <p:sp>
          <p:nvSpPr>
            <p:cNvPr id="31" name="Rectangle 31"/>
            <p:cNvSpPr/>
            <p:nvPr/>
          </p:nvSpPr>
          <p:spPr>
            <a:xfrm>
              <a:off x="4572000" y="2667000"/>
              <a:ext cx="3048000" cy="19050"/>
            </a:xfrm>
            <a:prstGeom prst="rect">
              <a:avLst/>
            </a:prstGeom>
            <a:solidFill>
              <a:srgbClr val="E0E0E0"/>
            </a:solidFill>
            <a:ln>
              <a:noFill/>
            </a:ln>
          </p:spPr>
        </p:sp>
        <p:sp>
          <p:nvSpPr>
            <p:cNvPr id="32" name="TextBox 32"/>
            <p:cNvSpPr txBox="1"/>
            <p:nvPr/>
          </p:nvSpPr>
          <p:spPr>
            <a:xfrm>
              <a:off x="4558665" y="2839402"/>
              <a:ext cx="1508055" cy="213360"/>
            </a:xfrm>
            <a:prstGeom prst="rect">
              <a:avLst/>
            </a:prstGeom>
            <a:noFill/>
            <a:ln>
              <a:noFill/>
            </a:ln>
          </p:spPr>
          <p:txBody>
            <a:bodyPr wrap="none" lIns="0" tIns="0" rIns="0" bIns="0" anchor="t" anchorCtr="0">
              <a:spAutoFit/>
            </a:bodyPr>
            <a:lstStyle/>
            <a:p>
              <a:pPr algn="l"/>
              <a:r>
                <a:rPr lang="zh-CN" sz="1050" b="1" dirty="0">
                  <a:solidFill>
                    <a:srgbClr val="AF00C0"/>
                  </a:solidFill>
                  <a:latin typeface="Arial"/>
                  <a:ea typeface="Microsoft YaHei"/>
                  <a:cs typeface="Arial"/>
                </a:rPr>
                <a:t>map_shadow_stack</a:t>
              </a:r>
            </a:p>
          </p:txBody>
        </p:sp>
        <p:sp>
          <p:nvSpPr>
            <p:cNvPr id="33" name="TextBox 33"/>
            <p:cNvSpPr txBox="1"/>
            <p:nvPr/>
          </p:nvSpPr>
          <p:spPr>
            <a:xfrm>
              <a:off x="4558665" y="3048952"/>
              <a:ext cx="2188940"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Syscall for custom coroutine</a:t>
              </a:r>
            </a:p>
          </p:txBody>
        </p:sp>
        <p:sp>
          <p:nvSpPr>
            <p:cNvPr id="34" name="TextBox 34"/>
            <p:cNvSpPr txBox="1"/>
            <p:nvPr/>
          </p:nvSpPr>
          <p:spPr>
            <a:xfrm>
              <a:off x="4558665" y="3239452"/>
              <a:ext cx="1843897"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and fiber shadow stacks</a:t>
              </a:r>
            </a:p>
          </p:txBody>
        </p:sp>
        <p:sp>
          <p:nvSpPr>
            <p:cNvPr id="35" name="Rectangle 35"/>
            <p:cNvSpPr/>
            <p:nvPr/>
          </p:nvSpPr>
          <p:spPr>
            <a:xfrm>
              <a:off x="4572000" y="3571875"/>
              <a:ext cx="3048000" cy="19050"/>
            </a:xfrm>
            <a:prstGeom prst="rect">
              <a:avLst/>
            </a:prstGeom>
            <a:solidFill>
              <a:srgbClr val="E0E0E0"/>
            </a:solidFill>
            <a:ln>
              <a:noFill/>
            </a:ln>
          </p:spPr>
        </p:sp>
        <p:sp>
          <p:nvSpPr>
            <p:cNvPr id="36" name="TextBox 36"/>
            <p:cNvSpPr txBox="1"/>
            <p:nvPr/>
          </p:nvSpPr>
          <p:spPr>
            <a:xfrm>
              <a:off x="4558665" y="3744278"/>
              <a:ext cx="743210" cy="213360"/>
            </a:xfrm>
            <a:prstGeom prst="rect">
              <a:avLst/>
            </a:prstGeom>
            <a:noFill/>
            <a:ln>
              <a:noFill/>
            </a:ln>
          </p:spPr>
          <p:txBody>
            <a:bodyPr wrap="none" lIns="0" tIns="0" rIns="0" bIns="0" anchor="t" anchorCtr="0">
              <a:spAutoFit/>
            </a:bodyPr>
            <a:lstStyle/>
            <a:p>
              <a:pPr algn="l"/>
              <a:r>
                <a:rPr lang="zh-CN" sz="1050" b="1" dirty="0">
                  <a:solidFill>
                    <a:srgbClr val="000000"/>
                  </a:solidFill>
                  <a:latin typeface="Arial"/>
                  <a:ea typeface="Microsoft YaHei"/>
                  <a:cs typeface="Arial"/>
                </a:rPr>
                <a:t>eBPF JIT:</a:t>
              </a:r>
            </a:p>
          </p:txBody>
        </p:sp>
        <p:sp>
          <p:nvSpPr>
            <p:cNvPr id="37" name="TextBox 37"/>
            <p:cNvSpPr txBox="1"/>
            <p:nvPr/>
          </p:nvSpPr>
          <p:spPr>
            <a:xfrm>
              <a:off x="4558665" y="3953828"/>
              <a:ext cx="1652206"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Tail calls must land on</a:t>
              </a:r>
            </a:p>
          </p:txBody>
        </p:sp>
        <p:sp>
          <p:nvSpPr>
            <p:cNvPr id="38" name="TextBox 38"/>
            <p:cNvSpPr txBox="1"/>
            <p:nvPr/>
          </p:nvSpPr>
          <p:spPr>
            <a:xfrm>
              <a:off x="4558665" y="4144328"/>
              <a:ext cx="1345502"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ENDBR instruction</a:t>
              </a:r>
            </a:p>
          </p:txBody>
        </p:sp>
      </p:grpSp>
      <p:grpSp>
        <p:nvGrpSpPr>
          <p:cNvPr id="56" name="Group 56"/>
          <p:cNvGrpSpPr/>
          <p:nvPr/>
        </p:nvGrpSpPr>
        <p:grpSpPr>
          <a:xfrm>
            <a:off x="8191500" y="1285875"/>
            <a:ext cx="3524250" cy="4476750"/>
            <a:chOff x="8191500" y="1285875"/>
            <a:chExt cx="3524250" cy="4476750"/>
          </a:xfrm>
        </p:grpSpPr>
        <p:sp>
          <p:nvSpPr>
            <p:cNvPr id="40" name="Rectangle 40"/>
            <p:cNvSpPr/>
            <p:nvPr/>
          </p:nvSpPr>
          <p:spPr>
            <a:xfrm>
              <a:off x="8191500" y="1285875"/>
              <a:ext cx="3524250" cy="4476750"/>
            </a:xfrm>
            <a:prstGeom prst="roundRect">
              <a:avLst>
                <a:gd name="adj" fmla="val 2703"/>
              </a:avLst>
            </a:prstGeom>
            <a:solidFill>
              <a:srgbClr val="FFFFFF"/>
            </a:solidFill>
            <a:ln w="14288">
              <a:solidFill>
                <a:srgbClr val="0AB36E"/>
              </a:solidFill>
            </a:ln>
          </p:spPr>
        </p:sp>
        <p:sp>
          <p:nvSpPr>
            <p:cNvPr id="41" name="Rectangle 41"/>
            <p:cNvSpPr/>
            <p:nvPr/>
          </p:nvSpPr>
          <p:spPr>
            <a:xfrm>
              <a:off x="8191500" y="1285875"/>
              <a:ext cx="3524250" cy="381000"/>
            </a:xfrm>
            <a:prstGeom prst="roundRect">
              <a:avLst>
                <a:gd name="adj" fmla="val 25000"/>
              </a:avLst>
            </a:prstGeom>
            <a:solidFill>
              <a:srgbClr val="1E293B"/>
            </a:solidFill>
            <a:ln>
              <a:noFill/>
            </a:ln>
          </p:spPr>
        </p:sp>
        <p:sp>
          <p:nvSpPr>
            <p:cNvPr id="42" name="Rectangle 42"/>
            <p:cNvSpPr/>
            <p:nvPr/>
          </p:nvSpPr>
          <p:spPr>
            <a:xfrm>
              <a:off x="8191500" y="1495425"/>
              <a:ext cx="3524250" cy="171450"/>
            </a:xfrm>
            <a:prstGeom prst="rect">
              <a:avLst/>
            </a:prstGeom>
            <a:solidFill>
              <a:srgbClr val="1E293B"/>
            </a:solidFill>
            <a:ln>
              <a:noFill/>
            </a:ln>
          </p:spPr>
        </p:sp>
        <p:sp>
          <p:nvSpPr>
            <p:cNvPr id="43" name="TextBox 43"/>
            <p:cNvSpPr txBox="1"/>
            <p:nvPr/>
          </p:nvSpPr>
          <p:spPr>
            <a:xfrm>
              <a:off x="9209104" y="1405414"/>
              <a:ext cx="1489042"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GLIBC_TUNABLES</a:t>
              </a:r>
            </a:p>
          </p:txBody>
        </p:sp>
        <p:sp>
          <p:nvSpPr>
            <p:cNvPr id="44" name="Rectangle 44"/>
            <p:cNvSpPr/>
            <p:nvPr/>
          </p:nvSpPr>
          <p:spPr>
            <a:xfrm>
              <a:off x="8382000" y="1809750"/>
              <a:ext cx="3143250" cy="523875"/>
            </a:xfrm>
            <a:prstGeom prst="roundRect">
              <a:avLst>
                <a:gd name="adj" fmla="val 10909"/>
              </a:avLst>
            </a:prstGeom>
            <a:solidFill>
              <a:srgbClr val="1E293B"/>
            </a:solidFill>
            <a:ln>
              <a:noFill/>
            </a:ln>
          </p:spPr>
        </p:sp>
        <p:sp>
          <p:nvSpPr>
            <p:cNvPr id="45" name="TextBox 45"/>
            <p:cNvSpPr txBox="1"/>
            <p:nvPr/>
          </p:nvSpPr>
          <p:spPr>
            <a:xfrm>
              <a:off x="9347406" y="1941195"/>
              <a:ext cx="1212437" cy="182880"/>
            </a:xfrm>
            <a:prstGeom prst="rect">
              <a:avLst/>
            </a:prstGeom>
            <a:noFill/>
            <a:ln>
              <a:noFill/>
            </a:ln>
          </p:spPr>
          <p:txBody>
            <a:bodyPr wrap="none" lIns="0" tIns="0" rIns="0" bIns="0" anchor="t" anchorCtr="0">
              <a:spAutoFit/>
            </a:bodyPr>
            <a:lstStyle/>
            <a:p>
              <a:pPr algn="ctr"/>
              <a:r>
                <a:rPr lang="zh-CN" sz="900" dirty="0">
                  <a:solidFill>
                    <a:srgbClr val="F79646"/>
                  </a:solidFill>
                  <a:latin typeface="Consolas"/>
                  <a:ea typeface="Microsoft YaHei"/>
                  <a:cs typeface="Consolas"/>
                </a:rPr>
                <a:t>glibc.cpu.hwcaps=</a:t>
              </a:r>
            </a:p>
          </p:txBody>
        </p:sp>
        <p:sp>
          <p:nvSpPr>
            <p:cNvPr id="46" name="TextBox 46"/>
            <p:cNvSpPr txBox="1"/>
            <p:nvPr/>
          </p:nvSpPr>
          <p:spPr>
            <a:xfrm>
              <a:off x="9725311" y="2131695"/>
              <a:ext cx="456628" cy="182880"/>
            </a:xfrm>
            <a:prstGeom prst="rect">
              <a:avLst/>
            </a:prstGeom>
            <a:noFill/>
            <a:ln>
              <a:noFill/>
            </a:ln>
          </p:spPr>
          <p:txBody>
            <a:bodyPr wrap="none" lIns="0" tIns="0" rIns="0" bIns="0" anchor="t" anchorCtr="0">
              <a:spAutoFit/>
            </a:bodyPr>
            <a:lstStyle/>
            <a:p>
              <a:pPr algn="ctr"/>
              <a:r>
                <a:rPr lang="zh-CN" sz="900" dirty="0">
                  <a:solidFill>
                    <a:srgbClr val="EF4444"/>
                  </a:solidFill>
                  <a:latin typeface="Consolas"/>
                  <a:ea typeface="Microsoft YaHei"/>
                  <a:cs typeface="Consolas"/>
                </a:rPr>
                <a:t>-SHSTK</a:t>
              </a:r>
            </a:p>
          </p:txBody>
        </p:sp>
        <p:sp>
          <p:nvSpPr>
            <p:cNvPr id="47" name="Rectangle 47"/>
            <p:cNvSpPr/>
            <p:nvPr/>
          </p:nvSpPr>
          <p:spPr>
            <a:xfrm>
              <a:off x="8382000" y="2476500"/>
              <a:ext cx="3143250" cy="19050"/>
            </a:xfrm>
            <a:prstGeom prst="rect">
              <a:avLst/>
            </a:prstGeom>
            <a:solidFill>
              <a:srgbClr val="E0E0E0"/>
            </a:solidFill>
            <a:ln>
              <a:noFill/>
            </a:ln>
          </p:spPr>
        </p:sp>
        <p:sp>
          <p:nvSpPr>
            <p:cNvPr id="48" name="TextBox 48"/>
            <p:cNvSpPr txBox="1"/>
            <p:nvPr/>
          </p:nvSpPr>
          <p:spPr>
            <a:xfrm>
              <a:off x="8416290" y="2648902"/>
              <a:ext cx="1759553"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Disables shadow stacks</a:t>
              </a:r>
            </a:p>
          </p:txBody>
        </p:sp>
        <p:sp>
          <p:nvSpPr>
            <p:cNvPr id="49" name="TextBox 49"/>
            <p:cNvSpPr txBox="1"/>
            <p:nvPr/>
          </p:nvSpPr>
          <p:spPr>
            <a:xfrm>
              <a:off x="8416290" y="2839402"/>
              <a:ext cx="1690545"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at dynamic linker level</a:t>
              </a:r>
            </a:p>
          </p:txBody>
        </p:sp>
        <p:sp>
          <p:nvSpPr>
            <p:cNvPr id="50" name="Rectangle 50"/>
            <p:cNvSpPr/>
            <p:nvPr/>
          </p:nvSpPr>
          <p:spPr>
            <a:xfrm>
              <a:off x="8382000" y="3190875"/>
              <a:ext cx="3143250" cy="19050"/>
            </a:xfrm>
            <a:prstGeom prst="rect">
              <a:avLst/>
            </a:prstGeom>
            <a:solidFill>
              <a:srgbClr val="E0E0E0"/>
            </a:solidFill>
            <a:ln>
              <a:noFill/>
            </a:ln>
          </p:spPr>
        </p:sp>
        <p:sp>
          <p:nvSpPr>
            <p:cNvPr id="51" name="TextBox 51"/>
            <p:cNvSpPr txBox="1"/>
            <p:nvPr/>
          </p:nvSpPr>
          <p:spPr>
            <a:xfrm>
              <a:off x="8416290" y="3363278"/>
              <a:ext cx="783465" cy="213360"/>
            </a:xfrm>
            <a:prstGeom prst="rect">
              <a:avLst/>
            </a:prstGeom>
            <a:noFill/>
            <a:ln>
              <a:noFill/>
            </a:ln>
          </p:spPr>
          <p:txBody>
            <a:bodyPr wrap="none" lIns="0" tIns="0" rIns="0" bIns="0" anchor="t" anchorCtr="0">
              <a:spAutoFit/>
            </a:bodyPr>
            <a:lstStyle/>
            <a:p>
              <a:pPr algn="l"/>
              <a:r>
                <a:rPr lang="zh-CN" sz="1050" b="1" dirty="0">
                  <a:solidFill>
                    <a:srgbClr val="0AB36E"/>
                  </a:solidFill>
                  <a:latin typeface="Arial"/>
                  <a:ea typeface="Microsoft YaHei"/>
                  <a:cs typeface="Arial"/>
                </a:rPr>
                <a:t>Benefits:</a:t>
              </a:r>
            </a:p>
          </p:txBody>
        </p:sp>
        <p:sp>
          <p:nvSpPr>
            <p:cNvPr id="52" name="TextBox 52"/>
            <p:cNvSpPr txBox="1"/>
            <p:nvPr/>
          </p:nvSpPr>
          <p:spPr>
            <a:xfrm>
              <a:off x="8416290" y="3591878"/>
              <a:ext cx="1682877" cy="213360"/>
            </a:xfrm>
            <a:prstGeom prst="rect">
              <a:avLst/>
            </a:prstGeom>
            <a:noFill/>
            <a:ln>
              <a:noFill/>
            </a:ln>
          </p:spPr>
          <p:txBody>
            <a:bodyPr wrap="none" lIns="0" tIns="0" rIns="0" bIns="0" anchor="t" anchorCtr="0">
              <a:spAutoFit/>
            </a:bodyPr>
            <a:lstStyle/>
            <a:p>
              <a:pPr algn="l"/>
              <a:r>
                <a:rPr lang="zh-CN" sz="1050" dirty="0">
                  <a:solidFill>
                    <a:srgbClr val="09995E"/>
                  </a:solidFill>
                  <a:latin typeface="Arial"/>
                  <a:ea typeface="Microsoft YaHei"/>
                  <a:cs typeface="Arial"/>
                </a:rPr>
                <a:t>+</a:t>
              </a:r>
              <a:r>
                <a:rPr lang="zh-CN" sz="1050" dirty="0">
                  <a:solidFill>
                    <a:srgbClr val="000000"/>
                  </a:solidFill>
                  <a:latin typeface="Arial"/>
                  <a:ea typeface="Microsoft YaHei"/>
                  <a:cs typeface="Arial"/>
                </a:rPr>
                <a:t> Per-process control</a:t>
              </a:r>
            </a:p>
          </p:txBody>
        </p:sp>
        <p:sp>
          <p:nvSpPr>
            <p:cNvPr id="53" name="TextBox 53"/>
            <p:cNvSpPr txBox="1"/>
            <p:nvPr/>
          </p:nvSpPr>
          <p:spPr>
            <a:xfrm>
              <a:off x="8416290" y="3782378"/>
              <a:ext cx="1475851" cy="213360"/>
            </a:xfrm>
            <a:prstGeom prst="rect">
              <a:avLst/>
            </a:prstGeom>
            <a:noFill/>
            <a:ln>
              <a:noFill/>
            </a:ln>
          </p:spPr>
          <p:txBody>
            <a:bodyPr wrap="none" lIns="0" tIns="0" rIns="0" bIns="0" anchor="t" anchorCtr="0">
              <a:spAutoFit/>
            </a:bodyPr>
            <a:lstStyle/>
            <a:p>
              <a:pPr algn="l"/>
              <a:r>
                <a:rPr lang="zh-CN" sz="1050" dirty="0">
                  <a:solidFill>
                    <a:srgbClr val="09995E"/>
                  </a:solidFill>
                  <a:latin typeface="Arial"/>
                  <a:ea typeface="Microsoft YaHei"/>
                  <a:cs typeface="Arial"/>
                </a:rPr>
                <a:t>+</a:t>
              </a:r>
              <a:r>
                <a:rPr lang="zh-CN" sz="1050" dirty="0">
                  <a:solidFill>
                    <a:srgbClr val="000000"/>
                  </a:solidFill>
                  <a:latin typeface="Arial"/>
                  <a:ea typeface="Microsoft YaHei"/>
                  <a:cs typeface="Arial"/>
                </a:rPr>
                <a:t> No kernel restart</a:t>
              </a:r>
            </a:p>
          </p:txBody>
        </p:sp>
        <p:sp>
          <p:nvSpPr>
            <p:cNvPr id="54" name="TextBox 54"/>
            <p:cNvSpPr txBox="1"/>
            <p:nvPr/>
          </p:nvSpPr>
          <p:spPr>
            <a:xfrm>
              <a:off x="8416290" y="3972878"/>
              <a:ext cx="1598533" cy="213360"/>
            </a:xfrm>
            <a:prstGeom prst="rect">
              <a:avLst/>
            </a:prstGeom>
            <a:noFill/>
            <a:ln>
              <a:noFill/>
            </a:ln>
          </p:spPr>
          <p:txBody>
            <a:bodyPr wrap="none" lIns="0" tIns="0" rIns="0" bIns="0" anchor="t" anchorCtr="0">
              <a:spAutoFit/>
            </a:bodyPr>
            <a:lstStyle/>
            <a:p>
              <a:pPr algn="l"/>
              <a:r>
                <a:rPr lang="zh-CN" sz="1050" dirty="0">
                  <a:solidFill>
                    <a:srgbClr val="09995E"/>
                  </a:solidFill>
                  <a:latin typeface="Arial"/>
                  <a:ea typeface="Microsoft YaHei"/>
                  <a:cs typeface="Arial"/>
                </a:rPr>
                <a:t>+</a:t>
              </a:r>
              <a:r>
                <a:rPr lang="zh-CN" sz="1050" dirty="0">
                  <a:solidFill>
                    <a:srgbClr val="000000"/>
                  </a:solidFill>
                  <a:latin typeface="Arial"/>
                  <a:ea typeface="Microsoft YaHei"/>
                  <a:cs typeface="Arial"/>
                </a:rPr>
                <a:t> Legacy app support</a:t>
              </a:r>
            </a:p>
          </p:txBody>
        </p:sp>
        <p:sp>
          <p:nvSpPr>
            <p:cNvPr id="55" name="TextBox 55"/>
            <p:cNvSpPr txBox="1"/>
            <p:nvPr/>
          </p:nvSpPr>
          <p:spPr>
            <a:xfrm>
              <a:off x="8416290" y="4163378"/>
              <a:ext cx="1644539" cy="213360"/>
            </a:xfrm>
            <a:prstGeom prst="rect">
              <a:avLst/>
            </a:prstGeom>
            <a:noFill/>
            <a:ln>
              <a:noFill/>
            </a:ln>
          </p:spPr>
          <p:txBody>
            <a:bodyPr wrap="none" lIns="0" tIns="0" rIns="0" bIns="0" anchor="t" anchorCtr="0">
              <a:spAutoFit/>
            </a:bodyPr>
            <a:lstStyle/>
            <a:p>
              <a:pPr algn="l"/>
              <a:r>
                <a:rPr lang="zh-CN" sz="1050" dirty="0">
                  <a:solidFill>
                    <a:srgbClr val="09995E"/>
                  </a:solidFill>
                  <a:latin typeface="Arial"/>
                  <a:ea typeface="Microsoft YaHei"/>
                  <a:cs typeface="Arial"/>
                </a:rPr>
                <a:t>+</a:t>
              </a:r>
              <a:r>
                <a:rPr lang="zh-CN" sz="1050" dirty="0">
                  <a:solidFill>
                    <a:srgbClr val="000000"/>
                  </a:solidFill>
                  <a:latin typeface="Arial"/>
                  <a:ea typeface="Microsoft YaHei"/>
                  <a:cs typeface="Arial"/>
                </a:rPr>
                <a:t> Debugging use cases</a:t>
              </a:r>
            </a:p>
          </p:txBody>
        </p:sp>
      </p:grpSp>
      <p:grpSp>
        <p:nvGrpSpPr>
          <p:cNvPr id="59" name="Group 59"/>
          <p:cNvGrpSpPr/>
          <p:nvPr/>
        </p:nvGrpSpPr>
        <p:grpSpPr>
          <a:xfrm>
            <a:off x="10283883" y="5886450"/>
            <a:ext cx="1441392" cy="947738"/>
            <a:chOff x="10283883" y="5886450"/>
            <a:chExt cx="1441392" cy="947738"/>
          </a:xfrm>
        </p:grpSpPr>
        <p:pic>
          <p:nvPicPr>
            <p:cNvPr id="57" name="Image 57"/>
            <p:cNvPicPr>
              <a:picLocks noChangeAspect="1"/>
            </p:cNvPicPr>
            <p:nvPr/>
          </p:nvPicPr>
          <p:blipFill>
            <a:blip r:embed="rId4"/>
            <a:stretch>
              <a:fillRect/>
            </a:stretch>
          </p:blipFill>
          <p:spPr>
            <a:xfrm>
              <a:off x="10283883" y="5886450"/>
              <a:ext cx="1158759" cy="381000"/>
            </a:xfrm>
            <a:prstGeom prst="rect">
              <a:avLst/>
            </a:prstGeom>
          </p:spPr>
        </p:pic>
        <p:sp>
          <p:nvSpPr>
            <p:cNvPr id="58" name="TextBox 58"/>
            <p:cNvSpPr txBox="1"/>
            <p:nvPr/>
          </p:nvSpPr>
          <p:spPr>
            <a:xfrm>
              <a:off x="11613118" y="6681788"/>
              <a:ext cx="112157" cy="152400"/>
            </a:xfrm>
            <a:prstGeom prst="rect">
              <a:avLst/>
            </a:prstGeom>
            <a:noFill/>
            <a:ln>
              <a:noFill/>
            </a:ln>
          </p:spPr>
          <p:txBody>
            <a:bodyPr wrap="none" lIns="0" tIns="0" rIns="0" bIns="0" anchor="t" anchorCtr="0">
              <a:spAutoFit/>
            </a:bodyPr>
            <a:lstStyle/>
            <a:p>
              <a:pPr algn="r"/>
              <a:r>
                <a:rPr lang="zh-CN" sz="750" dirty="0">
                  <a:solidFill>
                    <a:srgbClr val="FFFFFF">
                      <a:alpha val="60000"/>
                    </a:srgbClr>
                  </a:solidFill>
                  <a:latin typeface="Arial"/>
                  <a:ea typeface="Microsoft YaHei"/>
                  <a:cs typeface="Arial"/>
                </a:rPr>
                <a:t>17</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trips(downRight)">
                                      <p:cBhvr>
                                        <p:cTn id="11" dur="400"/>
                                        <p:tgtEl>
                                          <p:spTgt spid="39"/>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wedge">
                                      <p:cBhvr>
                                        <p:cTn id="15"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5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3"/>
          <a:srcRect t="781" b="781"/>
          <a:stretch>
            <a:fillRect/>
          </a:stretch>
        </p:blipFill>
        <p:spPr>
          <a:xfrm>
            <a:off x="0" y="0"/>
            <a:ext cx="12192000" cy="6858000"/>
          </a:xfrm>
          <a:prstGeom prst="rect">
            <a:avLst/>
          </a:prstGeom>
        </p:spPr>
      </p:pic>
      <p:sp>
        <p:nvSpPr>
          <p:cNvPr id="3" name="Rectangle 3"/>
          <p:cNvSpPr/>
          <p:nvPr/>
        </p:nvSpPr>
        <p:spPr>
          <a:xfrm>
            <a:off x="0" y="1133475"/>
            <a:ext cx="12192000" cy="5410200"/>
          </a:xfrm>
          <a:prstGeom prst="rect">
            <a:avLst/>
          </a:prstGeom>
          <a:solidFill>
            <a:srgbClr val="FFFFFF"/>
          </a:solidFill>
          <a:ln>
            <a:noFill/>
          </a:ln>
        </p:spPr>
      </p:sp>
      <p:sp>
        <p:nvSpPr>
          <p:cNvPr id="4" name="TextBox 4"/>
          <p:cNvSpPr txBox="1"/>
          <p:nvPr/>
        </p:nvSpPr>
        <p:spPr>
          <a:xfrm>
            <a:off x="436245" y="483870"/>
            <a:ext cx="3465385"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Summary &amp; Timeline</a:t>
            </a:r>
          </a:p>
        </p:txBody>
      </p:sp>
      <p:grpSp>
        <p:nvGrpSpPr>
          <p:cNvPr id="22" name="Group 22"/>
          <p:cNvGrpSpPr/>
          <p:nvPr/>
        </p:nvGrpSpPr>
        <p:grpSpPr>
          <a:xfrm>
            <a:off x="952500" y="1533525"/>
            <a:ext cx="10287000" cy="847725"/>
            <a:chOff x="952500" y="1533525"/>
            <a:chExt cx="10287000" cy="847725"/>
          </a:xfrm>
        </p:grpSpPr>
        <p:sp>
          <p:nvSpPr>
            <p:cNvPr id="5" name="Line 5"/>
            <p:cNvSpPr/>
            <p:nvPr/>
          </p:nvSpPr>
          <p:spPr>
            <a:xfrm>
              <a:off x="952500" y="1619250"/>
              <a:ext cx="10287000" cy="9525"/>
            </a:xfrm>
            <a:custGeom>
              <a:avLst/>
              <a:gdLst/>
              <a:ahLst/>
              <a:cxnLst/>
              <a:rect l="l" t="t" r="r" b="b"/>
              <a:pathLst>
                <a:path w="10287000" h="9525">
                  <a:moveTo>
                    <a:pt x="0" y="0"/>
                  </a:moveTo>
                  <a:lnTo>
                    <a:pt x="10287000" y="0"/>
                  </a:lnTo>
                </a:path>
              </a:pathLst>
            </a:custGeom>
            <a:noFill/>
            <a:ln w="28575">
              <a:solidFill>
                <a:srgbClr val="09995E"/>
              </a:solidFill>
            </a:ln>
          </p:spPr>
        </p:sp>
        <p:sp>
          <p:nvSpPr>
            <p:cNvPr id="6" name="Ellipse 6"/>
            <p:cNvSpPr/>
            <p:nvPr/>
          </p:nvSpPr>
          <p:spPr>
            <a:xfrm>
              <a:off x="1819275" y="1533525"/>
              <a:ext cx="171450" cy="171450"/>
            </a:xfrm>
            <a:prstGeom prst="ellipse">
              <a:avLst/>
            </a:prstGeom>
            <a:solidFill>
              <a:srgbClr val="09995E"/>
            </a:solidFill>
            <a:ln>
              <a:noFill/>
            </a:ln>
          </p:spPr>
        </p:sp>
        <p:sp>
          <p:nvSpPr>
            <p:cNvPr id="7" name="TextBox 7"/>
            <p:cNvSpPr txBox="1"/>
            <p:nvPr/>
          </p:nvSpPr>
          <p:spPr>
            <a:xfrm>
              <a:off x="1509242" y="1839278"/>
              <a:ext cx="791516" cy="213360"/>
            </a:xfrm>
            <a:prstGeom prst="rect">
              <a:avLst/>
            </a:prstGeom>
            <a:noFill/>
            <a:ln>
              <a:noFill/>
            </a:ln>
          </p:spPr>
          <p:txBody>
            <a:bodyPr wrap="none" lIns="0" tIns="0" rIns="0" bIns="0" anchor="t" anchorCtr="0">
              <a:spAutoFit/>
            </a:bodyPr>
            <a:lstStyle/>
            <a:p>
              <a:pPr algn="ctr"/>
              <a:r>
                <a:rPr lang="zh-CN" sz="1050" b="1" dirty="0">
                  <a:solidFill>
                    <a:srgbClr val="09995E"/>
                  </a:solidFill>
                  <a:latin typeface="Arial"/>
                  <a:ea typeface="Microsoft YaHei"/>
                  <a:cs typeface="Arial"/>
                </a:rPr>
                <a:t>Linux 5.18</a:t>
              </a:r>
            </a:p>
          </p:txBody>
        </p:sp>
        <p:sp>
          <p:nvSpPr>
            <p:cNvPr id="8" name="TextBox 8"/>
            <p:cNvSpPr txBox="1"/>
            <p:nvPr/>
          </p:nvSpPr>
          <p:spPr>
            <a:xfrm>
              <a:off x="1607677" y="2026920"/>
              <a:ext cx="594646"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May 2022</a:t>
              </a:r>
            </a:p>
          </p:txBody>
        </p:sp>
        <p:sp>
          <p:nvSpPr>
            <p:cNvPr id="9" name="TextBox 9"/>
            <p:cNvSpPr txBox="1"/>
            <p:nvPr/>
          </p:nvSpPr>
          <p:spPr>
            <a:xfrm>
              <a:off x="1581388" y="2198370"/>
              <a:ext cx="647224" cy="182880"/>
            </a:xfrm>
            <a:prstGeom prst="rect">
              <a:avLst/>
            </a:prstGeom>
            <a:noFill/>
            <a:ln>
              <a:noFill/>
            </a:ln>
          </p:spPr>
          <p:txBody>
            <a:bodyPr wrap="none" lIns="0" tIns="0" rIns="0" bIns="0" anchor="t" anchorCtr="0">
              <a:spAutoFit/>
            </a:bodyPr>
            <a:lstStyle/>
            <a:p>
              <a:pPr algn="ctr"/>
              <a:r>
                <a:rPr lang="zh-CN" sz="900" dirty="0">
                  <a:solidFill>
                    <a:srgbClr val="222222"/>
                  </a:solidFill>
                  <a:latin typeface="Arial"/>
                  <a:ea typeface="Microsoft YaHei"/>
                  <a:cs typeface="Arial"/>
                </a:rPr>
                <a:t>Kernel IBT</a:t>
              </a:r>
            </a:p>
          </p:txBody>
        </p:sp>
        <p:sp>
          <p:nvSpPr>
            <p:cNvPr id="10" name="Ellipse 10"/>
            <p:cNvSpPr/>
            <p:nvPr/>
          </p:nvSpPr>
          <p:spPr>
            <a:xfrm>
              <a:off x="4676775" y="1533525"/>
              <a:ext cx="171450" cy="171450"/>
            </a:xfrm>
            <a:prstGeom prst="ellipse">
              <a:avLst/>
            </a:prstGeom>
            <a:solidFill>
              <a:srgbClr val="09995E"/>
            </a:solidFill>
            <a:ln>
              <a:noFill/>
            </a:ln>
          </p:spPr>
        </p:sp>
        <p:sp>
          <p:nvSpPr>
            <p:cNvPr id="11" name="TextBox 11"/>
            <p:cNvSpPr txBox="1"/>
            <p:nvPr/>
          </p:nvSpPr>
          <p:spPr>
            <a:xfrm>
              <a:off x="4390895" y="1839278"/>
              <a:ext cx="743210" cy="213360"/>
            </a:xfrm>
            <a:prstGeom prst="rect">
              <a:avLst/>
            </a:prstGeom>
            <a:noFill/>
            <a:ln>
              <a:noFill/>
            </a:ln>
          </p:spPr>
          <p:txBody>
            <a:bodyPr wrap="none" lIns="0" tIns="0" rIns="0" bIns="0" anchor="t" anchorCtr="0">
              <a:spAutoFit/>
            </a:bodyPr>
            <a:lstStyle/>
            <a:p>
              <a:pPr algn="ctr"/>
              <a:r>
                <a:rPr lang="zh-CN" sz="1050" b="1" dirty="0">
                  <a:solidFill>
                    <a:srgbClr val="09995E"/>
                  </a:solidFill>
                  <a:latin typeface="Arial"/>
                  <a:ea typeface="Microsoft YaHei"/>
                  <a:cs typeface="Arial"/>
                </a:rPr>
                <a:t>Linux 6.4</a:t>
              </a:r>
            </a:p>
          </p:txBody>
        </p:sp>
        <p:sp>
          <p:nvSpPr>
            <p:cNvPr id="12" name="TextBox 12"/>
            <p:cNvSpPr txBox="1"/>
            <p:nvPr/>
          </p:nvSpPr>
          <p:spPr>
            <a:xfrm>
              <a:off x="4478322" y="2026920"/>
              <a:ext cx="568357"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Jun 2023</a:t>
              </a:r>
            </a:p>
          </p:txBody>
        </p:sp>
        <p:sp>
          <p:nvSpPr>
            <p:cNvPr id="13" name="TextBox 13"/>
            <p:cNvSpPr txBox="1"/>
            <p:nvPr/>
          </p:nvSpPr>
          <p:spPr>
            <a:xfrm>
              <a:off x="4530900" y="2198370"/>
              <a:ext cx="463201" cy="182880"/>
            </a:xfrm>
            <a:prstGeom prst="rect">
              <a:avLst/>
            </a:prstGeom>
            <a:noFill/>
            <a:ln>
              <a:noFill/>
            </a:ln>
          </p:spPr>
          <p:txBody>
            <a:bodyPr wrap="none" lIns="0" tIns="0" rIns="0" bIns="0" anchor="t" anchorCtr="0">
              <a:spAutoFit/>
            </a:bodyPr>
            <a:lstStyle/>
            <a:p>
              <a:pPr algn="ctr"/>
              <a:r>
                <a:rPr lang="zh-CN" sz="900" dirty="0">
                  <a:solidFill>
                    <a:srgbClr val="222222"/>
                  </a:solidFill>
                  <a:latin typeface="Arial"/>
                  <a:ea typeface="Microsoft YaHei"/>
                  <a:cs typeface="Arial"/>
                </a:rPr>
                <a:t>FineIBT</a:t>
              </a:r>
            </a:p>
          </p:txBody>
        </p:sp>
        <p:sp>
          <p:nvSpPr>
            <p:cNvPr id="14" name="Ellipse 14"/>
            <p:cNvSpPr/>
            <p:nvPr/>
          </p:nvSpPr>
          <p:spPr>
            <a:xfrm>
              <a:off x="7534275" y="1533525"/>
              <a:ext cx="171450" cy="171450"/>
            </a:xfrm>
            <a:prstGeom prst="ellipse">
              <a:avLst/>
            </a:prstGeom>
            <a:solidFill>
              <a:srgbClr val="AF00C0"/>
            </a:solidFill>
            <a:ln>
              <a:noFill/>
            </a:ln>
          </p:spPr>
        </p:sp>
        <p:sp>
          <p:nvSpPr>
            <p:cNvPr id="15" name="TextBox 15"/>
            <p:cNvSpPr txBox="1"/>
            <p:nvPr/>
          </p:nvSpPr>
          <p:spPr>
            <a:xfrm>
              <a:off x="7248395" y="1839278"/>
              <a:ext cx="743210" cy="213360"/>
            </a:xfrm>
            <a:prstGeom prst="rect">
              <a:avLst/>
            </a:prstGeom>
            <a:noFill/>
            <a:ln>
              <a:noFill/>
            </a:ln>
          </p:spPr>
          <p:txBody>
            <a:bodyPr wrap="none" lIns="0" tIns="0" rIns="0" bIns="0" anchor="t" anchorCtr="0">
              <a:spAutoFit/>
            </a:bodyPr>
            <a:lstStyle/>
            <a:p>
              <a:pPr algn="ctr"/>
              <a:r>
                <a:rPr lang="zh-CN" sz="1050" b="1" dirty="0">
                  <a:solidFill>
                    <a:srgbClr val="AF00C0"/>
                  </a:solidFill>
                  <a:latin typeface="Arial"/>
                  <a:ea typeface="Microsoft YaHei"/>
                  <a:cs typeface="Arial"/>
                </a:rPr>
                <a:t>Linux 6.6</a:t>
              </a:r>
            </a:p>
          </p:txBody>
        </p:sp>
        <p:sp>
          <p:nvSpPr>
            <p:cNvPr id="16" name="TextBox 16"/>
            <p:cNvSpPr txBox="1"/>
            <p:nvPr/>
          </p:nvSpPr>
          <p:spPr>
            <a:xfrm>
              <a:off x="7322677" y="2026920"/>
              <a:ext cx="594646"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Oct 2023</a:t>
              </a:r>
            </a:p>
          </p:txBody>
        </p:sp>
        <p:sp>
          <p:nvSpPr>
            <p:cNvPr id="17" name="TextBox 17"/>
            <p:cNvSpPr txBox="1"/>
            <p:nvPr/>
          </p:nvSpPr>
          <p:spPr>
            <a:xfrm>
              <a:off x="6977634" y="2198370"/>
              <a:ext cx="1284732" cy="182880"/>
            </a:xfrm>
            <a:prstGeom prst="rect">
              <a:avLst/>
            </a:prstGeom>
            <a:noFill/>
            <a:ln>
              <a:noFill/>
            </a:ln>
          </p:spPr>
          <p:txBody>
            <a:bodyPr wrap="none" lIns="0" tIns="0" rIns="0" bIns="0" anchor="t" anchorCtr="0">
              <a:spAutoFit/>
            </a:bodyPr>
            <a:lstStyle/>
            <a:p>
              <a:pPr algn="ctr"/>
              <a:r>
                <a:rPr lang="zh-CN" sz="900" dirty="0">
                  <a:solidFill>
                    <a:srgbClr val="222222"/>
                  </a:solidFill>
                  <a:latin typeface="Arial"/>
                  <a:ea typeface="Microsoft YaHei"/>
                  <a:cs typeface="Arial"/>
                </a:rPr>
                <a:t>User Shadow Stacks</a:t>
              </a:r>
            </a:p>
          </p:txBody>
        </p:sp>
        <p:sp>
          <p:nvSpPr>
            <p:cNvPr id="18" name="Ellipse 18"/>
            <p:cNvSpPr/>
            <p:nvPr/>
          </p:nvSpPr>
          <p:spPr>
            <a:xfrm>
              <a:off x="10201275" y="1533525"/>
              <a:ext cx="171450" cy="171450"/>
            </a:xfrm>
            <a:prstGeom prst="ellipse">
              <a:avLst/>
            </a:prstGeom>
            <a:solidFill>
              <a:srgbClr val="AF00C0"/>
            </a:solidFill>
            <a:ln>
              <a:noFill/>
            </a:ln>
          </p:spPr>
        </p:sp>
        <p:sp>
          <p:nvSpPr>
            <p:cNvPr id="19" name="TextBox 19"/>
            <p:cNvSpPr txBox="1"/>
            <p:nvPr/>
          </p:nvSpPr>
          <p:spPr>
            <a:xfrm>
              <a:off x="9871115" y="1839278"/>
              <a:ext cx="831771" cy="213360"/>
            </a:xfrm>
            <a:prstGeom prst="rect">
              <a:avLst/>
            </a:prstGeom>
            <a:noFill/>
            <a:ln>
              <a:noFill/>
            </a:ln>
          </p:spPr>
          <p:txBody>
            <a:bodyPr wrap="none" lIns="0" tIns="0" rIns="0" bIns="0" anchor="t" anchorCtr="0">
              <a:spAutoFit/>
            </a:bodyPr>
            <a:lstStyle/>
            <a:p>
              <a:pPr algn="ctr"/>
              <a:r>
                <a:rPr lang="zh-CN" sz="1050" b="1" dirty="0">
                  <a:solidFill>
                    <a:srgbClr val="AF00C0"/>
                  </a:solidFill>
                  <a:latin typeface="Arial"/>
                  <a:ea typeface="Microsoft YaHei"/>
                  <a:cs typeface="Arial"/>
                </a:rPr>
                <a:t>Linux 6.6+</a:t>
              </a:r>
            </a:p>
          </p:txBody>
        </p:sp>
        <p:sp>
          <p:nvSpPr>
            <p:cNvPr id="20" name="TextBox 20"/>
            <p:cNvSpPr txBox="1"/>
            <p:nvPr/>
          </p:nvSpPr>
          <p:spPr>
            <a:xfrm>
              <a:off x="10025824" y="2026920"/>
              <a:ext cx="522351"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Ongoing</a:t>
              </a:r>
            </a:p>
          </p:txBody>
        </p:sp>
        <p:sp>
          <p:nvSpPr>
            <p:cNvPr id="21" name="TextBox 21"/>
            <p:cNvSpPr txBox="1"/>
            <p:nvPr/>
          </p:nvSpPr>
          <p:spPr>
            <a:xfrm>
              <a:off x="9670923" y="2198370"/>
              <a:ext cx="1232154" cy="182880"/>
            </a:xfrm>
            <a:prstGeom prst="rect">
              <a:avLst/>
            </a:prstGeom>
            <a:noFill/>
            <a:ln>
              <a:noFill/>
            </a:ln>
          </p:spPr>
          <p:txBody>
            <a:bodyPr wrap="none" lIns="0" tIns="0" rIns="0" bIns="0" anchor="t" anchorCtr="0">
              <a:spAutoFit/>
            </a:bodyPr>
            <a:lstStyle/>
            <a:p>
              <a:pPr algn="ctr"/>
              <a:r>
                <a:rPr lang="zh-CN" sz="900" dirty="0">
                  <a:solidFill>
                    <a:srgbClr val="222222"/>
                  </a:solidFill>
                  <a:latin typeface="Arial"/>
                  <a:ea typeface="Microsoft YaHei"/>
                  <a:cs typeface="Arial"/>
                </a:rPr>
                <a:t>map_shadow_stack</a:t>
              </a:r>
            </a:p>
          </p:txBody>
        </p:sp>
      </p:grpSp>
      <p:grpSp>
        <p:nvGrpSpPr>
          <p:cNvPr id="25" name="Group 25"/>
          <p:cNvGrpSpPr/>
          <p:nvPr/>
        </p:nvGrpSpPr>
        <p:grpSpPr>
          <a:xfrm>
            <a:off x="742950" y="2600325"/>
            <a:ext cx="1671304" cy="304800"/>
            <a:chOff x="742950" y="2600325"/>
            <a:chExt cx="1671304" cy="304800"/>
          </a:xfrm>
        </p:grpSpPr>
        <p:sp>
          <p:nvSpPr>
            <p:cNvPr id="23" name="TextBox 23"/>
            <p:cNvSpPr txBox="1"/>
            <p:nvPr/>
          </p:nvSpPr>
          <p:spPr>
            <a:xfrm>
              <a:off x="742950" y="2600325"/>
              <a:ext cx="1671304" cy="304800"/>
            </a:xfrm>
            <a:prstGeom prst="rect">
              <a:avLst/>
            </a:prstGeom>
            <a:noFill/>
            <a:ln>
              <a:noFill/>
            </a:ln>
          </p:spPr>
          <p:txBody>
            <a:bodyPr wrap="none" lIns="0" tIns="0" rIns="0" bIns="0" anchor="t" anchorCtr="0">
              <a:spAutoFit/>
            </a:bodyPr>
            <a:lstStyle/>
            <a:p>
              <a:pPr algn="l"/>
              <a:r>
                <a:rPr lang="zh-CN" sz="1500" b="1" dirty="0">
                  <a:solidFill>
                    <a:srgbClr val="09995E"/>
                  </a:solidFill>
                  <a:latin typeface="Arial"/>
                  <a:ea typeface="Microsoft YaHei"/>
                  <a:cs typeface="Arial"/>
                </a:rPr>
                <a:t>Key Takeaways</a:t>
              </a:r>
            </a:p>
          </p:txBody>
        </p:sp>
        <p:sp>
          <p:nvSpPr>
            <p:cNvPr id="24" name="Rectangle 24"/>
            <p:cNvSpPr/>
            <p:nvPr/>
          </p:nvSpPr>
          <p:spPr>
            <a:xfrm>
              <a:off x="762000" y="2857500"/>
              <a:ext cx="1524000" cy="19050"/>
            </a:xfrm>
            <a:prstGeom prst="rect">
              <a:avLst/>
            </a:prstGeom>
            <a:solidFill>
              <a:srgbClr val="09995E"/>
            </a:solidFill>
            <a:ln>
              <a:noFill/>
            </a:ln>
          </p:spPr>
        </p:sp>
      </p:grpSp>
      <p:grpSp>
        <p:nvGrpSpPr>
          <p:cNvPr id="28" name="Group 28"/>
          <p:cNvGrpSpPr/>
          <p:nvPr/>
        </p:nvGrpSpPr>
        <p:grpSpPr>
          <a:xfrm>
            <a:off x="745808" y="3100864"/>
            <a:ext cx="6695956" cy="259080"/>
            <a:chOff x="745808" y="3100864"/>
            <a:chExt cx="6695956" cy="259080"/>
          </a:xfrm>
        </p:grpSpPr>
        <p:sp>
          <p:nvSpPr>
            <p:cNvPr id="26" name="TextBox 26"/>
            <p:cNvSpPr txBox="1"/>
            <p:nvPr/>
          </p:nvSpPr>
          <p:spPr>
            <a:xfrm>
              <a:off x="745808" y="3100864"/>
              <a:ext cx="198581" cy="259080"/>
            </a:xfrm>
            <a:prstGeom prst="rect">
              <a:avLst/>
            </a:prstGeom>
            <a:noFill/>
            <a:ln>
              <a:noFill/>
            </a:ln>
          </p:spPr>
          <p:txBody>
            <a:bodyPr wrap="none" lIns="0" tIns="0" rIns="0" bIns="0" anchor="t" anchorCtr="0">
              <a:spAutoFit/>
            </a:bodyPr>
            <a:lstStyle/>
            <a:p>
              <a:pPr algn="l"/>
              <a:r>
                <a:rPr lang="zh-CN" sz="1275" b="1" dirty="0">
                  <a:solidFill>
                    <a:srgbClr val="09995E"/>
                  </a:solidFill>
                  <a:latin typeface="Arial"/>
                  <a:ea typeface="Microsoft YaHei"/>
                  <a:cs typeface="Arial"/>
                </a:rPr>
                <a:t>1.</a:t>
              </a:r>
            </a:p>
          </p:txBody>
        </p:sp>
        <p:sp>
          <p:nvSpPr>
            <p:cNvPr id="27" name="TextBox 27"/>
            <p:cNvSpPr txBox="1"/>
            <p:nvPr/>
          </p:nvSpPr>
          <p:spPr>
            <a:xfrm>
              <a:off x="1031558" y="3100864"/>
              <a:ext cx="6410206" cy="259080"/>
            </a:xfrm>
            <a:prstGeom prst="rect">
              <a:avLst/>
            </a:prstGeom>
            <a:noFill/>
            <a:ln>
              <a:noFill/>
            </a:ln>
          </p:spPr>
          <p:txBody>
            <a:bodyPr wrap="none" lIns="0" tIns="0" rIns="0" bIns="0" anchor="t" anchorCtr="0">
              <a:spAutoFit/>
            </a:bodyPr>
            <a:lstStyle/>
            <a:p>
              <a:pPr algn="l"/>
              <a:r>
                <a:rPr lang="zh-CN" sz="1275" dirty="0">
                  <a:solidFill>
                    <a:srgbClr val="222222"/>
                  </a:solidFill>
                  <a:latin typeface="Arial"/>
                  <a:ea typeface="Microsoft YaHei"/>
                  <a:cs typeface="Arial"/>
                </a:rPr>
                <a:t>CET delivers hardware CFI with zero performance tax on the fast path</a:t>
              </a:r>
            </a:p>
          </p:txBody>
        </p:sp>
      </p:grpSp>
      <p:grpSp>
        <p:nvGrpSpPr>
          <p:cNvPr id="31" name="Group 31"/>
          <p:cNvGrpSpPr/>
          <p:nvPr/>
        </p:nvGrpSpPr>
        <p:grpSpPr>
          <a:xfrm>
            <a:off x="745808" y="3481864"/>
            <a:ext cx="7329083" cy="259080"/>
            <a:chOff x="745808" y="3481864"/>
            <a:chExt cx="7329083" cy="259080"/>
          </a:xfrm>
        </p:grpSpPr>
        <p:sp>
          <p:nvSpPr>
            <p:cNvPr id="29" name="TextBox 29"/>
            <p:cNvSpPr txBox="1"/>
            <p:nvPr/>
          </p:nvSpPr>
          <p:spPr>
            <a:xfrm>
              <a:off x="745808" y="3481864"/>
              <a:ext cx="247462" cy="259080"/>
            </a:xfrm>
            <a:prstGeom prst="rect">
              <a:avLst/>
            </a:prstGeom>
            <a:noFill/>
            <a:ln>
              <a:noFill/>
            </a:ln>
          </p:spPr>
          <p:txBody>
            <a:bodyPr wrap="none" lIns="0" tIns="0" rIns="0" bIns="0" anchor="t" anchorCtr="0">
              <a:spAutoFit/>
            </a:bodyPr>
            <a:lstStyle/>
            <a:p>
              <a:pPr algn="l"/>
              <a:r>
                <a:rPr lang="zh-CN" sz="1275" b="1" dirty="0">
                  <a:solidFill>
                    <a:srgbClr val="09995E"/>
                  </a:solidFill>
                  <a:latin typeface="Arial"/>
                  <a:ea typeface="Microsoft YaHei"/>
                  <a:cs typeface="Arial"/>
                </a:rPr>
                <a:t>2.</a:t>
              </a:r>
            </a:p>
          </p:txBody>
        </p:sp>
        <p:sp>
          <p:nvSpPr>
            <p:cNvPr id="30" name="TextBox 30"/>
            <p:cNvSpPr txBox="1"/>
            <p:nvPr/>
          </p:nvSpPr>
          <p:spPr>
            <a:xfrm>
              <a:off x="1031558" y="3481864"/>
              <a:ext cx="7043333" cy="259080"/>
            </a:xfrm>
            <a:prstGeom prst="rect">
              <a:avLst/>
            </a:prstGeom>
            <a:noFill/>
            <a:ln>
              <a:noFill/>
            </a:ln>
          </p:spPr>
          <p:txBody>
            <a:bodyPr wrap="none" lIns="0" tIns="0" rIns="0" bIns="0" anchor="t" anchorCtr="0">
              <a:spAutoFit/>
            </a:bodyPr>
            <a:lstStyle/>
            <a:p>
              <a:pPr algn="l"/>
              <a:r>
                <a:rPr lang="zh-CN" sz="1275" dirty="0">
                  <a:solidFill>
                    <a:srgbClr val="222222"/>
                  </a:solidFill>
                  <a:latin typeface="Arial"/>
                  <a:ea typeface="Microsoft YaHei"/>
                  <a:cs typeface="Arial"/>
                </a:rPr>
                <a:t>IBT protects forward edges — ENDBR validation, sealing, and #CP enforcement</a:t>
              </a:r>
            </a:p>
          </p:txBody>
        </p:sp>
      </p:grpSp>
      <p:grpSp>
        <p:nvGrpSpPr>
          <p:cNvPr id="34" name="Group 34"/>
          <p:cNvGrpSpPr/>
          <p:nvPr/>
        </p:nvGrpSpPr>
        <p:grpSpPr>
          <a:xfrm>
            <a:off x="745808" y="3862864"/>
            <a:ext cx="7831860" cy="259080"/>
            <a:chOff x="745808" y="3862864"/>
            <a:chExt cx="7831860" cy="259080"/>
          </a:xfrm>
        </p:grpSpPr>
        <p:sp>
          <p:nvSpPr>
            <p:cNvPr id="32" name="TextBox 32"/>
            <p:cNvSpPr txBox="1"/>
            <p:nvPr/>
          </p:nvSpPr>
          <p:spPr>
            <a:xfrm>
              <a:off x="745808" y="3862864"/>
              <a:ext cx="247462" cy="259080"/>
            </a:xfrm>
            <a:prstGeom prst="rect">
              <a:avLst/>
            </a:prstGeom>
            <a:noFill/>
            <a:ln>
              <a:noFill/>
            </a:ln>
          </p:spPr>
          <p:txBody>
            <a:bodyPr wrap="none" lIns="0" tIns="0" rIns="0" bIns="0" anchor="t" anchorCtr="0">
              <a:spAutoFit/>
            </a:bodyPr>
            <a:lstStyle/>
            <a:p>
              <a:pPr algn="l"/>
              <a:r>
                <a:rPr lang="zh-CN" sz="1275" b="1" dirty="0">
                  <a:solidFill>
                    <a:srgbClr val="09995E"/>
                  </a:solidFill>
                  <a:latin typeface="Arial"/>
                  <a:ea typeface="Microsoft YaHei"/>
                  <a:cs typeface="Arial"/>
                </a:rPr>
                <a:t>3.</a:t>
              </a:r>
            </a:p>
          </p:txBody>
        </p:sp>
        <p:sp>
          <p:nvSpPr>
            <p:cNvPr id="33" name="TextBox 33"/>
            <p:cNvSpPr txBox="1"/>
            <p:nvPr/>
          </p:nvSpPr>
          <p:spPr>
            <a:xfrm>
              <a:off x="1031558" y="3862864"/>
              <a:ext cx="7546110" cy="259080"/>
            </a:xfrm>
            <a:prstGeom prst="rect">
              <a:avLst/>
            </a:prstGeom>
            <a:noFill/>
            <a:ln>
              <a:noFill/>
            </a:ln>
          </p:spPr>
          <p:txBody>
            <a:bodyPr wrap="none" lIns="0" tIns="0" rIns="0" bIns="0" anchor="t" anchorCtr="0">
              <a:spAutoFit/>
            </a:bodyPr>
            <a:lstStyle/>
            <a:p>
              <a:pPr algn="l"/>
              <a:r>
                <a:rPr lang="zh-CN" sz="1275" dirty="0">
                  <a:solidFill>
                    <a:srgbClr val="222222"/>
                  </a:solidFill>
                  <a:latin typeface="Arial"/>
                  <a:ea typeface="Microsoft YaHei"/>
                  <a:cs typeface="Arial"/>
                </a:rPr>
                <a:t>Shadow Stacks guard backward edges — read-only return addresses + signal tokens</a:t>
              </a:r>
            </a:p>
          </p:txBody>
        </p:sp>
      </p:grpSp>
      <p:grpSp>
        <p:nvGrpSpPr>
          <p:cNvPr id="37" name="Group 37"/>
          <p:cNvGrpSpPr/>
          <p:nvPr/>
        </p:nvGrpSpPr>
        <p:grpSpPr>
          <a:xfrm>
            <a:off x="745808" y="4243864"/>
            <a:ext cx="6938034" cy="259080"/>
            <a:chOff x="745808" y="4243864"/>
            <a:chExt cx="6938034" cy="259080"/>
          </a:xfrm>
        </p:grpSpPr>
        <p:sp>
          <p:nvSpPr>
            <p:cNvPr id="35" name="TextBox 35"/>
            <p:cNvSpPr txBox="1"/>
            <p:nvPr/>
          </p:nvSpPr>
          <p:spPr>
            <a:xfrm>
              <a:off x="745808" y="4243864"/>
              <a:ext cx="247462" cy="259080"/>
            </a:xfrm>
            <a:prstGeom prst="rect">
              <a:avLst/>
            </a:prstGeom>
            <a:noFill/>
            <a:ln>
              <a:noFill/>
            </a:ln>
          </p:spPr>
          <p:txBody>
            <a:bodyPr wrap="none" lIns="0" tIns="0" rIns="0" bIns="0" anchor="t" anchorCtr="0">
              <a:spAutoFit/>
            </a:bodyPr>
            <a:lstStyle/>
            <a:p>
              <a:pPr algn="l"/>
              <a:r>
                <a:rPr lang="zh-CN" sz="1275" b="1" dirty="0">
                  <a:solidFill>
                    <a:srgbClr val="09995E"/>
                  </a:solidFill>
                  <a:latin typeface="Arial"/>
                  <a:ea typeface="Microsoft YaHei"/>
                  <a:cs typeface="Arial"/>
                </a:rPr>
                <a:t>4.</a:t>
              </a:r>
            </a:p>
          </p:txBody>
        </p:sp>
        <p:sp>
          <p:nvSpPr>
            <p:cNvPr id="36" name="TextBox 36"/>
            <p:cNvSpPr txBox="1"/>
            <p:nvPr/>
          </p:nvSpPr>
          <p:spPr>
            <a:xfrm>
              <a:off x="1031558" y="4243864"/>
              <a:ext cx="6652284" cy="259080"/>
            </a:xfrm>
            <a:prstGeom prst="rect">
              <a:avLst/>
            </a:prstGeom>
            <a:noFill/>
            <a:ln>
              <a:noFill/>
            </a:ln>
          </p:spPr>
          <p:txBody>
            <a:bodyPr wrap="none" lIns="0" tIns="0" rIns="0" bIns="0" anchor="t" anchorCtr="0">
              <a:spAutoFit/>
            </a:bodyPr>
            <a:lstStyle/>
            <a:p>
              <a:pPr algn="l"/>
              <a:r>
                <a:rPr lang="zh-CN" sz="1275" dirty="0">
                  <a:solidFill>
                    <a:srgbClr val="222222"/>
                  </a:solidFill>
                  <a:latin typeface="Arial"/>
                  <a:ea typeface="Microsoft YaHei"/>
                  <a:cs typeface="Arial"/>
                </a:rPr>
                <a:t>Production-ready: glibc integration, arch_prctl locking, GLIBC_TUNABLES</a:t>
              </a:r>
            </a:p>
          </p:txBody>
        </p:sp>
      </p:grpSp>
      <p:grpSp>
        <p:nvGrpSpPr>
          <p:cNvPr id="40" name="Group 40"/>
          <p:cNvGrpSpPr/>
          <p:nvPr/>
        </p:nvGrpSpPr>
        <p:grpSpPr>
          <a:xfrm>
            <a:off x="745808" y="4624864"/>
            <a:ext cx="3809150" cy="259080"/>
            <a:chOff x="745808" y="4624864"/>
            <a:chExt cx="3809150" cy="259080"/>
          </a:xfrm>
        </p:grpSpPr>
        <p:sp>
          <p:nvSpPr>
            <p:cNvPr id="38" name="TextBox 38"/>
            <p:cNvSpPr txBox="1"/>
            <p:nvPr/>
          </p:nvSpPr>
          <p:spPr>
            <a:xfrm>
              <a:off x="745808" y="4624864"/>
              <a:ext cx="247462" cy="259080"/>
            </a:xfrm>
            <a:prstGeom prst="rect">
              <a:avLst/>
            </a:prstGeom>
            <a:noFill/>
            <a:ln>
              <a:noFill/>
            </a:ln>
          </p:spPr>
          <p:txBody>
            <a:bodyPr wrap="none" lIns="0" tIns="0" rIns="0" bIns="0" anchor="t" anchorCtr="0">
              <a:spAutoFit/>
            </a:bodyPr>
            <a:lstStyle/>
            <a:p>
              <a:pPr algn="l"/>
              <a:r>
                <a:rPr lang="zh-CN" sz="1275" b="1" dirty="0">
                  <a:solidFill>
                    <a:srgbClr val="09995E"/>
                  </a:solidFill>
                  <a:latin typeface="Arial"/>
                  <a:ea typeface="Microsoft YaHei"/>
                  <a:cs typeface="Arial"/>
                </a:rPr>
                <a:t>5.</a:t>
              </a:r>
            </a:p>
          </p:txBody>
        </p:sp>
        <p:sp>
          <p:nvSpPr>
            <p:cNvPr id="39" name="TextBox 39"/>
            <p:cNvSpPr txBox="1"/>
            <p:nvPr/>
          </p:nvSpPr>
          <p:spPr>
            <a:xfrm>
              <a:off x="1031558" y="4624864"/>
              <a:ext cx="3523400" cy="196208"/>
            </a:xfrm>
            <a:prstGeom prst="rect">
              <a:avLst/>
            </a:prstGeom>
            <a:noFill/>
            <a:ln>
              <a:noFill/>
            </a:ln>
          </p:spPr>
          <p:txBody>
            <a:bodyPr wrap="none" lIns="0" tIns="0" rIns="0" bIns="0" anchor="t" anchorCtr="0">
              <a:spAutoFit/>
            </a:bodyPr>
            <a:lstStyle/>
            <a:p>
              <a:pPr algn="l"/>
              <a:r>
                <a:rPr lang="zh-CN" sz="1275" dirty="0">
                  <a:solidFill>
                    <a:srgbClr val="222222"/>
                  </a:solidFill>
                  <a:latin typeface="Arial"/>
                  <a:ea typeface="Microsoft YaHei"/>
                  <a:cs typeface="Arial"/>
                </a:rPr>
                <a:t>Entire implementation lives files under arch/x86/</a:t>
              </a:r>
            </a:p>
          </p:txBody>
        </p:sp>
      </p:grpSp>
      <p:grpSp>
        <p:nvGrpSpPr>
          <p:cNvPr id="45" name="Group 45"/>
          <p:cNvGrpSpPr/>
          <p:nvPr/>
        </p:nvGrpSpPr>
        <p:grpSpPr>
          <a:xfrm>
            <a:off x="762000" y="5143500"/>
            <a:ext cx="10668000" cy="1147762"/>
            <a:chOff x="762000" y="5143500"/>
            <a:chExt cx="10668000" cy="1147762"/>
          </a:xfrm>
        </p:grpSpPr>
        <p:sp>
          <p:nvSpPr>
            <p:cNvPr id="41" name="Rectangle 41"/>
            <p:cNvSpPr/>
            <p:nvPr/>
          </p:nvSpPr>
          <p:spPr>
            <a:xfrm>
              <a:off x="762000" y="5143500"/>
              <a:ext cx="10668000" cy="9525"/>
            </a:xfrm>
            <a:prstGeom prst="rect">
              <a:avLst/>
            </a:prstGeom>
            <a:solidFill>
              <a:srgbClr val="CCCCCC"/>
            </a:solidFill>
            <a:ln>
              <a:noFill/>
            </a:ln>
          </p:spPr>
        </p:sp>
        <p:sp>
          <p:nvSpPr>
            <p:cNvPr id="42" name="TextBox 42"/>
            <p:cNvSpPr txBox="1"/>
            <p:nvPr/>
          </p:nvSpPr>
          <p:spPr>
            <a:xfrm>
              <a:off x="3729095" y="5408295"/>
              <a:ext cx="2066811" cy="487680"/>
            </a:xfrm>
            <a:prstGeom prst="rect">
              <a:avLst/>
            </a:prstGeom>
            <a:noFill/>
            <a:ln>
              <a:noFill/>
            </a:ln>
          </p:spPr>
          <p:txBody>
            <a:bodyPr wrap="none" lIns="0" tIns="0" rIns="0" bIns="0" anchor="t" anchorCtr="0">
              <a:spAutoFit/>
            </a:bodyPr>
            <a:lstStyle/>
            <a:p>
              <a:pPr algn="ctr"/>
              <a:r>
                <a:rPr lang="zh-CN" sz="2400" b="1" dirty="0">
                  <a:solidFill>
                    <a:srgbClr val="AF00C0"/>
                  </a:solidFill>
                  <a:latin typeface="Arial"/>
                  <a:ea typeface="Microsoft YaHei"/>
                  <a:cs typeface="Arial"/>
                </a:rPr>
                <a:t>Questions?</a:t>
              </a:r>
            </a:p>
          </p:txBody>
        </p:sp>
        <p:sp>
          <p:nvSpPr>
            <p:cNvPr id="43" name="TextBox 43"/>
            <p:cNvSpPr txBox="1"/>
            <p:nvPr/>
          </p:nvSpPr>
          <p:spPr>
            <a:xfrm>
              <a:off x="4195191" y="5823585"/>
              <a:ext cx="1134618" cy="243840"/>
            </a:xfrm>
            <a:prstGeom prst="rect">
              <a:avLst/>
            </a:prstGeom>
            <a:noFill/>
            <a:ln>
              <a:noFill/>
            </a:ln>
          </p:spPr>
          <p:txBody>
            <a:bodyPr wrap="none" lIns="0" tIns="0" rIns="0" bIns="0" anchor="t" anchorCtr="0">
              <a:spAutoFit/>
            </a:bodyPr>
            <a:lstStyle/>
            <a:p>
              <a:pPr algn="ctr"/>
              <a:r>
                <a:rPr lang="zh-CN" sz="1200" dirty="0">
                  <a:solidFill>
                    <a:srgbClr val="333333"/>
                  </a:solidFill>
                  <a:latin typeface="Arial"/>
                  <a:ea typeface="Microsoft YaHei"/>
                  <a:cs typeface="Arial"/>
                </a:rPr>
                <a:t>Jay Tharwani</a:t>
              </a:r>
            </a:p>
          </p:txBody>
        </p:sp>
        <p:sp>
          <p:nvSpPr>
            <p:cNvPr id="44" name="TextBox 44"/>
            <p:cNvSpPr txBox="1"/>
            <p:nvPr/>
          </p:nvSpPr>
          <p:spPr>
            <a:xfrm>
              <a:off x="3763875" y="6077902"/>
              <a:ext cx="1997250" cy="213360"/>
            </a:xfrm>
            <a:prstGeom prst="rect">
              <a:avLst/>
            </a:prstGeom>
            <a:noFill/>
            <a:ln>
              <a:noFill/>
            </a:ln>
          </p:spPr>
          <p:txBody>
            <a:bodyPr wrap="none" lIns="0" tIns="0" rIns="0" bIns="0" anchor="t" anchorCtr="0">
              <a:spAutoFit/>
            </a:bodyPr>
            <a:lstStyle/>
            <a:p>
              <a:pPr algn="ctr"/>
              <a:r>
                <a:rPr lang="zh-CN" sz="1050" dirty="0">
                  <a:solidFill>
                    <a:srgbClr val="555555"/>
                  </a:solidFill>
                  <a:latin typeface="Arial"/>
                  <a:ea typeface="Microsoft YaHei"/>
                  <a:cs typeface="Arial"/>
                </a:rPr>
                <a:t>jtharwan@alumni.uncc.edu</a:t>
              </a:r>
            </a:p>
          </p:txBody>
        </p:sp>
      </p:grpSp>
      <p:grpSp>
        <p:nvGrpSpPr>
          <p:cNvPr id="48" name="Group 48"/>
          <p:cNvGrpSpPr/>
          <p:nvPr/>
        </p:nvGrpSpPr>
        <p:grpSpPr>
          <a:xfrm>
            <a:off x="9251735" y="2988862"/>
            <a:ext cx="1143000" cy="1335881"/>
            <a:chOff x="9334500" y="5238750"/>
            <a:chExt cx="1143000" cy="1335881"/>
          </a:xfrm>
        </p:grpSpPr>
        <p:pic>
          <p:nvPicPr>
            <p:cNvPr id="46" name="Image 46"/>
            <p:cNvPicPr>
              <a:picLocks noChangeAspect="1"/>
            </p:cNvPicPr>
            <p:nvPr/>
          </p:nvPicPr>
          <p:blipFill>
            <a:blip r:embed="rId4"/>
            <a:stretch>
              <a:fillRect/>
            </a:stretch>
          </p:blipFill>
          <p:spPr>
            <a:xfrm>
              <a:off x="9334500" y="5238750"/>
              <a:ext cx="1143000" cy="1143000"/>
            </a:xfrm>
            <a:prstGeom prst="rect">
              <a:avLst/>
            </a:prstGeom>
          </p:spPr>
        </p:pic>
        <p:sp>
          <p:nvSpPr>
            <p:cNvPr id="47" name="TextBox 47"/>
            <p:cNvSpPr txBox="1"/>
            <p:nvPr/>
          </p:nvSpPr>
          <p:spPr>
            <a:xfrm>
              <a:off x="9458742" y="6406991"/>
              <a:ext cx="894517"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Arial"/>
                  <a:ea typeface="Microsoft YaHei"/>
                  <a:cs typeface="Arial"/>
                </a:rPr>
                <a:t>Scan for slides</a:t>
              </a:r>
            </a:p>
          </p:txBody>
        </p:sp>
      </p:grpSp>
      <p:pic>
        <p:nvPicPr>
          <p:cNvPr id="49" name="Image 49"/>
          <p:cNvPicPr>
            <a:picLocks noChangeAspect="1"/>
          </p:cNvPicPr>
          <p:nvPr/>
        </p:nvPicPr>
        <p:blipFill>
          <a:blip r:embed="rId5"/>
          <a:stretch>
            <a:fillRect/>
          </a:stretch>
        </p:blipFill>
        <p:spPr>
          <a:xfrm>
            <a:off x="10283883" y="5886450"/>
            <a:ext cx="1158759" cy="381000"/>
          </a:xfrm>
          <a:prstGeom prst="rect">
            <a:avLst/>
          </a:prstGeom>
        </p:spPr>
      </p:pic>
      <p:sp>
        <p:nvSpPr>
          <p:cNvPr id="50" name="TextBox 50"/>
          <p:cNvSpPr txBox="1"/>
          <p:nvPr/>
        </p:nvSpPr>
        <p:spPr>
          <a:xfrm>
            <a:off x="11592592" y="6646545"/>
            <a:ext cx="134588" cy="182880"/>
          </a:xfrm>
          <a:prstGeom prst="rect">
            <a:avLst/>
          </a:prstGeom>
          <a:noFill/>
          <a:ln>
            <a:noFill/>
          </a:ln>
        </p:spPr>
        <p:txBody>
          <a:bodyPr wrap="none" lIns="0" tIns="0" rIns="0" bIns="0" anchor="t" anchorCtr="0">
            <a:spAutoFit/>
          </a:bodyPr>
          <a:lstStyle/>
          <a:p>
            <a:pPr algn="r"/>
            <a:r>
              <a:rPr lang="zh-CN" sz="900" dirty="0">
                <a:solidFill>
                  <a:srgbClr val="FFFFFF"/>
                </a:solidFill>
                <a:latin typeface="Arial"/>
                <a:ea typeface="Microsoft YaHei"/>
                <a:cs typeface="Arial"/>
              </a:rPr>
              <a:t>18</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4)">
                                      <p:cBhvr>
                                        <p:cTn id="11" dur="400"/>
                                        <p:tgtEl>
                                          <p:spTgt spid="25"/>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400"/>
                                        <p:tgtEl>
                                          <p:spTgt spid="28"/>
                                        </p:tgtEl>
                                      </p:cBhvr>
                                    </p:animEffect>
                                  </p:childTnLst>
                                </p:cTn>
                              </p:par>
                            </p:childTnLst>
                          </p:cTn>
                        </p:par>
                        <p:par>
                          <p:cTn id="16" fill="hold">
                            <p:stCondLst>
                              <p:cond delay="2700"/>
                            </p:stCondLst>
                            <p:childTnLst>
                              <p:par>
                                <p:cTn id="17" presetID="50"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stretch(across)">
                                      <p:cBhvr>
                                        <p:cTn id="19" dur="400"/>
                                        <p:tgtEl>
                                          <p:spTgt spid="31"/>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400"/>
                                        <p:tgtEl>
                                          <p:spTgt spid="34"/>
                                        </p:tgtEl>
                                      </p:cBhvr>
                                    </p:animEffect>
                                  </p:childTnLst>
                                </p:cTn>
                              </p:par>
                            </p:childTnLst>
                          </p:cTn>
                        </p:par>
                        <p:par>
                          <p:cTn id="24" fill="hold">
                            <p:stCondLst>
                              <p:cond delay="4500"/>
                            </p:stCondLst>
                            <p:childTnLst>
                              <p:par>
                                <p:cTn id="25" presetID="19" presetClass="entr" presetSubtype="0"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heel(1)">
                                      <p:cBhvr>
                                        <p:cTn id="27" dur="400"/>
                                        <p:tgtEl>
                                          <p:spTgt spid="37"/>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image">
                                      <p:cBhvr>
                                        <p:cTn id="31" dur="400"/>
                                        <p:tgtEl>
                                          <p:spTgt spid="40"/>
                                        </p:tgtEl>
                                      </p:cBhvr>
                                    </p:animEffect>
                                  </p:childTnLst>
                                </p:cTn>
                              </p:par>
                            </p:childTnLst>
                          </p:cTn>
                        </p:par>
                        <p:par>
                          <p:cTn id="32" fill="hold">
                            <p:stCondLst>
                              <p:cond delay="6300"/>
                            </p:stCondLst>
                            <p:childTnLst>
                              <p:par>
                                <p:cTn id="33" presetID="3" presetClass="entr" presetSubtype="10" fill="hold" nodeType="after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blinds(horizontal)">
                                      <p:cBhvr>
                                        <p:cTn id="35" dur="400"/>
                                        <p:tgtEl>
                                          <p:spTgt spid="45"/>
                                        </p:tgtEl>
                                      </p:cBhvr>
                                    </p:animEffect>
                                  </p:childTnLst>
                                </p:cTn>
                              </p:par>
                            </p:childTnLst>
                          </p:cTn>
                        </p:par>
                        <p:par>
                          <p:cTn id="36" fill="hold">
                            <p:stCondLst>
                              <p:cond delay="7200"/>
                            </p:stCondLst>
                            <p:childTnLst>
                              <p:par>
                                <p:cTn id="37" presetID="5" presetClass="entr" presetSubtype="6" fill="hold" nodeType="after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checkerboard(across)">
                                      <p:cBhvr>
                                        <p:cTn id="3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p:bldP spid="28" grpId="0"/>
      <p:bldP spid="31" grpId="0"/>
      <p:bldP spid="34" grpId="0"/>
      <p:bldP spid="37" grpId="0"/>
      <p:bldP spid="40" grpId="0"/>
      <p:bldP spid="45" grpId="0"/>
      <p:bldP spid="4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TotalTime>
  <Words>20420</Words>
  <Application>Microsoft Macintosh PowerPoint</Application>
  <PresentationFormat>Widescreen</PresentationFormat>
  <Paragraphs>550</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Jay Tharwani</cp:lastModifiedBy>
  <cp:revision>6</cp:revision>
  <dcterms:created xsi:type="dcterms:W3CDTF">2013-01-27T09:14:16Z</dcterms:created>
  <dcterms:modified xsi:type="dcterms:W3CDTF">2026-05-21T01:58:10Z</dcterms:modified>
  <cp:category/>
</cp:coreProperties>
</file>